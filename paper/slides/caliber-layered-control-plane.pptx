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CALIBER is a layered control plane for the lifecycle of AI-agent resources. The talk has three movements: the abstraction and its architecture; the per-family governance claim, which is the paper's actual intellectual content; and the evidence, comparison, and limits. State up front that the quantitative evaluation is specified and unrun.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scenario is a support agent citing a stale refund policy. Everything up to the flag is well tooled. Walk the nine steps and name the tooling for each; the point is that steps 6-9 are answered today for prompts by prompt registries and remain open for every other resource family.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answers a reviewer will reach for, and why each is insufficient. The fourth is the contestable one: we argue against auto-apply, and D4 records the price — refinement throughput is bounded by operator attention.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this table as a positioning statement, not a ranking — these systems are not substitutes. The top block is the closest baseline and the honest reading is that CALIBER re-implements a solved problem for prompts. The delta is the last two columns.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Movement one is structure. Nothing here is contested; it is the vocabulary the second movement argues about.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Twelve facets, four universal. The four are what make a record governed at all; the eight are the subject of the per-family argument. Close on what a governed asset is not — the three negatives are the ones adopters conflate.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verbs acting on the nouns. Stress that they are reusable concepts, not a state machine every asset traverses — a test set is authored, tested against, and observed, but is never released. Separating modes from families is what makes the coverage matrix expressible at all.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concepts, not seven stages. The concrete prompt path has six numbered stages and the correspondence is not bijective: Evidence has no stage of its own, Signal spans both a trace and a human confirmation, and Trace is both the seventh term and the input to the next iteration. The lower register — the durable residue — is what distinguishes this from an observability pipeline.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bottom-up. L1 is swappable by configuration; L3 is a substrate of shared primitives that asset paths wire explicitly — that word 'explicitly' is the whole argument. Two runtime properties are load-bearing: CALIBER is a sibling surface to MLflow rather than a proxy, and there is no worker tier.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Movement two is the paper's actual intellectual content. If the audience remembers one slide, it should be the central claim.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to spend time on. The claim is deliberately narrow: it is not that layering makes governance uniform. It is that adjacency confers availability and only wiring confers enforcement — and that this follows from the heterogeneity of the artifact types, not from our engineering.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paper's most important table and the hardest to write honestly. Its whole function is to refute the reading that a shared substrate implies shared guarantees. Point at the shared version panel: it is mounted for five families through per-artifact adapters — sharing the component does not share the semantics, and that is the canonical adopter trap.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present the choice as binary — an earlier draft did, and it was a false dichotomy. The third design is the ordinary answer to heterogeneous types in a typed system, it is strictly better in one specific respect, and we did not take it for a historical rather than a principled reason.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D3, and the decision most likely to be contested. The argument is about operator behaviour rather than about correctness: a blocking gate must be overridable, the override becomes the normal path, and the gate stops carrying information. Concede the scope — the enforced gate lives inside the refinement state machine and the direct promotion endpoint bypasses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R2 in practice, and the capability that most distinguishes CALIBER from a versioned prompt file. Be careful with the fourth card: the approver scope exists but nothing requires the applier to differ from the author, so this is not separation of duties and we no longer describe it as one.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Algorithm 2. The honest framing is that a durable intent is not distributed atomicity: the provider call and the SQL settlement still cannot commit together. What changed is that divergence became observable rather than silent — and someone still has to operate the reconciler.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exists because an earlier draft told one story about “the queue” and a reviewer checked it against five different loops. The claim predicate is shared and gives concurrent mutual exclusion for all of them; recovery after the owner dies is not shared, and recovery is what decides delivery semantics.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Movement three is where the deck has to be hardest on itself. Lead with the unrun evaluation rather than burying 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before the methodology, because a reader is entitled to know it first. The performance, scale, comparison and human-subject measurements have not been executed. The empty table is a choice: a plausible wrong number cannot be unfilled, and it propagates into citations.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differences survive, and they are narrower than the old framing. Then give the losses — a comparison without a cost column is a marketing artifact. Be explicit that a reviewer who finds this delta insufficient is making a reasonable judgement about significance rather than catching an error.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row has a cost cell. A design-decisions table without one is a list of features. Several of these trades are contestable, and a reader should be able to disagree with a specific row rather than with the system.</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Grouped by kind, because they demand different responses: an unrun experiment is a schedule problem, an unenforced boundary is a security problem, and a per-family guarantee surface is a design consequence. Three of these were found by checking the paper's claims against the implementation.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register exists to prevent narrative drift between the talk and the manuscript. Read the standing column honestly — three of these rows are arguments, not results, and one is explicitly unmet.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next steps, in the order they would change what the paper can claim. The first two convert arguments into results; the third converts documented obligations into enforced ones; the fourth is the open positioning question.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capability boundary — it is the result most worth carrying forward and it is independent of whether CALIBER itself is the right vehicle. Then restate what is not established, in the same breath.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1E3A"/>
        </a:solidFill>
        <a:effectLst/>
      </p:bgPr>
    </p:bg>
    <p:spTree>
      <p:nvGrpSpPr>
        <p:cNvPr id="1" name=""/>
        <p:cNvGrpSpPr/>
        <p:nvPr/>
      </p:nvGrpSpPr>
      <p:grpSpPr/>
      <p:sp>
        <p:nvSpPr>
          <p:cNvPr id="2" name="Oval 1"/>
          <p:cNvSpPr/>
          <p:nvPr/>
        </p:nvSpPr>
        <p:spPr>
          <a:xfrm>
            <a:off x="9042400" y="-1562100"/>
            <a:ext cx="6210300" cy="6210300"/>
          </a:xfrm>
          <a:prstGeom prst="ellipse">
            <a:avLst/>
          </a:prstGeom>
          <a:solidFill>
            <a:srgbClr val="1A3563"/>
          </a:solidFill>
          <a:ln w="12700">
            <a:solidFill>
              <a:srgbClr val="1A35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414000" y="-101600"/>
            <a:ext cx="3289300" cy="3289300"/>
          </a:xfrm>
          <a:prstGeom prst="ellipse">
            <a:avLst/>
          </a:prstGeom>
          <a:solidFill>
            <a:srgbClr val="1F8A99"/>
          </a:solidFill>
          <a:ln w="12700">
            <a:solidFill>
              <a:srgbClr val="1F8A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328400" y="812800"/>
            <a:ext cx="1460500" cy="1460500"/>
          </a:xfrm>
          <a:prstGeom prst="ellipse">
            <a:avLst/>
          </a:prstGeom>
          <a:solidFill>
            <a:srgbClr val="56B3BE"/>
          </a:solidFill>
          <a:ln w="12700">
            <a:solidFill>
              <a:srgbClr val="56B3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5000" y="1320800"/>
            <a:ext cx="8128000" cy="266700"/>
          </a:xfrm>
          <a:prstGeom prst="rect">
            <a:avLst/>
          </a:prstGeom>
          <a:noFill/>
        </p:spPr>
        <p:txBody>
          <a:bodyPr wrap="square" lIns="0" rIns="0" tIns="0" bIns="0" anchor="t">
            <a:spAutoFit/>
          </a:bodyPr>
          <a:lstStyle/>
          <a:p>
            <a:pPr algn="l">
              <a:lnSpc>
                <a:spcPct val="122000"/>
              </a:lnSpc>
            </a:pPr>
            <a:r>
              <a:rPr sz="1050" b="1" i="0">
                <a:solidFill>
                  <a:srgbClr val="56B3BE"/>
                </a:solidFill>
                <a:latin typeface="Calibri"/>
              </a:rPr>
              <a:t>AI-AGENT RESOURCES  ·  RELEASE ENGINEERING  ·  CONTROL-PLANE ARCHITECTURE</a:t>
            </a:r>
          </a:p>
        </p:txBody>
      </p:sp>
      <p:sp>
        <p:nvSpPr>
          <p:cNvPr id="6" name="TextBox 5"/>
          <p:cNvSpPr txBox="1"/>
          <p:nvPr/>
        </p:nvSpPr>
        <p:spPr>
          <a:xfrm>
            <a:off x="635000" y="1651000"/>
            <a:ext cx="8890000" cy="1168400"/>
          </a:xfrm>
          <a:prstGeom prst="rect">
            <a:avLst/>
          </a:prstGeom>
          <a:noFill/>
        </p:spPr>
        <p:txBody>
          <a:bodyPr wrap="square" lIns="0" rIns="0" tIns="0" bIns="0" anchor="t">
            <a:spAutoFit/>
          </a:bodyPr>
          <a:lstStyle/>
          <a:p>
            <a:pPr algn="l">
              <a:lnSpc>
                <a:spcPct val="100000"/>
              </a:lnSpc>
            </a:pPr>
            <a:r>
              <a:rPr sz="6600" b="1" i="0">
                <a:solidFill>
                  <a:srgbClr val="FFFFFF"/>
                </a:solidFill>
                <a:latin typeface="Calibri"/>
              </a:rPr>
              <a:t>CALIBER</a:t>
            </a:r>
          </a:p>
        </p:txBody>
      </p:sp>
      <p:sp>
        <p:nvSpPr>
          <p:cNvPr id="7" name="TextBox 6"/>
          <p:cNvSpPr txBox="1"/>
          <p:nvPr/>
        </p:nvSpPr>
        <p:spPr>
          <a:xfrm>
            <a:off x="635000" y="2895600"/>
            <a:ext cx="8382000" cy="787400"/>
          </a:xfrm>
          <a:prstGeom prst="rect">
            <a:avLst/>
          </a:prstGeom>
          <a:noFill/>
        </p:spPr>
        <p:txBody>
          <a:bodyPr wrap="square" lIns="0" rIns="0" tIns="0" bIns="0" anchor="t">
            <a:spAutoFit/>
          </a:bodyPr>
          <a:lstStyle/>
          <a:p>
            <a:pPr algn="l">
              <a:lnSpc>
                <a:spcPct val="122000"/>
              </a:lnSpc>
            </a:pPr>
            <a:r>
              <a:rPr sz="2200" b="1" i="0">
                <a:solidFill>
                  <a:srgbClr val="FFFFFF"/>
                </a:solidFill>
                <a:latin typeface="Calibri"/>
              </a:rPr>
              <a:t>A Layered Control Plane for</a:t>
            </a:r>
            <a:br/>
            <a:r>
              <a:rPr sz="2200" b="1" i="0">
                <a:solidFill>
                  <a:srgbClr val="FFFFFF"/>
                </a:solidFill>
                <a:latin typeface="Calibri"/>
              </a:rPr>
              <a:t>Governed Releases of AI-Agent Resources</a:t>
            </a:r>
          </a:p>
        </p:txBody>
      </p:sp>
      <p:sp>
        <p:nvSpPr>
          <p:cNvPr id="8" name="TextBox 7"/>
          <p:cNvSpPr txBox="1"/>
          <p:nvPr/>
        </p:nvSpPr>
        <p:spPr>
          <a:xfrm>
            <a:off x="635000" y="3810000"/>
            <a:ext cx="7874000" cy="609600"/>
          </a:xfrm>
          <a:prstGeom prst="rect">
            <a:avLst/>
          </a:prstGeom>
          <a:noFill/>
        </p:spPr>
        <p:txBody>
          <a:bodyPr wrap="square" lIns="0" rIns="0" tIns="0" bIns="0" anchor="t">
            <a:spAutoFit/>
          </a:bodyPr>
          <a:lstStyle/>
          <a:p>
            <a:pPr algn="l">
              <a:lnSpc>
                <a:spcPct val="132000"/>
              </a:lnSpc>
            </a:pPr>
            <a:r>
              <a:rPr sz="1250" b="0" i="0">
                <a:solidFill>
                  <a:srgbClr val="9BD0D6"/>
                </a:solidFill>
                <a:latin typeface="Calibri"/>
              </a:rPr>
              <a:t>The governed asset is a typed record with version history, an authority model, an audit trail, and — where its family supports one — a live target that client code resolves at call time.</a:t>
            </a:r>
          </a:p>
        </p:txBody>
      </p:sp>
      <p:sp>
        <p:nvSpPr>
          <p:cNvPr id="9" name="Rectangle 8"/>
          <p:cNvSpPr/>
          <p:nvPr/>
        </p:nvSpPr>
        <p:spPr>
          <a:xfrm>
            <a:off x="635000" y="4724400"/>
            <a:ext cx="7874000" cy="9525"/>
          </a:xfrm>
          <a:prstGeom prst="rect">
            <a:avLst/>
          </a:prstGeom>
          <a:solidFill>
            <a:srgbClr val="2C44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000" y="4902200"/>
            <a:ext cx="2472266" cy="266700"/>
          </a:xfrm>
          <a:prstGeom prst="rect">
            <a:avLst/>
          </a:prstGeom>
          <a:noFill/>
        </p:spPr>
        <p:txBody>
          <a:bodyPr wrap="square" lIns="0" rIns="0" tIns="0" bIns="0" anchor="t">
            <a:spAutoFit/>
          </a:bodyPr>
          <a:lstStyle/>
          <a:p>
            <a:pPr algn="l">
              <a:lnSpc>
                <a:spcPct val="122000"/>
              </a:lnSpc>
            </a:pPr>
            <a:r>
              <a:rPr sz="1300" b="1" i="0">
                <a:solidFill>
                  <a:srgbClr val="56B3BE"/>
                </a:solidFill>
                <a:latin typeface="Calibri"/>
              </a:rPr>
              <a:t>Scope</a:t>
            </a:r>
          </a:p>
        </p:txBody>
      </p:sp>
      <p:sp>
        <p:nvSpPr>
          <p:cNvPr id="11" name="TextBox 10"/>
          <p:cNvSpPr txBox="1"/>
          <p:nvPr/>
        </p:nvSpPr>
        <p:spPr>
          <a:xfrm>
            <a:off x="635000" y="5194300"/>
            <a:ext cx="2472266" cy="635000"/>
          </a:xfrm>
          <a:prstGeom prst="rect">
            <a:avLst/>
          </a:prstGeom>
          <a:noFill/>
        </p:spPr>
        <p:txBody>
          <a:bodyPr wrap="square" lIns="0" rIns="0" tIns="0" bIns="0" anchor="t">
            <a:spAutoFit/>
          </a:bodyPr>
          <a:lstStyle/>
          <a:p>
            <a:pPr algn="l">
              <a:lnSpc>
                <a:spcPct val="132000"/>
              </a:lnSpc>
            </a:pPr>
            <a:r>
              <a:rPr sz="1050" b="0" i="0">
                <a:solidFill>
                  <a:srgbClr val="8FA6C0"/>
                </a:solidFill>
                <a:latin typeface="Calibri"/>
              </a:rPr>
              <a:t>9 asset families, 6 layers,</a:t>
            </a:r>
            <a:br/>
            <a:r>
              <a:rPr sz="1050" b="0" i="0">
                <a:solidFill>
                  <a:srgbClr val="8FA6C0"/>
                </a:solidFill>
                <a:latin typeface="Calibri"/>
              </a:rPr>
              <a:t>6 lifecycle modes</a:t>
            </a:r>
          </a:p>
        </p:txBody>
      </p:sp>
      <p:sp>
        <p:nvSpPr>
          <p:cNvPr id="12" name="TextBox 11"/>
          <p:cNvSpPr txBox="1"/>
          <p:nvPr/>
        </p:nvSpPr>
        <p:spPr>
          <a:xfrm>
            <a:off x="3335866" y="4902200"/>
            <a:ext cx="2472266" cy="266700"/>
          </a:xfrm>
          <a:prstGeom prst="rect">
            <a:avLst/>
          </a:prstGeom>
          <a:noFill/>
        </p:spPr>
        <p:txBody>
          <a:bodyPr wrap="square" lIns="0" rIns="0" tIns="0" bIns="0" anchor="t">
            <a:spAutoFit/>
          </a:bodyPr>
          <a:lstStyle/>
          <a:p>
            <a:pPr algn="l">
              <a:lnSpc>
                <a:spcPct val="122000"/>
              </a:lnSpc>
            </a:pPr>
            <a:r>
              <a:rPr sz="1300" b="1" i="0">
                <a:solidFill>
                  <a:srgbClr val="56B3BE"/>
                </a:solidFill>
                <a:latin typeface="Calibri"/>
              </a:rPr>
              <a:t>Implementation</a:t>
            </a:r>
          </a:p>
        </p:txBody>
      </p:sp>
      <p:sp>
        <p:nvSpPr>
          <p:cNvPr id="13" name="TextBox 12"/>
          <p:cNvSpPr txBox="1"/>
          <p:nvPr/>
        </p:nvSpPr>
        <p:spPr>
          <a:xfrm>
            <a:off x="3335866" y="5194300"/>
            <a:ext cx="2472266" cy="635000"/>
          </a:xfrm>
          <a:prstGeom prst="rect">
            <a:avLst/>
          </a:prstGeom>
          <a:noFill/>
        </p:spPr>
        <p:txBody>
          <a:bodyPr wrap="square" lIns="0" rIns="0" tIns="0" bIns="0" anchor="t">
            <a:spAutoFit/>
          </a:bodyPr>
          <a:lstStyle/>
          <a:p>
            <a:pPr algn="l">
              <a:lnSpc>
                <a:spcPct val="132000"/>
              </a:lnSpc>
            </a:pPr>
            <a:r>
              <a:rPr sz="1050" b="0" i="0">
                <a:solidFill>
                  <a:srgbClr val="8FA6C0"/>
                </a:solidFill>
                <a:latin typeface="Calibri"/>
              </a:rPr>
              <a:t>173k lines of Python,</a:t>
            </a:r>
            <a:br/>
            <a:r>
              <a:rPr sz="1050" b="0" i="0">
                <a:solidFill>
                  <a:srgbClr val="8FA6C0"/>
                </a:solidFill>
                <a:latin typeface="Calibri"/>
              </a:rPr>
              <a:t>210k of TypeScript</a:t>
            </a:r>
          </a:p>
        </p:txBody>
      </p:sp>
      <p:sp>
        <p:nvSpPr>
          <p:cNvPr id="14" name="TextBox 13"/>
          <p:cNvSpPr txBox="1"/>
          <p:nvPr/>
        </p:nvSpPr>
        <p:spPr>
          <a:xfrm>
            <a:off x="6036733" y="4902200"/>
            <a:ext cx="2472266" cy="266700"/>
          </a:xfrm>
          <a:prstGeom prst="rect">
            <a:avLst/>
          </a:prstGeom>
          <a:noFill/>
        </p:spPr>
        <p:txBody>
          <a:bodyPr wrap="square" lIns="0" rIns="0" tIns="0" bIns="0" anchor="t">
            <a:spAutoFit/>
          </a:bodyPr>
          <a:lstStyle/>
          <a:p>
            <a:pPr algn="l">
              <a:lnSpc>
                <a:spcPct val="122000"/>
              </a:lnSpc>
            </a:pPr>
            <a:r>
              <a:rPr sz="1300" b="1" i="0">
                <a:solidFill>
                  <a:srgbClr val="56B3BE"/>
                </a:solidFill>
                <a:latin typeface="Calibri"/>
              </a:rPr>
              <a:t>Standing</a:t>
            </a:r>
          </a:p>
        </p:txBody>
      </p:sp>
      <p:sp>
        <p:nvSpPr>
          <p:cNvPr id="15" name="TextBox 14"/>
          <p:cNvSpPr txBox="1"/>
          <p:nvPr/>
        </p:nvSpPr>
        <p:spPr>
          <a:xfrm>
            <a:off x="6036733" y="5194300"/>
            <a:ext cx="2472266" cy="635000"/>
          </a:xfrm>
          <a:prstGeom prst="rect">
            <a:avLst/>
          </a:prstGeom>
          <a:noFill/>
        </p:spPr>
        <p:txBody>
          <a:bodyPr wrap="square" lIns="0" rIns="0" tIns="0" bIns="0" anchor="t">
            <a:spAutoFit/>
          </a:bodyPr>
          <a:lstStyle/>
          <a:p>
            <a:pPr algn="l">
              <a:lnSpc>
                <a:spcPct val="132000"/>
              </a:lnSpc>
            </a:pPr>
            <a:r>
              <a:rPr sz="1050" b="0" i="0">
                <a:solidFill>
                  <a:srgbClr val="8FA6C0"/>
                </a:solidFill>
                <a:latin typeface="Calibri"/>
              </a:rPr>
              <a:t>An architectural claim;</a:t>
            </a:r>
            <a:br/>
            <a:r>
              <a:rPr sz="1050" b="0" i="0">
                <a:solidFill>
                  <a:srgbClr val="8FA6C0"/>
                </a:solidFill>
                <a:latin typeface="Calibri"/>
              </a:rPr>
              <a:t>the evaluation is unrun</a:t>
            </a:r>
          </a:p>
        </p:txBody>
      </p:sp>
      <p:sp>
        <p:nvSpPr>
          <p:cNvPr id="16" name="TextBox 15"/>
          <p:cNvSpPr txBox="1"/>
          <p:nvPr/>
        </p:nvSpPr>
        <p:spPr>
          <a:xfrm>
            <a:off x="635000" y="5943600"/>
            <a:ext cx="8890000" cy="266700"/>
          </a:xfrm>
          <a:prstGeom prst="rect">
            <a:avLst/>
          </a:prstGeom>
          <a:noFill/>
        </p:spPr>
        <p:txBody>
          <a:bodyPr wrap="square" lIns="0" rIns="0" tIns="0" bIns="0" anchor="t">
            <a:spAutoFit/>
          </a:bodyPr>
          <a:lstStyle/>
          <a:p>
            <a:pPr algn="l">
              <a:lnSpc>
                <a:spcPct val="122000"/>
              </a:lnSpc>
            </a:pPr>
            <a:r>
              <a:rPr sz="1050" b="0" i="0">
                <a:solidFill>
                  <a:srgbClr val="43597C"/>
                </a:solidFill>
                <a:latin typeface="Calibri"/>
              </a:rPr>
              <a:t>Technical seminar  ·  Reza Rahimi  ·  JazzX AI  ·  August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35000" y="6337300"/>
            <a:ext cx="6096000" cy="254000"/>
          </a:xfrm>
          <a:prstGeom prst="rect">
            <a:avLst/>
          </a:prstGeom>
          <a:noFill/>
        </p:spPr>
        <p:txBody>
          <a:bodyPr wrap="square" lIns="0" rIns="0" tIns="0" bIns="0" anchor="t">
            <a:spAutoFit/>
          </a:bodyPr>
          <a:lstStyle/>
          <a:p>
            <a:pPr algn="l">
              <a:lnSpc>
                <a:spcPct val="122000"/>
              </a:lnSpc>
            </a:pPr>
            <a:r>
              <a:rPr sz="900" b="0" i="0">
                <a:solidFill>
                  <a:srgbClr val="A3B2C4"/>
                </a:solidFill>
                <a:latin typeface="Calibri"/>
              </a:rPr>
              <a:t>CALIBER  ·  A Layered Control Plane for Governed Releases of AI-Agent Resources</a:t>
            </a:r>
          </a:p>
        </p:txBody>
      </p:sp>
      <p:sp>
        <p:nvSpPr>
          <p:cNvPr id="3" name="TextBox 2"/>
          <p:cNvSpPr txBox="1"/>
          <p:nvPr/>
        </p:nvSpPr>
        <p:spPr>
          <a:xfrm>
            <a:off x="10629900" y="6337300"/>
            <a:ext cx="914400" cy="254000"/>
          </a:xfrm>
          <a:prstGeom prst="rect">
            <a:avLst/>
          </a:prstGeom>
          <a:noFill/>
        </p:spPr>
        <p:txBody>
          <a:bodyPr wrap="square" lIns="0" rIns="0" tIns="0" bIns="0" anchor="t">
            <a:spAutoFit/>
          </a:bodyPr>
          <a:lstStyle/>
          <a:p>
            <a:pPr algn="r">
              <a:lnSpc>
                <a:spcPct val="122000"/>
              </a:lnSpc>
            </a:pPr>
            <a:r>
              <a:rPr sz="900" b="0" i="0">
                <a:solidFill>
                  <a:srgbClr val="A3B2C4"/>
                </a:solidFill>
                <a:latin typeface="Calibri"/>
              </a:rPr>
              <a:t>2</a:t>
            </a:r>
          </a:p>
        </p:txBody>
      </p:sp>
      <p:sp>
        <p:nvSpPr>
          <p:cNvPr id="4" name="TextBox 3"/>
          <p:cNvSpPr txBox="1"/>
          <p:nvPr/>
        </p:nvSpPr>
        <p:spPr>
          <a:xfrm>
            <a:off x="635000" y="381000"/>
            <a:ext cx="10909300" cy="228600"/>
          </a:xfrm>
          <a:prstGeom prst="rect">
            <a:avLst/>
          </a:prstGeom>
          <a:noFill/>
        </p:spPr>
        <p:txBody>
          <a:bodyPr wrap="square" lIns="0" rIns="0" tIns="0" bIns="0" anchor="t">
            <a:spAutoFit/>
          </a:bodyPr>
          <a:lstStyle/>
          <a:p>
            <a:pPr algn="l">
              <a:lnSpc>
                <a:spcPct val="122000"/>
              </a:lnSpc>
            </a:pPr>
            <a:r>
              <a:rPr sz="1050" b="1" i="0">
                <a:solidFill>
                  <a:srgbClr val="1F8A99"/>
                </a:solidFill>
                <a:latin typeface="Calibri"/>
              </a:rPr>
              <a:t>Motivation  ·  §2.1</a:t>
            </a:r>
          </a:p>
        </p:txBody>
      </p:sp>
      <p:sp>
        <p:nvSpPr>
          <p:cNvPr id="5" name="TextBox 4"/>
          <p:cNvSpPr txBox="1"/>
          <p:nvPr/>
        </p:nvSpPr>
        <p:spPr>
          <a:xfrm>
            <a:off x="635000" y="647700"/>
            <a:ext cx="10909300" cy="495300"/>
          </a:xfrm>
          <a:prstGeom prst="rect">
            <a:avLst/>
          </a:prstGeom>
          <a:noFill/>
        </p:spPr>
        <p:txBody>
          <a:bodyPr wrap="square" lIns="0" rIns="0" tIns="0" bIns="0" anchor="t">
            <a:spAutoFit/>
          </a:bodyPr>
          <a:lstStyle/>
          <a:p>
            <a:pPr algn="l">
              <a:lnSpc>
                <a:spcPct val="108000"/>
              </a:lnSpc>
            </a:pPr>
            <a:r>
              <a:rPr sz="2600" b="1" i="0">
                <a:solidFill>
                  <a:srgbClr val="0E1E3A"/>
                </a:solidFill>
                <a:latin typeface="Calibri"/>
              </a:rPr>
              <a:t>Detection is well tooled. Remediation is nine manual steps.</a:t>
            </a:r>
          </a:p>
        </p:txBody>
      </p:sp>
      <p:sp>
        <p:nvSpPr>
          <p:cNvPr id="6" name="TextBox 5"/>
          <p:cNvSpPr txBox="1"/>
          <p:nvPr/>
        </p:nvSpPr>
        <p:spPr>
          <a:xfrm>
            <a:off x="635000" y="1168400"/>
            <a:ext cx="10909300" cy="431800"/>
          </a:xfrm>
          <a:prstGeom prst="rect">
            <a:avLst/>
          </a:prstGeom>
          <a:noFill/>
        </p:spPr>
        <p:txBody>
          <a:bodyPr wrap="square" lIns="0" rIns="0" tIns="0" bIns="0" anchor="t">
            <a:spAutoFit/>
          </a:bodyPr>
          <a:lstStyle/>
          <a:p>
            <a:pPr algn="l">
              <a:lnSpc>
                <a:spcPct val="130000"/>
              </a:lnSpc>
            </a:pPr>
            <a:r>
              <a:rPr sz="1250" b="0" i="0">
                <a:solidFill>
                  <a:srgbClr val="24354F"/>
                </a:solidFill>
                <a:latin typeface="Calibri"/>
              </a:rPr>
              <a:t>A reviewer flags a wrong answer. The trace carries the retrieved chunks and the rendered prompt, and the judgement is recorded against it. Then enumerate what a team must actually do to fix it, and what tooling exists for each step.</a:t>
            </a:r>
          </a:p>
        </p:txBody>
      </p:sp>
      <p:sp>
        <p:nvSpPr>
          <p:cNvPr id="7" name="TextBox 6"/>
          <p:cNvSpPr txBox="1"/>
          <p:nvPr/>
        </p:nvSpPr>
        <p:spPr>
          <a:xfrm>
            <a:off x="635000" y="1701800"/>
            <a:ext cx="10909300" cy="190500"/>
          </a:xfrm>
          <a:prstGeom prst="rect">
            <a:avLst/>
          </a:prstGeom>
          <a:noFill/>
        </p:spPr>
        <p:txBody>
          <a:bodyPr wrap="square" lIns="0" rIns="0" tIns="0" bIns="0" anchor="t">
            <a:spAutoFit/>
          </a:bodyPr>
          <a:lstStyle/>
          <a:p>
            <a:pPr algn="l">
              <a:lnSpc>
                <a:spcPct val="122000"/>
              </a:lnSpc>
            </a:pPr>
            <a:r>
              <a:rPr sz="950" b="1" i="0">
                <a:solidFill>
                  <a:srgbClr val="1F8A99"/>
                </a:solidFill>
                <a:latin typeface="Calibri"/>
              </a:rPr>
              <a:t>Nine steps, and the tooling each one actually has</a:t>
            </a:r>
          </a:p>
        </p:txBody>
      </p:sp>
      <p:sp>
        <p:nvSpPr>
          <p:cNvPr id="8" name="Rounded Rectangle 7"/>
          <p:cNvSpPr/>
          <p:nvPr/>
        </p:nvSpPr>
        <p:spPr>
          <a:xfrm>
            <a:off x="635000" y="1955800"/>
            <a:ext cx="1133122" cy="1625600"/>
          </a:xfrm>
          <a:prstGeom prst="roundRect">
            <a:avLst>
              <a:gd name="adj" fmla="val 10087"/>
            </a:avLst>
          </a:prstGeom>
          <a:solidFill>
            <a:srgbClr val="FBF4E6"/>
          </a:solidFill>
          <a:ln w="9525">
            <a:solidFill>
              <a:srgbClr val="F0E4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49300" y="2082800"/>
            <a:ext cx="266700" cy="266700"/>
          </a:xfrm>
          <a:prstGeom prst="ellipse">
            <a:avLst/>
          </a:prstGeom>
          <a:solidFill>
            <a:srgbClr val="B5821F"/>
          </a:solidFill>
          <a:ln w="12700">
            <a:solidFill>
              <a:srgbClr val="B582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300" y="2137727"/>
            <a:ext cx="266700" cy="168910"/>
          </a:xfrm>
          <a:prstGeom prst="rect">
            <a:avLst/>
          </a:prstGeom>
          <a:noFill/>
        </p:spPr>
        <p:txBody>
          <a:bodyPr wrap="square" lIns="0" rIns="0" tIns="0" bIns="0" anchor="t">
            <a:spAutoFit/>
          </a:bodyPr>
          <a:lstStyle/>
          <a:p>
            <a:pPr algn="ctr">
              <a:lnSpc>
                <a:spcPct val="122000"/>
              </a:lnSpc>
            </a:pPr>
            <a:r>
              <a:rPr sz="950" b="1" i="0">
                <a:solidFill>
                  <a:srgbClr val="FFFFFF"/>
                </a:solidFill>
                <a:latin typeface="Calibri"/>
              </a:rPr>
              <a:t>1</a:t>
            </a:r>
          </a:p>
        </p:txBody>
      </p:sp>
      <p:sp>
        <p:nvSpPr>
          <p:cNvPr id="11" name="TextBox 10"/>
          <p:cNvSpPr txBox="1"/>
          <p:nvPr/>
        </p:nvSpPr>
        <p:spPr>
          <a:xfrm>
            <a:off x="749300" y="2451100"/>
            <a:ext cx="904522" cy="508000"/>
          </a:xfrm>
          <a:prstGeom prst="rect">
            <a:avLst/>
          </a:prstGeom>
          <a:noFill/>
        </p:spPr>
        <p:txBody>
          <a:bodyPr wrap="square" lIns="0" rIns="0" tIns="0" bIns="0" anchor="t">
            <a:spAutoFit/>
          </a:bodyPr>
          <a:lstStyle/>
          <a:p>
            <a:pPr algn="l">
              <a:lnSpc>
                <a:spcPct val="116000"/>
              </a:lnSpc>
            </a:pPr>
            <a:r>
              <a:rPr sz="1000" b="1" i="0">
                <a:solidFill>
                  <a:srgbClr val="B5821F"/>
                </a:solidFill>
                <a:latin typeface="Calibri"/>
              </a:rPr>
              <a:t>Decide it is real</a:t>
            </a:r>
          </a:p>
        </p:txBody>
      </p:sp>
      <p:sp>
        <p:nvSpPr>
          <p:cNvPr id="12" name="TextBox 11"/>
          <p:cNvSpPr txBox="1"/>
          <p:nvPr/>
        </p:nvSpPr>
        <p:spPr>
          <a:xfrm>
            <a:off x="749300" y="3022600"/>
            <a:ext cx="904522" cy="431800"/>
          </a:xfrm>
          <a:prstGeom prst="rect">
            <a:avLst/>
          </a:prstGeom>
          <a:noFill/>
        </p:spPr>
        <p:txBody>
          <a:bodyPr wrap="square" lIns="0" rIns="0" tIns="0" bIns="0" anchor="t">
            <a:spAutoFit/>
          </a:bodyPr>
          <a:lstStyle/>
          <a:p>
            <a:pPr algn="l">
              <a:lnSpc>
                <a:spcPct val="120000"/>
              </a:lnSpc>
            </a:pPr>
            <a:r>
              <a:rPr sz="850" b="0" i="0">
                <a:solidFill>
                  <a:srgbClr val="4E3529"/>
                </a:solidFill>
                <a:latin typeface="Calibri"/>
              </a:rPr>
              <a:t>a queue, if</a:t>
            </a:r>
            <a:br/>
            <a:r>
              <a:rPr sz="850" b="0" i="0">
                <a:solidFill>
                  <a:srgbClr val="4E3529"/>
                </a:solidFill>
                <a:latin typeface="Calibri"/>
              </a:rPr>
              <a:t>someone built one</a:t>
            </a:r>
          </a:p>
        </p:txBody>
      </p:sp>
      <p:sp>
        <p:nvSpPr>
          <p:cNvPr id="13" name="Rounded Rectangle 12"/>
          <p:cNvSpPr/>
          <p:nvPr/>
        </p:nvSpPr>
        <p:spPr>
          <a:xfrm>
            <a:off x="1857022" y="1955800"/>
            <a:ext cx="1133122" cy="1625600"/>
          </a:xfrm>
          <a:prstGeom prst="roundRect">
            <a:avLst>
              <a:gd name="adj" fmla="val 10087"/>
            </a:avLst>
          </a:prstGeom>
          <a:solidFill>
            <a:srgbClr val="FBF4E6"/>
          </a:solidFill>
          <a:ln w="9525">
            <a:solidFill>
              <a:srgbClr val="F0E4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971322" y="2082800"/>
            <a:ext cx="266700" cy="266700"/>
          </a:xfrm>
          <a:prstGeom prst="ellipse">
            <a:avLst/>
          </a:prstGeom>
          <a:solidFill>
            <a:srgbClr val="B5821F"/>
          </a:solidFill>
          <a:ln w="12700">
            <a:solidFill>
              <a:srgbClr val="B582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971322" y="2137727"/>
            <a:ext cx="266700" cy="168910"/>
          </a:xfrm>
          <a:prstGeom prst="rect">
            <a:avLst/>
          </a:prstGeom>
          <a:noFill/>
        </p:spPr>
        <p:txBody>
          <a:bodyPr wrap="square" lIns="0" rIns="0" tIns="0" bIns="0" anchor="t">
            <a:spAutoFit/>
          </a:bodyPr>
          <a:lstStyle/>
          <a:p>
            <a:pPr algn="ctr">
              <a:lnSpc>
                <a:spcPct val="122000"/>
              </a:lnSpc>
            </a:pPr>
            <a:r>
              <a:rPr sz="950" b="1" i="0">
                <a:solidFill>
                  <a:srgbClr val="FFFFFF"/>
                </a:solidFill>
                <a:latin typeface="Calibri"/>
              </a:rPr>
              <a:t>2</a:t>
            </a:r>
          </a:p>
        </p:txBody>
      </p:sp>
      <p:sp>
        <p:nvSpPr>
          <p:cNvPr id="16" name="TextBox 15"/>
          <p:cNvSpPr txBox="1"/>
          <p:nvPr/>
        </p:nvSpPr>
        <p:spPr>
          <a:xfrm>
            <a:off x="1971322" y="2451100"/>
            <a:ext cx="904522" cy="508000"/>
          </a:xfrm>
          <a:prstGeom prst="rect">
            <a:avLst/>
          </a:prstGeom>
          <a:noFill/>
        </p:spPr>
        <p:txBody>
          <a:bodyPr wrap="square" lIns="0" rIns="0" tIns="0" bIns="0" anchor="t">
            <a:spAutoFit/>
          </a:bodyPr>
          <a:lstStyle/>
          <a:p>
            <a:pPr algn="l">
              <a:lnSpc>
                <a:spcPct val="116000"/>
              </a:lnSpc>
            </a:pPr>
            <a:r>
              <a:rPr sz="1000" b="1" i="0">
                <a:solidFill>
                  <a:srgbClr val="B5821F"/>
                </a:solidFill>
                <a:latin typeface="Calibri"/>
              </a:rPr>
              <a:t>Locate the cause</a:t>
            </a:r>
          </a:p>
        </p:txBody>
      </p:sp>
      <p:sp>
        <p:nvSpPr>
          <p:cNvPr id="17" name="TextBox 16"/>
          <p:cNvSpPr txBox="1"/>
          <p:nvPr/>
        </p:nvSpPr>
        <p:spPr>
          <a:xfrm>
            <a:off x="1971322" y="3022600"/>
            <a:ext cx="904522" cy="431800"/>
          </a:xfrm>
          <a:prstGeom prst="rect">
            <a:avLst/>
          </a:prstGeom>
          <a:noFill/>
        </p:spPr>
        <p:txBody>
          <a:bodyPr wrap="square" lIns="0" rIns="0" tIns="0" bIns="0" anchor="t">
            <a:spAutoFit/>
          </a:bodyPr>
          <a:lstStyle/>
          <a:p>
            <a:pPr algn="l">
              <a:lnSpc>
                <a:spcPct val="120000"/>
              </a:lnSpc>
            </a:pPr>
            <a:r>
              <a:rPr sz="850" b="0" i="0">
                <a:solidFill>
                  <a:srgbClr val="4E3529"/>
                </a:solidFill>
                <a:latin typeface="Calibri"/>
              </a:rPr>
              <a:t>reading the</a:t>
            </a:r>
            <a:br/>
            <a:r>
              <a:rPr sz="850" b="0" i="0">
                <a:solidFill>
                  <a:srgbClr val="4E3529"/>
                </a:solidFill>
                <a:latin typeface="Calibri"/>
              </a:rPr>
              <a:t>trace</a:t>
            </a:r>
          </a:p>
        </p:txBody>
      </p:sp>
      <p:sp>
        <p:nvSpPr>
          <p:cNvPr id="18" name="Rounded Rectangle 17"/>
          <p:cNvSpPr/>
          <p:nvPr/>
        </p:nvSpPr>
        <p:spPr>
          <a:xfrm>
            <a:off x="3079044" y="1955800"/>
            <a:ext cx="1133122" cy="1625600"/>
          </a:xfrm>
          <a:prstGeom prst="roundRect">
            <a:avLst>
              <a:gd name="adj" fmla="val 10087"/>
            </a:avLst>
          </a:prstGeom>
          <a:solidFill>
            <a:srgbClr val="FBF0EC"/>
          </a:solidFill>
          <a:ln w="9525">
            <a:solidFill>
              <a:srgbClr val="EFDC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3193344" y="2082800"/>
            <a:ext cx="266700" cy="266700"/>
          </a:xfrm>
          <a:prstGeom prst="ellipse">
            <a:avLst/>
          </a:prstGeom>
          <a:solidFill>
            <a:srgbClr val="A93B2B"/>
          </a:solidFill>
          <a:ln w="12700">
            <a:solidFill>
              <a:srgbClr val="A93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193344" y="2137727"/>
            <a:ext cx="266700" cy="168910"/>
          </a:xfrm>
          <a:prstGeom prst="rect">
            <a:avLst/>
          </a:prstGeom>
          <a:noFill/>
        </p:spPr>
        <p:txBody>
          <a:bodyPr wrap="square" lIns="0" rIns="0" tIns="0" bIns="0" anchor="t">
            <a:spAutoFit/>
          </a:bodyPr>
          <a:lstStyle/>
          <a:p>
            <a:pPr algn="ctr">
              <a:lnSpc>
                <a:spcPct val="122000"/>
              </a:lnSpc>
            </a:pPr>
            <a:r>
              <a:rPr sz="950" b="1" i="0">
                <a:solidFill>
                  <a:srgbClr val="FFFFFF"/>
                </a:solidFill>
                <a:latin typeface="Calibri"/>
              </a:rPr>
              <a:t>3</a:t>
            </a:r>
          </a:p>
        </p:txBody>
      </p:sp>
      <p:sp>
        <p:nvSpPr>
          <p:cNvPr id="21" name="TextBox 20"/>
          <p:cNvSpPr txBox="1"/>
          <p:nvPr/>
        </p:nvSpPr>
        <p:spPr>
          <a:xfrm>
            <a:off x="3193344" y="2451100"/>
            <a:ext cx="904522" cy="508000"/>
          </a:xfrm>
          <a:prstGeom prst="rect">
            <a:avLst/>
          </a:prstGeom>
          <a:noFill/>
        </p:spPr>
        <p:txBody>
          <a:bodyPr wrap="square" lIns="0" rIns="0" tIns="0" bIns="0" anchor="t">
            <a:spAutoFit/>
          </a:bodyPr>
          <a:lstStyle/>
          <a:p>
            <a:pPr algn="l">
              <a:lnSpc>
                <a:spcPct val="116000"/>
              </a:lnSpc>
            </a:pPr>
            <a:r>
              <a:rPr sz="1000" b="1" i="0">
                <a:solidFill>
                  <a:srgbClr val="A93B2B"/>
                </a:solidFill>
                <a:latin typeface="Calibri"/>
              </a:rPr>
              <a:t>Assemble evidence</a:t>
            </a:r>
          </a:p>
        </p:txBody>
      </p:sp>
      <p:sp>
        <p:nvSpPr>
          <p:cNvPr id="22" name="TextBox 21"/>
          <p:cNvSpPr txBox="1"/>
          <p:nvPr/>
        </p:nvSpPr>
        <p:spPr>
          <a:xfrm>
            <a:off x="3193344" y="3022600"/>
            <a:ext cx="904522" cy="431800"/>
          </a:xfrm>
          <a:prstGeom prst="rect">
            <a:avLst/>
          </a:prstGeom>
          <a:noFill/>
        </p:spPr>
        <p:txBody>
          <a:bodyPr wrap="square" lIns="0" rIns="0" tIns="0" bIns="0" anchor="t">
            <a:spAutoFit/>
          </a:bodyPr>
          <a:lstStyle/>
          <a:p>
            <a:pPr algn="l">
              <a:lnSpc>
                <a:spcPct val="120000"/>
              </a:lnSpc>
            </a:pPr>
            <a:r>
              <a:rPr sz="850" b="0" i="0">
                <a:solidFill>
                  <a:srgbClr val="5C4034"/>
                </a:solidFill>
                <a:latin typeface="Calibri"/>
              </a:rPr>
              <a:t>none standard;</a:t>
            </a:r>
            <a:br/>
            <a:r>
              <a:rPr sz="850" b="0" i="0">
                <a:solidFill>
                  <a:srgbClr val="5C4034"/>
                </a:solidFill>
                <a:latin typeface="Calibri"/>
              </a:rPr>
              <a:t>hand-built sheets</a:t>
            </a:r>
          </a:p>
        </p:txBody>
      </p:sp>
      <p:sp>
        <p:nvSpPr>
          <p:cNvPr id="23" name="Rounded Rectangle 22"/>
          <p:cNvSpPr/>
          <p:nvPr/>
        </p:nvSpPr>
        <p:spPr>
          <a:xfrm>
            <a:off x="4301066" y="1955800"/>
            <a:ext cx="1133122" cy="1625600"/>
          </a:xfrm>
          <a:prstGeom prst="roundRect">
            <a:avLst>
              <a:gd name="adj" fmla="val 10087"/>
            </a:avLst>
          </a:prstGeom>
          <a:solidFill>
            <a:srgbClr val="FBF4E6"/>
          </a:solidFill>
          <a:ln w="9525">
            <a:solidFill>
              <a:srgbClr val="F0E4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4415366" y="2082800"/>
            <a:ext cx="266700" cy="266700"/>
          </a:xfrm>
          <a:prstGeom prst="ellipse">
            <a:avLst/>
          </a:prstGeom>
          <a:solidFill>
            <a:srgbClr val="B5821F"/>
          </a:solidFill>
          <a:ln w="12700">
            <a:solidFill>
              <a:srgbClr val="B582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15366" y="2137727"/>
            <a:ext cx="266700" cy="168910"/>
          </a:xfrm>
          <a:prstGeom prst="rect">
            <a:avLst/>
          </a:prstGeom>
          <a:noFill/>
        </p:spPr>
        <p:txBody>
          <a:bodyPr wrap="square" lIns="0" rIns="0" tIns="0" bIns="0" anchor="t">
            <a:spAutoFit/>
          </a:bodyPr>
          <a:lstStyle/>
          <a:p>
            <a:pPr algn="ctr">
              <a:lnSpc>
                <a:spcPct val="122000"/>
              </a:lnSpc>
            </a:pPr>
            <a:r>
              <a:rPr sz="950" b="1" i="0">
                <a:solidFill>
                  <a:srgbClr val="FFFFFF"/>
                </a:solidFill>
                <a:latin typeface="Calibri"/>
              </a:rPr>
              <a:t>4</a:t>
            </a:r>
          </a:p>
        </p:txBody>
      </p:sp>
      <p:sp>
        <p:nvSpPr>
          <p:cNvPr id="26" name="TextBox 25"/>
          <p:cNvSpPr txBox="1"/>
          <p:nvPr/>
        </p:nvSpPr>
        <p:spPr>
          <a:xfrm>
            <a:off x="4415366" y="2451100"/>
            <a:ext cx="904522" cy="508000"/>
          </a:xfrm>
          <a:prstGeom prst="rect">
            <a:avLst/>
          </a:prstGeom>
          <a:noFill/>
        </p:spPr>
        <p:txBody>
          <a:bodyPr wrap="square" lIns="0" rIns="0" tIns="0" bIns="0" anchor="t">
            <a:spAutoFit/>
          </a:bodyPr>
          <a:lstStyle/>
          <a:p>
            <a:pPr algn="l">
              <a:lnSpc>
                <a:spcPct val="116000"/>
              </a:lnSpc>
            </a:pPr>
            <a:r>
              <a:rPr sz="1000" b="1" i="0">
                <a:solidFill>
                  <a:srgbClr val="B5821F"/>
                </a:solidFill>
                <a:latin typeface="Calibri"/>
              </a:rPr>
              <a:t>Produce a candidate</a:t>
            </a:r>
          </a:p>
        </p:txBody>
      </p:sp>
      <p:sp>
        <p:nvSpPr>
          <p:cNvPr id="27" name="TextBox 26"/>
          <p:cNvSpPr txBox="1"/>
          <p:nvPr/>
        </p:nvSpPr>
        <p:spPr>
          <a:xfrm>
            <a:off x="4415366" y="3022600"/>
            <a:ext cx="904522" cy="431800"/>
          </a:xfrm>
          <a:prstGeom prst="rect">
            <a:avLst/>
          </a:prstGeom>
          <a:noFill/>
        </p:spPr>
        <p:txBody>
          <a:bodyPr wrap="square" lIns="0" rIns="0" tIns="0" bIns="0" anchor="t">
            <a:spAutoFit/>
          </a:bodyPr>
          <a:lstStyle/>
          <a:p>
            <a:pPr algn="l">
              <a:lnSpc>
                <a:spcPct val="120000"/>
              </a:lnSpc>
            </a:pPr>
            <a:r>
              <a:rPr sz="850" b="0" i="0">
                <a:solidFill>
                  <a:srgbClr val="4E3529"/>
                </a:solidFill>
                <a:latin typeface="Calibri"/>
              </a:rPr>
              <a:t>an optimizer,</a:t>
            </a:r>
            <a:br/>
            <a:r>
              <a:rPr sz="850" b="0" i="0">
                <a:solidFill>
                  <a:srgbClr val="4E3529"/>
                </a:solidFill>
                <a:latin typeface="Calibri"/>
              </a:rPr>
              <a:t>run out of band</a:t>
            </a:r>
          </a:p>
        </p:txBody>
      </p:sp>
      <p:sp>
        <p:nvSpPr>
          <p:cNvPr id="28" name="Rounded Rectangle 27"/>
          <p:cNvSpPr/>
          <p:nvPr/>
        </p:nvSpPr>
        <p:spPr>
          <a:xfrm>
            <a:off x="5523088" y="1955800"/>
            <a:ext cx="1133122" cy="1625600"/>
          </a:xfrm>
          <a:prstGeom prst="roundRect">
            <a:avLst>
              <a:gd name="adj" fmla="val 10087"/>
            </a:avLst>
          </a:prstGeom>
          <a:solidFill>
            <a:srgbClr val="FBF4E6"/>
          </a:solidFill>
          <a:ln w="9525">
            <a:solidFill>
              <a:srgbClr val="F0E4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5637388" y="2082800"/>
            <a:ext cx="266700" cy="266700"/>
          </a:xfrm>
          <a:prstGeom prst="ellipse">
            <a:avLst/>
          </a:prstGeom>
          <a:solidFill>
            <a:srgbClr val="B5821F"/>
          </a:solidFill>
          <a:ln w="12700">
            <a:solidFill>
              <a:srgbClr val="B582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637388" y="2137727"/>
            <a:ext cx="266700" cy="168910"/>
          </a:xfrm>
          <a:prstGeom prst="rect">
            <a:avLst/>
          </a:prstGeom>
          <a:noFill/>
        </p:spPr>
        <p:txBody>
          <a:bodyPr wrap="square" lIns="0" rIns="0" tIns="0" bIns="0" anchor="t">
            <a:spAutoFit/>
          </a:bodyPr>
          <a:lstStyle/>
          <a:p>
            <a:pPr algn="ctr">
              <a:lnSpc>
                <a:spcPct val="122000"/>
              </a:lnSpc>
            </a:pPr>
            <a:r>
              <a:rPr sz="950" b="1" i="0">
                <a:solidFill>
                  <a:srgbClr val="FFFFFF"/>
                </a:solidFill>
                <a:latin typeface="Calibri"/>
              </a:rPr>
              <a:t>5</a:t>
            </a:r>
          </a:p>
        </p:txBody>
      </p:sp>
      <p:sp>
        <p:nvSpPr>
          <p:cNvPr id="31" name="TextBox 30"/>
          <p:cNvSpPr txBox="1"/>
          <p:nvPr/>
        </p:nvSpPr>
        <p:spPr>
          <a:xfrm>
            <a:off x="5637388" y="2451100"/>
            <a:ext cx="904522" cy="508000"/>
          </a:xfrm>
          <a:prstGeom prst="rect">
            <a:avLst/>
          </a:prstGeom>
          <a:noFill/>
        </p:spPr>
        <p:txBody>
          <a:bodyPr wrap="square" lIns="0" rIns="0" tIns="0" bIns="0" anchor="t">
            <a:spAutoFit/>
          </a:bodyPr>
          <a:lstStyle/>
          <a:p>
            <a:pPr algn="l">
              <a:lnSpc>
                <a:spcPct val="116000"/>
              </a:lnSpc>
            </a:pPr>
            <a:r>
              <a:rPr sz="1000" b="1" i="0">
                <a:solidFill>
                  <a:srgbClr val="B5821F"/>
                </a:solidFill>
                <a:latin typeface="Calibri"/>
              </a:rPr>
              <a:t>Measure it</a:t>
            </a:r>
          </a:p>
        </p:txBody>
      </p:sp>
      <p:sp>
        <p:nvSpPr>
          <p:cNvPr id="32" name="TextBox 31"/>
          <p:cNvSpPr txBox="1"/>
          <p:nvPr/>
        </p:nvSpPr>
        <p:spPr>
          <a:xfrm>
            <a:off x="5637388" y="3022600"/>
            <a:ext cx="904522" cy="431800"/>
          </a:xfrm>
          <a:prstGeom prst="rect">
            <a:avLst/>
          </a:prstGeom>
          <a:noFill/>
        </p:spPr>
        <p:txBody>
          <a:bodyPr wrap="square" lIns="0" rIns="0" tIns="0" bIns="0" anchor="t">
            <a:spAutoFit/>
          </a:bodyPr>
          <a:lstStyle/>
          <a:p>
            <a:pPr algn="l">
              <a:lnSpc>
                <a:spcPct val="120000"/>
              </a:lnSpc>
            </a:pPr>
            <a:r>
              <a:rPr sz="850" b="0" i="0">
                <a:solidFill>
                  <a:srgbClr val="4E3529"/>
                </a:solidFill>
                <a:latin typeface="Calibri"/>
              </a:rPr>
              <a:t>a harness,</a:t>
            </a:r>
            <a:br/>
            <a:r>
              <a:rPr sz="850" b="0" i="0">
                <a:solidFill>
                  <a:srgbClr val="4E3529"/>
                </a:solidFill>
                <a:latin typeface="Calibri"/>
              </a:rPr>
              <a:t>run manually</a:t>
            </a:r>
          </a:p>
        </p:txBody>
      </p:sp>
      <p:sp>
        <p:nvSpPr>
          <p:cNvPr id="33" name="Rounded Rectangle 32"/>
          <p:cNvSpPr/>
          <p:nvPr/>
        </p:nvSpPr>
        <p:spPr>
          <a:xfrm>
            <a:off x="6745111" y="1955800"/>
            <a:ext cx="1133122" cy="1625600"/>
          </a:xfrm>
          <a:prstGeom prst="roundRect">
            <a:avLst>
              <a:gd name="adj" fmla="val 10087"/>
            </a:avLst>
          </a:prstGeom>
          <a:solidFill>
            <a:srgbClr val="FBF0EC"/>
          </a:solidFill>
          <a:ln w="9525">
            <a:solidFill>
              <a:srgbClr val="EFDC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6859411" y="2082800"/>
            <a:ext cx="266700" cy="266700"/>
          </a:xfrm>
          <a:prstGeom prst="ellipse">
            <a:avLst/>
          </a:prstGeom>
          <a:solidFill>
            <a:srgbClr val="A93B2B"/>
          </a:solidFill>
          <a:ln w="12700">
            <a:solidFill>
              <a:srgbClr val="A93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59411" y="2137727"/>
            <a:ext cx="266700" cy="168910"/>
          </a:xfrm>
          <a:prstGeom prst="rect">
            <a:avLst/>
          </a:prstGeom>
          <a:noFill/>
        </p:spPr>
        <p:txBody>
          <a:bodyPr wrap="square" lIns="0" rIns="0" tIns="0" bIns="0" anchor="t">
            <a:spAutoFit/>
          </a:bodyPr>
          <a:lstStyle/>
          <a:p>
            <a:pPr algn="ctr">
              <a:lnSpc>
                <a:spcPct val="122000"/>
              </a:lnSpc>
            </a:pPr>
            <a:r>
              <a:rPr sz="950" b="1" i="0">
                <a:solidFill>
                  <a:srgbClr val="FFFFFF"/>
                </a:solidFill>
                <a:latin typeface="Calibri"/>
              </a:rPr>
              <a:t>6</a:t>
            </a:r>
          </a:p>
        </p:txBody>
      </p:sp>
      <p:sp>
        <p:nvSpPr>
          <p:cNvPr id="36" name="TextBox 35"/>
          <p:cNvSpPr txBox="1"/>
          <p:nvPr/>
        </p:nvSpPr>
        <p:spPr>
          <a:xfrm>
            <a:off x="6859411" y="2451100"/>
            <a:ext cx="904522" cy="508000"/>
          </a:xfrm>
          <a:prstGeom prst="rect">
            <a:avLst/>
          </a:prstGeom>
          <a:noFill/>
        </p:spPr>
        <p:txBody>
          <a:bodyPr wrap="square" lIns="0" rIns="0" tIns="0" bIns="0" anchor="t">
            <a:spAutoFit/>
          </a:bodyPr>
          <a:lstStyle/>
          <a:p>
            <a:pPr algn="l">
              <a:lnSpc>
                <a:spcPct val="116000"/>
              </a:lnSpc>
            </a:pPr>
            <a:r>
              <a:rPr sz="1000" b="1" i="0">
                <a:solidFill>
                  <a:srgbClr val="A93B2B"/>
                </a:solidFill>
                <a:latin typeface="Calibri"/>
              </a:rPr>
              <a:t>Decide to ship</a:t>
            </a:r>
          </a:p>
        </p:txBody>
      </p:sp>
      <p:sp>
        <p:nvSpPr>
          <p:cNvPr id="37" name="TextBox 36"/>
          <p:cNvSpPr txBox="1"/>
          <p:nvPr/>
        </p:nvSpPr>
        <p:spPr>
          <a:xfrm>
            <a:off x="6859411" y="3022600"/>
            <a:ext cx="904522" cy="431800"/>
          </a:xfrm>
          <a:prstGeom prst="rect">
            <a:avLst/>
          </a:prstGeom>
          <a:noFill/>
        </p:spPr>
        <p:txBody>
          <a:bodyPr wrap="square" lIns="0" rIns="0" tIns="0" bIns="0" anchor="t">
            <a:spAutoFit/>
          </a:bodyPr>
          <a:lstStyle/>
          <a:p>
            <a:pPr algn="l">
              <a:lnSpc>
                <a:spcPct val="120000"/>
              </a:lnSpc>
            </a:pPr>
            <a:r>
              <a:rPr sz="850" b="0" i="0">
                <a:solidFill>
                  <a:srgbClr val="5C4034"/>
                </a:solidFill>
                <a:latin typeface="Calibri"/>
              </a:rPr>
              <a:t>a human,</a:t>
            </a:r>
            <a:br/>
            <a:r>
              <a:rPr sz="850" b="0" i="0">
                <a:solidFill>
                  <a:srgbClr val="5C4034"/>
                </a:solidFill>
                <a:latin typeface="Calibri"/>
              </a:rPr>
              <a:t>informally</a:t>
            </a:r>
          </a:p>
        </p:txBody>
      </p:sp>
      <p:sp>
        <p:nvSpPr>
          <p:cNvPr id="38" name="Rounded Rectangle 37"/>
          <p:cNvSpPr/>
          <p:nvPr/>
        </p:nvSpPr>
        <p:spPr>
          <a:xfrm>
            <a:off x="7967133" y="1955800"/>
            <a:ext cx="1133122" cy="1625600"/>
          </a:xfrm>
          <a:prstGeom prst="roundRect">
            <a:avLst>
              <a:gd name="adj" fmla="val 10087"/>
            </a:avLst>
          </a:prstGeom>
          <a:solidFill>
            <a:srgbClr val="FBF0EC"/>
          </a:solidFill>
          <a:ln w="9525">
            <a:solidFill>
              <a:srgbClr val="EFDC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8081433" y="2082800"/>
            <a:ext cx="266700" cy="266700"/>
          </a:xfrm>
          <a:prstGeom prst="ellipse">
            <a:avLst/>
          </a:prstGeom>
          <a:solidFill>
            <a:srgbClr val="A93B2B"/>
          </a:solidFill>
          <a:ln w="12700">
            <a:solidFill>
              <a:srgbClr val="A93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081433" y="2137727"/>
            <a:ext cx="266700" cy="168910"/>
          </a:xfrm>
          <a:prstGeom prst="rect">
            <a:avLst/>
          </a:prstGeom>
          <a:noFill/>
        </p:spPr>
        <p:txBody>
          <a:bodyPr wrap="square" lIns="0" rIns="0" tIns="0" bIns="0" anchor="t">
            <a:spAutoFit/>
          </a:bodyPr>
          <a:lstStyle/>
          <a:p>
            <a:pPr algn="ctr">
              <a:lnSpc>
                <a:spcPct val="122000"/>
              </a:lnSpc>
            </a:pPr>
            <a:r>
              <a:rPr sz="950" b="1" i="0">
                <a:solidFill>
                  <a:srgbClr val="FFFFFF"/>
                </a:solidFill>
                <a:latin typeface="Calibri"/>
              </a:rPr>
              <a:t>7</a:t>
            </a:r>
          </a:p>
        </p:txBody>
      </p:sp>
      <p:sp>
        <p:nvSpPr>
          <p:cNvPr id="41" name="TextBox 40"/>
          <p:cNvSpPr txBox="1"/>
          <p:nvPr/>
        </p:nvSpPr>
        <p:spPr>
          <a:xfrm>
            <a:off x="8081433" y="2451100"/>
            <a:ext cx="904522" cy="508000"/>
          </a:xfrm>
          <a:prstGeom prst="rect">
            <a:avLst/>
          </a:prstGeom>
          <a:noFill/>
        </p:spPr>
        <p:txBody>
          <a:bodyPr wrap="square" lIns="0" rIns="0" tIns="0" bIns="0" anchor="t">
            <a:spAutoFit/>
          </a:bodyPr>
          <a:lstStyle/>
          <a:p>
            <a:pPr algn="l">
              <a:lnSpc>
                <a:spcPct val="116000"/>
              </a:lnSpc>
            </a:pPr>
            <a:r>
              <a:rPr sz="1000" b="1" i="0">
                <a:solidFill>
                  <a:srgbClr val="A93B2B"/>
                </a:solidFill>
                <a:latin typeface="Calibri"/>
              </a:rPr>
              <a:t>Release it</a:t>
            </a:r>
          </a:p>
        </p:txBody>
      </p:sp>
      <p:sp>
        <p:nvSpPr>
          <p:cNvPr id="42" name="TextBox 41"/>
          <p:cNvSpPr txBox="1"/>
          <p:nvPr/>
        </p:nvSpPr>
        <p:spPr>
          <a:xfrm>
            <a:off x="8081433" y="3022600"/>
            <a:ext cx="904522" cy="431800"/>
          </a:xfrm>
          <a:prstGeom prst="rect">
            <a:avLst/>
          </a:prstGeom>
          <a:noFill/>
        </p:spPr>
        <p:txBody>
          <a:bodyPr wrap="square" lIns="0" rIns="0" tIns="0" bIns="0" anchor="t">
            <a:spAutoFit/>
          </a:bodyPr>
          <a:lstStyle/>
          <a:p>
            <a:pPr algn="l">
              <a:lnSpc>
                <a:spcPct val="120000"/>
              </a:lnSpc>
            </a:pPr>
            <a:r>
              <a:rPr sz="850" b="0" i="0">
                <a:solidFill>
                  <a:srgbClr val="5C4034"/>
                </a:solidFill>
                <a:latin typeface="Calibri"/>
              </a:rPr>
              <a:t>a code</a:t>
            </a:r>
            <a:br/>
            <a:r>
              <a:rPr sz="850" b="0" i="0">
                <a:solidFill>
                  <a:srgbClr val="5C4034"/>
                </a:solidFill>
                <a:latin typeface="Calibri"/>
              </a:rPr>
              <a:t>deployment</a:t>
            </a:r>
          </a:p>
        </p:txBody>
      </p:sp>
      <p:sp>
        <p:nvSpPr>
          <p:cNvPr id="43" name="Rounded Rectangle 42"/>
          <p:cNvSpPr/>
          <p:nvPr/>
        </p:nvSpPr>
        <p:spPr>
          <a:xfrm>
            <a:off x="9189155" y="1955800"/>
            <a:ext cx="1133122" cy="1625600"/>
          </a:xfrm>
          <a:prstGeom prst="roundRect">
            <a:avLst>
              <a:gd name="adj" fmla="val 10087"/>
            </a:avLst>
          </a:prstGeom>
          <a:solidFill>
            <a:srgbClr val="FBF0EC"/>
          </a:solidFill>
          <a:ln w="9525">
            <a:solidFill>
              <a:srgbClr val="EFDC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Oval 43"/>
          <p:cNvSpPr/>
          <p:nvPr/>
        </p:nvSpPr>
        <p:spPr>
          <a:xfrm>
            <a:off x="9303455" y="2082800"/>
            <a:ext cx="266700" cy="266700"/>
          </a:xfrm>
          <a:prstGeom prst="ellipse">
            <a:avLst/>
          </a:prstGeom>
          <a:solidFill>
            <a:srgbClr val="A93B2B"/>
          </a:solidFill>
          <a:ln w="12700">
            <a:solidFill>
              <a:srgbClr val="A93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303455" y="2137727"/>
            <a:ext cx="266700" cy="168910"/>
          </a:xfrm>
          <a:prstGeom prst="rect">
            <a:avLst/>
          </a:prstGeom>
          <a:noFill/>
        </p:spPr>
        <p:txBody>
          <a:bodyPr wrap="square" lIns="0" rIns="0" tIns="0" bIns="0" anchor="t">
            <a:spAutoFit/>
          </a:bodyPr>
          <a:lstStyle/>
          <a:p>
            <a:pPr algn="ctr">
              <a:lnSpc>
                <a:spcPct val="122000"/>
              </a:lnSpc>
            </a:pPr>
            <a:r>
              <a:rPr sz="950" b="1" i="0">
                <a:solidFill>
                  <a:srgbClr val="FFFFFF"/>
                </a:solidFill>
                <a:latin typeface="Calibri"/>
              </a:rPr>
              <a:t>8</a:t>
            </a:r>
          </a:p>
        </p:txBody>
      </p:sp>
      <p:sp>
        <p:nvSpPr>
          <p:cNvPr id="46" name="TextBox 45"/>
          <p:cNvSpPr txBox="1"/>
          <p:nvPr/>
        </p:nvSpPr>
        <p:spPr>
          <a:xfrm>
            <a:off x="9303455" y="2451100"/>
            <a:ext cx="904522" cy="508000"/>
          </a:xfrm>
          <a:prstGeom prst="rect">
            <a:avLst/>
          </a:prstGeom>
          <a:noFill/>
        </p:spPr>
        <p:txBody>
          <a:bodyPr wrap="square" lIns="0" rIns="0" tIns="0" bIns="0" anchor="t">
            <a:spAutoFit/>
          </a:bodyPr>
          <a:lstStyle/>
          <a:p>
            <a:pPr algn="l">
              <a:lnSpc>
                <a:spcPct val="116000"/>
              </a:lnSpc>
            </a:pPr>
            <a:r>
              <a:rPr sz="1000" b="1" i="0">
                <a:solidFill>
                  <a:srgbClr val="A93B2B"/>
                </a:solidFill>
                <a:latin typeface="Calibri"/>
              </a:rPr>
              <a:t>Record the change</a:t>
            </a:r>
          </a:p>
        </p:txBody>
      </p:sp>
      <p:sp>
        <p:nvSpPr>
          <p:cNvPr id="47" name="TextBox 46"/>
          <p:cNvSpPr txBox="1"/>
          <p:nvPr/>
        </p:nvSpPr>
        <p:spPr>
          <a:xfrm>
            <a:off x="9303455" y="3022600"/>
            <a:ext cx="904522" cy="431800"/>
          </a:xfrm>
          <a:prstGeom prst="rect">
            <a:avLst/>
          </a:prstGeom>
          <a:noFill/>
        </p:spPr>
        <p:txBody>
          <a:bodyPr wrap="square" lIns="0" rIns="0" tIns="0" bIns="0" anchor="t">
            <a:spAutoFit/>
          </a:bodyPr>
          <a:lstStyle/>
          <a:p>
            <a:pPr algn="l">
              <a:lnSpc>
                <a:spcPct val="120000"/>
              </a:lnSpc>
            </a:pPr>
            <a:r>
              <a:rPr sz="850" b="0" i="0">
                <a:solidFill>
                  <a:srgbClr val="5C4034"/>
                </a:solidFill>
                <a:latin typeface="Calibri"/>
              </a:rPr>
              <a:t>a commit message,</a:t>
            </a:r>
            <a:br/>
            <a:r>
              <a:rPr sz="850" b="0" i="0">
                <a:solidFill>
                  <a:srgbClr val="5C4034"/>
                </a:solidFill>
                <a:latin typeface="Calibri"/>
              </a:rPr>
              <a:t>if anyone writes one</a:t>
            </a:r>
          </a:p>
        </p:txBody>
      </p:sp>
      <p:sp>
        <p:nvSpPr>
          <p:cNvPr id="48" name="Rounded Rectangle 47"/>
          <p:cNvSpPr/>
          <p:nvPr/>
        </p:nvSpPr>
        <p:spPr>
          <a:xfrm>
            <a:off x="10411177" y="1955800"/>
            <a:ext cx="1133122" cy="1625600"/>
          </a:xfrm>
          <a:prstGeom prst="roundRect">
            <a:avLst>
              <a:gd name="adj" fmla="val 10087"/>
            </a:avLst>
          </a:prstGeom>
          <a:solidFill>
            <a:srgbClr val="FBF0EC"/>
          </a:solidFill>
          <a:ln w="9525">
            <a:solidFill>
              <a:srgbClr val="EFDC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Oval 48"/>
          <p:cNvSpPr/>
          <p:nvPr/>
        </p:nvSpPr>
        <p:spPr>
          <a:xfrm>
            <a:off x="10525477" y="2082800"/>
            <a:ext cx="266700" cy="266700"/>
          </a:xfrm>
          <a:prstGeom prst="ellipse">
            <a:avLst/>
          </a:prstGeom>
          <a:solidFill>
            <a:srgbClr val="A93B2B"/>
          </a:solidFill>
          <a:ln w="12700">
            <a:solidFill>
              <a:srgbClr val="A93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525477" y="2137727"/>
            <a:ext cx="266700" cy="168910"/>
          </a:xfrm>
          <a:prstGeom prst="rect">
            <a:avLst/>
          </a:prstGeom>
          <a:noFill/>
        </p:spPr>
        <p:txBody>
          <a:bodyPr wrap="square" lIns="0" rIns="0" tIns="0" bIns="0" anchor="t">
            <a:spAutoFit/>
          </a:bodyPr>
          <a:lstStyle/>
          <a:p>
            <a:pPr algn="ctr">
              <a:lnSpc>
                <a:spcPct val="122000"/>
              </a:lnSpc>
            </a:pPr>
            <a:r>
              <a:rPr sz="950" b="1" i="0">
                <a:solidFill>
                  <a:srgbClr val="FFFFFF"/>
                </a:solidFill>
                <a:latin typeface="Calibri"/>
              </a:rPr>
              <a:t>9</a:t>
            </a:r>
          </a:p>
        </p:txBody>
      </p:sp>
      <p:sp>
        <p:nvSpPr>
          <p:cNvPr id="51" name="TextBox 50"/>
          <p:cNvSpPr txBox="1"/>
          <p:nvPr/>
        </p:nvSpPr>
        <p:spPr>
          <a:xfrm>
            <a:off x="10525477" y="2451100"/>
            <a:ext cx="904522" cy="508000"/>
          </a:xfrm>
          <a:prstGeom prst="rect">
            <a:avLst/>
          </a:prstGeom>
          <a:noFill/>
        </p:spPr>
        <p:txBody>
          <a:bodyPr wrap="square" lIns="0" rIns="0" tIns="0" bIns="0" anchor="t">
            <a:spAutoFit/>
          </a:bodyPr>
          <a:lstStyle/>
          <a:p>
            <a:pPr algn="l">
              <a:lnSpc>
                <a:spcPct val="116000"/>
              </a:lnSpc>
            </a:pPr>
            <a:r>
              <a:rPr sz="1000" b="1" i="0">
                <a:solidFill>
                  <a:srgbClr val="A93B2B"/>
                </a:solidFill>
                <a:latin typeface="Calibri"/>
              </a:rPr>
              <a:t>Be able to undo it</a:t>
            </a:r>
          </a:p>
        </p:txBody>
      </p:sp>
      <p:sp>
        <p:nvSpPr>
          <p:cNvPr id="52" name="TextBox 51"/>
          <p:cNvSpPr txBox="1"/>
          <p:nvPr/>
        </p:nvSpPr>
        <p:spPr>
          <a:xfrm>
            <a:off x="10525477" y="3022600"/>
            <a:ext cx="904522" cy="431800"/>
          </a:xfrm>
          <a:prstGeom prst="rect">
            <a:avLst/>
          </a:prstGeom>
          <a:noFill/>
        </p:spPr>
        <p:txBody>
          <a:bodyPr wrap="square" lIns="0" rIns="0" tIns="0" bIns="0" anchor="t">
            <a:spAutoFit/>
          </a:bodyPr>
          <a:lstStyle/>
          <a:p>
            <a:pPr algn="l">
              <a:lnSpc>
                <a:spcPct val="120000"/>
              </a:lnSpc>
            </a:pPr>
            <a:r>
              <a:rPr sz="850" b="0" i="0">
                <a:solidFill>
                  <a:srgbClr val="5C4034"/>
                </a:solidFill>
                <a:latin typeface="Calibri"/>
              </a:rPr>
              <a:t>git revert plus</a:t>
            </a:r>
            <a:br/>
            <a:r>
              <a:rPr sz="850" b="0" i="0">
                <a:solidFill>
                  <a:srgbClr val="5C4034"/>
                </a:solidFill>
                <a:latin typeface="Calibri"/>
              </a:rPr>
              <a:t>another deployment</a:t>
            </a:r>
          </a:p>
        </p:txBody>
      </p:sp>
      <p:sp>
        <p:nvSpPr>
          <p:cNvPr id="53" name="Rounded Rectangle 52"/>
          <p:cNvSpPr/>
          <p:nvPr/>
        </p:nvSpPr>
        <p:spPr>
          <a:xfrm>
            <a:off x="635000" y="3733800"/>
            <a:ext cx="5353050" cy="1509268"/>
          </a:xfrm>
          <a:prstGeom prst="roundRect">
            <a:avLst>
              <a:gd name="adj" fmla="val 7573"/>
            </a:avLst>
          </a:prstGeom>
          <a:solidFill>
            <a:srgbClr val="F5F9FC"/>
          </a:solidFill>
          <a:ln w="9525">
            <a:solidFill>
              <a:srgbClr val="E4ED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876300" y="3924300"/>
            <a:ext cx="4870450" cy="170688"/>
          </a:xfrm>
          <a:prstGeom prst="rect">
            <a:avLst/>
          </a:prstGeom>
          <a:noFill/>
        </p:spPr>
        <p:txBody>
          <a:bodyPr wrap="square" lIns="0" rIns="0" tIns="0" bIns="0" anchor="t">
            <a:spAutoFit/>
          </a:bodyPr>
          <a:lstStyle/>
          <a:p>
            <a:pPr algn="l">
              <a:lnSpc>
                <a:spcPct val="112000"/>
              </a:lnSpc>
            </a:pPr>
            <a:r>
              <a:rPr sz="1200" b="1" i="0">
                <a:solidFill>
                  <a:srgbClr val="24354F"/>
                </a:solidFill>
                <a:latin typeface="Calibri"/>
              </a:rPr>
              <a:t>What prompt registries already close</a:t>
            </a:r>
          </a:p>
        </p:txBody>
      </p:sp>
      <p:sp>
        <p:nvSpPr>
          <p:cNvPr id="55" name="TextBox 54"/>
          <p:cNvSpPr txBox="1"/>
          <p:nvPr/>
        </p:nvSpPr>
        <p:spPr>
          <a:xfrm>
            <a:off x="876300" y="4183888"/>
            <a:ext cx="4870450" cy="487680"/>
          </a:xfrm>
          <a:prstGeom prst="rect">
            <a:avLst/>
          </a:prstGeom>
          <a:noFill/>
        </p:spPr>
        <p:txBody>
          <a:bodyPr wrap="square" lIns="0" rIns="0" tIns="0" bIns="0" anchor="t">
            <a:spAutoFit/>
          </a:bodyPr>
          <a:lstStyle/>
          <a:p>
            <a:pPr algn="l">
              <a:lnSpc>
                <a:spcPct val="128000"/>
              </a:lnSpc>
            </a:pPr>
            <a:r>
              <a:rPr sz="1000" b="0" i="0">
                <a:solidFill>
                  <a:srgbClr val="5A6B84"/>
                </a:solidFill>
                <a:latin typeface="Calibri"/>
              </a:rPr>
              <a:t>MLflow, LangSmith and Langfuse give immutable versions, a named pointer the client resolves at call time, rollback by re-pointing, and permissions. For prompts, steps 6–9 are a solved problem and CALIBER re-implements it.</a:t>
            </a:r>
          </a:p>
        </p:txBody>
      </p:sp>
      <p:sp>
        <p:nvSpPr>
          <p:cNvPr id="56" name="Rounded Rectangle 55"/>
          <p:cNvSpPr/>
          <p:nvPr/>
        </p:nvSpPr>
        <p:spPr>
          <a:xfrm>
            <a:off x="6191250" y="3733800"/>
            <a:ext cx="5353050" cy="1509268"/>
          </a:xfrm>
          <a:prstGeom prst="roundRect">
            <a:avLst>
              <a:gd name="adj" fmla="val 7573"/>
            </a:avLst>
          </a:prstGeom>
          <a:solidFill>
            <a:srgbClr val="F5F9FC"/>
          </a:solidFill>
          <a:ln w="9525">
            <a:solidFill>
              <a:srgbClr val="E4ED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6432550" y="3924300"/>
            <a:ext cx="4870450" cy="170688"/>
          </a:xfrm>
          <a:prstGeom prst="rect">
            <a:avLst/>
          </a:prstGeom>
          <a:noFill/>
        </p:spPr>
        <p:txBody>
          <a:bodyPr wrap="square" lIns="0" rIns="0" tIns="0" bIns="0" anchor="t">
            <a:spAutoFit/>
          </a:bodyPr>
          <a:lstStyle/>
          <a:p>
            <a:pPr algn="l">
              <a:lnSpc>
                <a:spcPct val="112000"/>
              </a:lnSpc>
            </a:pPr>
            <a:r>
              <a:rPr sz="1200" b="1" i="0">
                <a:solidFill>
                  <a:srgbClr val="24354F"/>
                </a:solidFill>
                <a:latin typeface="Calibri"/>
              </a:rPr>
              <a:t>What is still open for everything else</a:t>
            </a:r>
          </a:p>
        </p:txBody>
      </p:sp>
      <p:sp>
        <p:nvSpPr>
          <p:cNvPr id="58" name="TextBox 57"/>
          <p:cNvSpPr txBox="1"/>
          <p:nvPr/>
        </p:nvSpPr>
        <p:spPr>
          <a:xfrm>
            <a:off x="6432550" y="4183888"/>
            <a:ext cx="4870450" cy="487680"/>
          </a:xfrm>
          <a:prstGeom prst="rect">
            <a:avLst/>
          </a:prstGeom>
          <a:noFill/>
        </p:spPr>
        <p:txBody>
          <a:bodyPr wrap="square" lIns="0" rIns="0" tIns="0" bIns="0" anchor="t">
            <a:spAutoFit/>
          </a:bodyPr>
          <a:lstStyle/>
          <a:p>
            <a:pPr algn="l">
              <a:lnSpc>
                <a:spcPct val="128000"/>
              </a:lnSpc>
            </a:pPr>
            <a:r>
              <a:rPr sz="1000" b="0" i="0">
                <a:solidFill>
                  <a:srgbClr val="5A6B84"/>
                </a:solidFill>
                <a:latin typeface="Calibri"/>
              </a:rPr>
              <a:t>Workflows, tool definitions, MCP server configurations, skills and retrieval corpora are not registry citizens with versions and pointers — and no documented mechanism makes a promotion fail because a score fell.</a:t>
            </a:r>
          </a:p>
        </p:txBody>
      </p:sp>
      <p:sp>
        <p:nvSpPr>
          <p:cNvPr id="59" name="TextBox 58"/>
          <p:cNvSpPr txBox="1"/>
          <p:nvPr/>
        </p:nvSpPr>
        <p:spPr>
          <a:xfrm>
            <a:off x="635000" y="5420868"/>
            <a:ext cx="10909300" cy="228600"/>
          </a:xfrm>
          <a:prstGeom prst="rect">
            <a:avLst/>
          </a:prstGeom>
          <a:noFill/>
        </p:spPr>
        <p:txBody>
          <a:bodyPr wrap="square" lIns="0" rIns="0" tIns="0" bIns="0" anchor="t">
            <a:spAutoFit/>
          </a:bodyPr>
          <a:lstStyle/>
          <a:p>
            <a:pPr algn="l">
              <a:lnSpc>
                <a:spcPct val="122000"/>
              </a:lnSpc>
            </a:pPr>
            <a:r>
              <a:rPr sz="1050" b="1" i="0">
                <a:solidFill>
                  <a:srgbClr val="5A6B84"/>
                </a:solidFill>
                <a:latin typeface="Calibri"/>
              </a:rPr>
              <a:t>The gap is not model quality or observability. It is cross-resource release engineering for non-code artifacts.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35000" y="6337300"/>
            <a:ext cx="6096000" cy="254000"/>
          </a:xfrm>
          <a:prstGeom prst="rect">
            <a:avLst/>
          </a:prstGeom>
          <a:noFill/>
        </p:spPr>
        <p:txBody>
          <a:bodyPr wrap="square" lIns="0" rIns="0" tIns="0" bIns="0" anchor="t">
            <a:spAutoFit/>
          </a:bodyPr>
          <a:lstStyle/>
          <a:p>
            <a:pPr algn="l">
              <a:lnSpc>
                <a:spcPct val="122000"/>
              </a:lnSpc>
            </a:pPr>
            <a:r>
              <a:rPr sz="900" b="0" i="0">
                <a:solidFill>
                  <a:srgbClr val="A3B2C4"/>
                </a:solidFill>
                <a:latin typeface="Calibri"/>
              </a:rPr>
              <a:t>CALIBER  ·  A Layered Control Plane for Governed Releases of AI-Agent Resources</a:t>
            </a:r>
          </a:p>
        </p:txBody>
      </p:sp>
      <p:sp>
        <p:nvSpPr>
          <p:cNvPr id="3" name="TextBox 2"/>
          <p:cNvSpPr txBox="1"/>
          <p:nvPr/>
        </p:nvSpPr>
        <p:spPr>
          <a:xfrm>
            <a:off x="10629900" y="6337300"/>
            <a:ext cx="914400" cy="254000"/>
          </a:xfrm>
          <a:prstGeom prst="rect">
            <a:avLst/>
          </a:prstGeom>
          <a:noFill/>
        </p:spPr>
        <p:txBody>
          <a:bodyPr wrap="square" lIns="0" rIns="0" tIns="0" bIns="0" anchor="t">
            <a:spAutoFit/>
          </a:bodyPr>
          <a:lstStyle/>
          <a:p>
            <a:pPr algn="r">
              <a:lnSpc>
                <a:spcPct val="122000"/>
              </a:lnSpc>
            </a:pPr>
            <a:r>
              <a:rPr sz="900" b="0" i="0">
                <a:solidFill>
                  <a:srgbClr val="A3B2C4"/>
                </a:solidFill>
                <a:latin typeface="Calibri"/>
              </a:rPr>
              <a:t>3</a:t>
            </a:r>
          </a:p>
        </p:txBody>
      </p:sp>
      <p:sp>
        <p:nvSpPr>
          <p:cNvPr id="4" name="TextBox 3"/>
          <p:cNvSpPr txBox="1"/>
          <p:nvPr/>
        </p:nvSpPr>
        <p:spPr>
          <a:xfrm>
            <a:off x="635000" y="381000"/>
            <a:ext cx="10909300" cy="228600"/>
          </a:xfrm>
          <a:prstGeom prst="rect">
            <a:avLst/>
          </a:prstGeom>
          <a:noFill/>
        </p:spPr>
        <p:txBody>
          <a:bodyPr wrap="square" lIns="0" rIns="0" tIns="0" bIns="0" anchor="t">
            <a:spAutoFit/>
          </a:bodyPr>
          <a:lstStyle/>
          <a:p>
            <a:pPr algn="l">
              <a:lnSpc>
                <a:spcPct val="122000"/>
              </a:lnSpc>
            </a:pPr>
            <a:r>
              <a:rPr sz="1050" b="1" i="0">
                <a:solidFill>
                  <a:srgbClr val="1F8A99"/>
                </a:solidFill>
                <a:latin typeface="Calibri"/>
              </a:rPr>
              <a:t>Motivation  ·  §2.2–2.3</a:t>
            </a:r>
          </a:p>
        </p:txBody>
      </p:sp>
      <p:sp>
        <p:nvSpPr>
          <p:cNvPr id="5" name="TextBox 4"/>
          <p:cNvSpPr txBox="1"/>
          <p:nvPr/>
        </p:nvSpPr>
        <p:spPr>
          <a:xfrm>
            <a:off x="635000" y="647700"/>
            <a:ext cx="10909300" cy="495300"/>
          </a:xfrm>
          <a:prstGeom prst="rect">
            <a:avLst/>
          </a:prstGeom>
          <a:noFill/>
        </p:spPr>
        <p:txBody>
          <a:bodyPr wrap="square" lIns="0" rIns="0" tIns="0" bIns="0" anchor="t">
            <a:spAutoFit/>
          </a:bodyPr>
          <a:lstStyle/>
          <a:p>
            <a:pPr algn="l">
              <a:lnSpc>
                <a:spcPct val="108000"/>
              </a:lnSpc>
            </a:pPr>
            <a:r>
              <a:rPr sz="2600" b="1" i="0">
                <a:solidFill>
                  <a:srgbClr val="0E1E3A"/>
                </a:solidFill>
                <a:latin typeface="Calibri"/>
              </a:rPr>
              <a:t>Why the obvious answers do not close it</a:t>
            </a:r>
          </a:p>
        </p:txBody>
      </p:sp>
      <p:sp>
        <p:nvSpPr>
          <p:cNvPr id="6" name="TextBox 5"/>
          <p:cNvSpPr txBox="1"/>
          <p:nvPr/>
        </p:nvSpPr>
        <p:spPr>
          <a:xfrm>
            <a:off x="635000" y="1168400"/>
            <a:ext cx="10909300" cy="431800"/>
          </a:xfrm>
          <a:prstGeom prst="rect">
            <a:avLst/>
          </a:prstGeom>
          <a:noFill/>
        </p:spPr>
        <p:txBody>
          <a:bodyPr wrap="square" lIns="0" rIns="0" tIns="0" bIns="0" anchor="t">
            <a:spAutoFit/>
          </a:bodyPr>
          <a:lstStyle/>
          <a:p>
            <a:pPr algn="l">
              <a:lnSpc>
                <a:spcPct val="130000"/>
              </a:lnSpc>
            </a:pPr>
            <a:r>
              <a:rPr sz="1250" b="0" i="0">
                <a:solidFill>
                  <a:srgbClr val="24354F"/>
                </a:solidFill>
                <a:latin typeface="Calibri"/>
              </a:rPr>
              <a:t>Each of these is genuinely useful and CALIBER uses three of them. None of them is a release path for a non-code artifact.</a:t>
            </a:r>
          </a:p>
        </p:txBody>
      </p:sp>
      <p:sp>
        <p:nvSpPr>
          <p:cNvPr id="7" name="Rounded Rectangle 6"/>
          <p:cNvSpPr/>
          <p:nvPr/>
        </p:nvSpPr>
        <p:spPr>
          <a:xfrm>
            <a:off x="635000" y="1701800"/>
            <a:ext cx="2613025" cy="2768600"/>
          </a:xfrm>
          <a:prstGeom prst="roundRect">
            <a:avLst>
              <a:gd name="adj" fmla="val 4374"/>
            </a:avLst>
          </a:prstGeom>
          <a:solidFill>
            <a:srgbClr val="FBF0EC"/>
          </a:solidFill>
          <a:ln w="9525">
            <a:solidFill>
              <a:srgbClr val="EFDC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50900" y="1892300"/>
            <a:ext cx="304800" cy="304800"/>
          </a:xfrm>
          <a:prstGeom prst="ellipse">
            <a:avLst/>
          </a:prstGeom>
          <a:solidFill>
            <a:srgbClr val="A93B2B"/>
          </a:solidFill>
          <a:ln w="12700">
            <a:solidFill>
              <a:srgbClr val="A93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900" y="1958022"/>
            <a:ext cx="304800" cy="186690"/>
          </a:xfrm>
          <a:prstGeom prst="rect">
            <a:avLst/>
          </a:prstGeom>
          <a:noFill/>
        </p:spPr>
        <p:txBody>
          <a:bodyPr wrap="square" lIns="0" rIns="0" tIns="0" bIns="0" anchor="t">
            <a:spAutoFit/>
          </a:bodyPr>
          <a:lstStyle/>
          <a:p>
            <a:pPr algn="ctr">
              <a:lnSpc>
                <a:spcPct val="122000"/>
              </a:lnSpc>
            </a:pPr>
            <a:r>
              <a:rPr sz="1050" b="1" i="0">
                <a:solidFill>
                  <a:srgbClr val="FFFFFF"/>
                </a:solidFill>
                <a:latin typeface="Calibri"/>
              </a:rPr>
              <a:t>✕</a:t>
            </a:r>
          </a:p>
        </p:txBody>
      </p:sp>
      <p:sp>
        <p:nvSpPr>
          <p:cNvPr id="10" name="TextBox 9"/>
          <p:cNvSpPr txBox="1"/>
          <p:nvPr/>
        </p:nvSpPr>
        <p:spPr>
          <a:xfrm>
            <a:off x="1244600" y="1892300"/>
            <a:ext cx="1762125" cy="341376"/>
          </a:xfrm>
          <a:prstGeom prst="rect">
            <a:avLst/>
          </a:prstGeom>
          <a:noFill/>
        </p:spPr>
        <p:txBody>
          <a:bodyPr wrap="square" lIns="0" rIns="0" tIns="0" bIns="0" anchor="t">
            <a:spAutoFit/>
          </a:bodyPr>
          <a:lstStyle/>
          <a:p>
            <a:pPr algn="l">
              <a:lnSpc>
                <a:spcPct val="112000"/>
              </a:lnSpc>
            </a:pPr>
            <a:r>
              <a:rPr sz="1200" b="1" i="0">
                <a:solidFill>
                  <a:srgbClr val="A93B2B"/>
                </a:solidFill>
                <a:latin typeface="Calibri"/>
              </a:rPr>
              <a:t>“Put the prompts in git.”</a:t>
            </a:r>
          </a:p>
        </p:txBody>
      </p:sp>
      <p:sp>
        <p:nvSpPr>
          <p:cNvPr id="11" name="TextBox 10"/>
          <p:cNvSpPr txBox="1"/>
          <p:nvPr/>
        </p:nvSpPr>
        <p:spPr>
          <a:xfrm>
            <a:off x="876300" y="2322576"/>
            <a:ext cx="2130425" cy="1463040"/>
          </a:xfrm>
          <a:prstGeom prst="rect">
            <a:avLst/>
          </a:prstGeom>
          <a:noFill/>
        </p:spPr>
        <p:txBody>
          <a:bodyPr wrap="square" lIns="0" rIns="0" tIns="0" bIns="0" anchor="t">
            <a:spAutoFit/>
          </a:bodyPr>
          <a:lstStyle/>
          <a:p>
            <a:pPr algn="l">
              <a:lnSpc>
                <a:spcPct val="128000"/>
              </a:lnSpc>
            </a:pPr>
            <a:r>
              <a:rPr sz="1000" b="0" i="0">
                <a:solidFill>
                  <a:srgbClr val="5C4034"/>
                </a:solidFill>
                <a:latin typeface="Calibri"/>
              </a:rPr>
              <a:t>History and review, yes — and necessary. But no live target a running agent resolves without redeployment, no evidence attached to a version, and no record that an operator acting under a declared scope authorized the change. It binds the prompt's release to the application's.</a:t>
            </a:r>
          </a:p>
        </p:txBody>
      </p:sp>
      <p:sp>
        <p:nvSpPr>
          <p:cNvPr id="12" name="Rounded Rectangle 11"/>
          <p:cNvSpPr/>
          <p:nvPr/>
        </p:nvSpPr>
        <p:spPr>
          <a:xfrm>
            <a:off x="3400425" y="1701800"/>
            <a:ext cx="2613025" cy="2768600"/>
          </a:xfrm>
          <a:prstGeom prst="roundRect">
            <a:avLst>
              <a:gd name="adj" fmla="val 4374"/>
            </a:avLst>
          </a:prstGeom>
          <a:solidFill>
            <a:srgbClr val="FBF0EC"/>
          </a:solidFill>
          <a:ln w="9525">
            <a:solidFill>
              <a:srgbClr val="EFDC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3616325" y="1892300"/>
            <a:ext cx="304800" cy="304800"/>
          </a:xfrm>
          <a:prstGeom prst="ellipse">
            <a:avLst/>
          </a:prstGeom>
          <a:solidFill>
            <a:srgbClr val="A93B2B"/>
          </a:solidFill>
          <a:ln w="12700">
            <a:solidFill>
              <a:srgbClr val="A93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16325" y="1958022"/>
            <a:ext cx="304800" cy="186690"/>
          </a:xfrm>
          <a:prstGeom prst="rect">
            <a:avLst/>
          </a:prstGeom>
          <a:noFill/>
        </p:spPr>
        <p:txBody>
          <a:bodyPr wrap="square" lIns="0" rIns="0" tIns="0" bIns="0" anchor="t">
            <a:spAutoFit/>
          </a:bodyPr>
          <a:lstStyle/>
          <a:p>
            <a:pPr algn="ctr">
              <a:lnSpc>
                <a:spcPct val="122000"/>
              </a:lnSpc>
            </a:pPr>
            <a:r>
              <a:rPr sz="1050" b="1" i="0">
                <a:solidFill>
                  <a:srgbClr val="FFFFFF"/>
                </a:solidFill>
                <a:latin typeface="Calibri"/>
              </a:rPr>
              <a:t>✕</a:t>
            </a:r>
          </a:p>
        </p:txBody>
      </p:sp>
      <p:sp>
        <p:nvSpPr>
          <p:cNvPr id="15" name="TextBox 14"/>
          <p:cNvSpPr txBox="1"/>
          <p:nvPr/>
        </p:nvSpPr>
        <p:spPr>
          <a:xfrm>
            <a:off x="4010025" y="1892300"/>
            <a:ext cx="1762125" cy="512064"/>
          </a:xfrm>
          <a:prstGeom prst="rect">
            <a:avLst/>
          </a:prstGeom>
          <a:noFill/>
        </p:spPr>
        <p:txBody>
          <a:bodyPr wrap="square" lIns="0" rIns="0" tIns="0" bIns="0" anchor="t">
            <a:spAutoFit/>
          </a:bodyPr>
          <a:lstStyle/>
          <a:p>
            <a:pPr algn="l">
              <a:lnSpc>
                <a:spcPct val="112000"/>
              </a:lnSpc>
            </a:pPr>
            <a:r>
              <a:rPr sz="1200" b="1" i="0">
                <a:solidFill>
                  <a:srgbClr val="A93B2B"/>
                </a:solidFill>
                <a:latin typeface="Calibri"/>
              </a:rPr>
              <a:t>“Use the prompt platform's evaluation.”</a:t>
            </a:r>
          </a:p>
        </p:txBody>
      </p:sp>
      <p:sp>
        <p:nvSpPr>
          <p:cNvPr id="16" name="TextBox 15"/>
          <p:cNvSpPr txBox="1"/>
          <p:nvPr/>
        </p:nvSpPr>
        <p:spPr>
          <a:xfrm>
            <a:off x="3641725" y="2493264"/>
            <a:ext cx="2130425" cy="1463040"/>
          </a:xfrm>
          <a:prstGeom prst="rect">
            <a:avLst/>
          </a:prstGeom>
          <a:noFill/>
        </p:spPr>
        <p:txBody>
          <a:bodyPr wrap="square" lIns="0" rIns="0" tIns="0" bIns="0" anchor="t">
            <a:spAutoFit/>
          </a:bodyPr>
          <a:lstStyle/>
          <a:p>
            <a:pPr algn="l">
              <a:lnSpc>
                <a:spcPct val="128000"/>
              </a:lnSpc>
            </a:pPr>
            <a:r>
              <a:rPr sz="1000" b="0" i="0">
                <a:solidFill>
                  <a:srgbClr val="5C4034"/>
                </a:solidFill>
                <a:latin typeface="Calibri"/>
              </a:rPr>
              <a:t>These platforms do own versioned prompt artifacts and link evaluations to them; pretending otherwise erases the closest baseline. The narrower limitation is scope: workflows, tools, MCP configurations, skills and corpora get no compatible release evidence or rollback semantics.</a:t>
            </a:r>
          </a:p>
        </p:txBody>
      </p:sp>
      <p:sp>
        <p:nvSpPr>
          <p:cNvPr id="17" name="Rounded Rectangle 16"/>
          <p:cNvSpPr/>
          <p:nvPr/>
        </p:nvSpPr>
        <p:spPr>
          <a:xfrm>
            <a:off x="6165850" y="1701800"/>
            <a:ext cx="2613025" cy="2768600"/>
          </a:xfrm>
          <a:prstGeom prst="roundRect">
            <a:avLst>
              <a:gd name="adj" fmla="val 4374"/>
            </a:avLst>
          </a:prstGeom>
          <a:solidFill>
            <a:srgbClr val="FBF0EC"/>
          </a:solidFill>
          <a:ln w="9525">
            <a:solidFill>
              <a:srgbClr val="EFDC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381750" y="1892300"/>
            <a:ext cx="304800" cy="304800"/>
          </a:xfrm>
          <a:prstGeom prst="ellipse">
            <a:avLst/>
          </a:prstGeom>
          <a:solidFill>
            <a:srgbClr val="A93B2B"/>
          </a:solidFill>
          <a:ln w="12700">
            <a:solidFill>
              <a:srgbClr val="A93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81750" y="1958022"/>
            <a:ext cx="304800" cy="186690"/>
          </a:xfrm>
          <a:prstGeom prst="rect">
            <a:avLst/>
          </a:prstGeom>
          <a:noFill/>
        </p:spPr>
        <p:txBody>
          <a:bodyPr wrap="square" lIns="0" rIns="0" tIns="0" bIns="0" anchor="t">
            <a:spAutoFit/>
          </a:bodyPr>
          <a:lstStyle/>
          <a:p>
            <a:pPr algn="ctr">
              <a:lnSpc>
                <a:spcPct val="122000"/>
              </a:lnSpc>
            </a:pPr>
            <a:r>
              <a:rPr sz="1050" b="1" i="0">
                <a:solidFill>
                  <a:srgbClr val="FFFFFF"/>
                </a:solidFill>
                <a:latin typeface="Calibri"/>
              </a:rPr>
              <a:t>✕</a:t>
            </a:r>
          </a:p>
        </p:txBody>
      </p:sp>
      <p:sp>
        <p:nvSpPr>
          <p:cNvPr id="20" name="TextBox 19"/>
          <p:cNvSpPr txBox="1"/>
          <p:nvPr/>
        </p:nvSpPr>
        <p:spPr>
          <a:xfrm>
            <a:off x="6775450" y="1892300"/>
            <a:ext cx="1762125" cy="330200"/>
          </a:xfrm>
          <a:prstGeom prst="rect">
            <a:avLst/>
          </a:prstGeom>
          <a:noFill/>
        </p:spPr>
        <p:txBody>
          <a:bodyPr wrap="square" lIns="0" rIns="0" tIns="0" bIns="0" anchor="t">
            <a:spAutoFit/>
          </a:bodyPr>
          <a:lstStyle/>
          <a:p>
            <a:pPr algn="l">
              <a:lnSpc>
                <a:spcPct val="112000"/>
              </a:lnSpc>
            </a:pPr>
            <a:r>
              <a:rPr sz="1200" b="1" i="0">
                <a:solidFill>
                  <a:srgbClr val="A93B2B"/>
                </a:solidFill>
                <a:latin typeface="Calibri"/>
              </a:rPr>
              <a:t>“Use an optimizer.”</a:t>
            </a:r>
          </a:p>
        </p:txBody>
      </p:sp>
      <p:sp>
        <p:nvSpPr>
          <p:cNvPr id="21" name="TextBox 20"/>
          <p:cNvSpPr txBox="1"/>
          <p:nvPr/>
        </p:nvSpPr>
        <p:spPr>
          <a:xfrm>
            <a:off x="6407150" y="2311400"/>
            <a:ext cx="2130425" cy="1300480"/>
          </a:xfrm>
          <a:prstGeom prst="rect">
            <a:avLst/>
          </a:prstGeom>
          <a:noFill/>
        </p:spPr>
        <p:txBody>
          <a:bodyPr wrap="square" lIns="0" rIns="0" tIns="0" bIns="0" anchor="t">
            <a:spAutoFit/>
          </a:bodyPr>
          <a:lstStyle/>
          <a:p>
            <a:pPr algn="l">
              <a:lnSpc>
                <a:spcPct val="128000"/>
              </a:lnSpc>
            </a:pPr>
            <a:r>
              <a:rPr sz="1000" b="0" i="0">
                <a:solidFill>
                  <a:srgbClr val="5C4034"/>
                </a:solidFill>
                <a:latin typeface="Calibri"/>
              </a:rPr>
              <a:t>DSPy, GEPA, MIPRO, OPRO and TextGrad are real advances. But an optimizer produces a candidate, not a release: no notion of who may promote, what the outgoing live target was, or how to restore it. It is the compiler, not the deployment system.</a:t>
            </a:r>
          </a:p>
        </p:txBody>
      </p:sp>
      <p:sp>
        <p:nvSpPr>
          <p:cNvPr id="22" name="Rounded Rectangle 21"/>
          <p:cNvSpPr/>
          <p:nvPr/>
        </p:nvSpPr>
        <p:spPr>
          <a:xfrm>
            <a:off x="8931275" y="1701800"/>
            <a:ext cx="2613025" cy="2768600"/>
          </a:xfrm>
          <a:prstGeom prst="roundRect">
            <a:avLst>
              <a:gd name="adj" fmla="val 4374"/>
            </a:avLst>
          </a:prstGeom>
          <a:solidFill>
            <a:srgbClr val="FBF0EC"/>
          </a:solidFill>
          <a:ln w="9525">
            <a:solidFill>
              <a:srgbClr val="EFDC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9147175" y="1892300"/>
            <a:ext cx="304800" cy="304800"/>
          </a:xfrm>
          <a:prstGeom prst="ellipse">
            <a:avLst/>
          </a:prstGeom>
          <a:solidFill>
            <a:srgbClr val="A93B2B"/>
          </a:solidFill>
          <a:ln w="12700">
            <a:solidFill>
              <a:srgbClr val="A93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7175" y="1958022"/>
            <a:ext cx="304800" cy="186690"/>
          </a:xfrm>
          <a:prstGeom prst="rect">
            <a:avLst/>
          </a:prstGeom>
          <a:noFill/>
        </p:spPr>
        <p:txBody>
          <a:bodyPr wrap="square" lIns="0" rIns="0" tIns="0" bIns="0" anchor="t">
            <a:spAutoFit/>
          </a:bodyPr>
          <a:lstStyle/>
          <a:p>
            <a:pPr algn="ctr">
              <a:lnSpc>
                <a:spcPct val="122000"/>
              </a:lnSpc>
            </a:pPr>
            <a:r>
              <a:rPr sz="1050" b="1" i="0">
                <a:solidFill>
                  <a:srgbClr val="FFFFFF"/>
                </a:solidFill>
                <a:latin typeface="Calibri"/>
              </a:rPr>
              <a:t>✕</a:t>
            </a:r>
          </a:p>
        </p:txBody>
      </p:sp>
      <p:sp>
        <p:nvSpPr>
          <p:cNvPr id="25" name="TextBox 24"/>
          <p:cNvSpPr txBox="1"/>
          <p:nvPr/>
        </p:nvSpPr>
        <p:spPr>
          <a:xfrm>
            <a:off x="9540875" y="1892300"/>
            <a:ext cx="1762125" cy="341376"/>
          </a:xfrm>
          <a:prstGeom prst="rect">
            <a:avLst/>
          </a:prstGeom>
          <a:noFill/>
        </p:spPr>
        <p:txBody>
          <a:bodyPr wrap="square" lIns="0" rIns="0" tIns="0" bIns="0" anchor="t">
            <a:spAutoFit/>
          </a:bodyPr>
          <a:lstStyle/>
          <a:p>
            <a:pPr algn="l">
              <a:lnSpc>
                <a:spcPct val="112000"/>
              </a:lnSpc>
            </a:pPr>
            <a:r>
              <a:rPr sz="1200" b="1" i="0">
                <a:solidFill>
                  <a:srgbClr val="A93B2B"/>
                </a:solidFill>
                <a:latin typeface="Calibri"/>
              </a:rPr>
              <a:t>“Automate the whole loop.”</a:t>
            </a:r>
          </a:p>
        </p:txBody>
      </p:sp>
      <p:sp>
        <p:nvSpPr>
          <p:cNvPr id="26" name="TextBox 25"/>
          <p:cNvSpPr txBox="1"/>
          <p:nvPr/>
        </p:nvSpPr>
        <p:spPr>
          <a:xfrm>
            <a:off x="9172575" y="2322576"/>
            <a:ext cx="2130425" cy="1300480"/>
          </a:xfrm>
          <a:prstGeom prst="rect">
            <a:avLst/>
          </a:prstGeom>
          <a:noFill/>
        </p:spPr>
        <p:txBody>
          <a:bodyPr wrap="square" lIns="0" rIns="0" tIns="0" bIns="0" anchor="t">
            <a:spAutoFit/>
          </a:bodyPr>
          <a:lstStyle/>
          <a:p>
            <a:pPr algn="l">
              <a:lnSpc>
                <a:spcPct val="128000"/>
              </a:lnSpc>
            </a:pPr>
            <a:r>
              <a:rPr sz="1000" b="0" i="0">
                <a:solidFill>
                  <a:srgbClr val="5C4034"/>
                </a:solidFill>
                <a:latin typeface="Calibri"/>
              </a:rPr>
              <a:t>The tempting answer, and we argue it is wrong at the current state of the art. A corpus is a sample; judges correlate with each other and with the model under test. Auto-apply converts a visible, reviewable change into an invisible, correlated one.</a:t>
            </a:r>
          </a:p>
        </p:txBody>
      </p:sp>
      <p:sp>
        <p:nvSpPr>
          <p:cNvPr id="27" name="TextBox 26"/>
          <p:cNvSpPr txBox="1"/>
          <p:nvPr/>
        </p:nvSpPr>
        <p:spPr>
          <a:xfrm>
            <a:off x="635000" y="4648200"/>
            <a:ext cx="10909300" cy="190500"/>
          </a:xfrm>
          <a:prstGeom prst="rect">
            <a:avLst/>
          </a:prstGeom>
          <a:noFill/>
        </p:spPr>
        <p:txBody>
          <a:bodyPr wrap="square" lIns="0" rIns="0" tIns="0" bIns="0" anchor="t">
            <a:spAutoFit/>
          </a:bodyPr>
          <a:lstStyle/>
          <a:p>
            <a:pPr algn="l">
              <a:lnSpc>
                <a:spcPct val="122000"/>
              </a:lnSpc>
            </a:pPr>
            <a:r>
              <a:rPr sz="950" b="1" i="0">
                <a:solidFill>
                  <a:srgbClr val="1F8A99"/>
                </a:solidFill>
                <a:latin typeface="Calibri"/>
              </a:rPr>
              <a:t>Five requirements the scenario yields</a:t>
            </a:r>
          </a:p>
        </p:txBody>
      </p:sp>
      <p:sp>
        <p:nvSpPr>
          <p:cNvPr id="28" name="Rounded Rectangle 27"/>
          <p:cNvSpPr/>
          <p:nvPr/>
        </p:nvSpPr>
        <p:spPr>
          <a:xfrm>
            <a:off x="635000" y="4902200"/>
            <a:ext cx="2070100" cy="1168400"/>
          </a:xfrm>
          <a:prstGeom prst="roundRect">
            <a:avLst>
              <a:gd name="adj" fmla="val 9782"/>
            </a:avLst>
          </a:prstGeom>
          <a:solidFill>
            <a:srgbClr val="E8F4F5"/>
          </a:solidFill>
          <a:ln w="9525">
            <a:solidFill>
              <a:srgbClr val="CFE4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812800" y="5041900"/>
            <a:ext cx="381000" cy="190500"/>
          </a:xfrm>
          <a:prstGeom prst="rect">
            <a:avLst/>
          </a:prstGeom>
          <a:noFill/>
        </p:spPr>
        <p:txBody>
          <a:bodyPr wrap="square" lIns="0" rIns="0" tIns="0" bIns="0" anchor="t">
            <a:spAutoFit/>
          </a:bodyPr>
          <a:lstStyle/>
          <a:p>
            <a:pPr algn="l">
              <a:lnSpc>
                <a:spcPct val="122000"/>
              </a:lnSpc>
            </a:pPr>
            <a:r>
              <a:rPr sz="1000" b="1" i="0">
                <a:solidFill>
                  <a:srgbClr val="1F8A99"/>
                </a:solidFill>
                <a:latin typeface="Calibri"/>
              </a:rPr>
              <a:t>R1</a:t>
            </a:r>
          </a:p>
        </p:txBody>
      </p:sp>
      <p:sp>
        <p:nvSpPr>
          <p:cNvPr id="30" name="TextBox 29"/>
          <p:cNvSpPr txBox="1"/>
          <p:nvPr/>
        </p:nvSpPr>
        <p:spPr>
          <a:xfrm>
            <a:off x="812800" y="5245100"/>
            <a:ext cx="1714500" cy="304800"/>
          </a:xfrm>
          <a:prstGeom prst="rect">
            <a:avLst/>
          </a:prstGeom>
          <a:noFill/>
        </p:spPr>
        <p:txBody>
          <a:bodyPr wrap="square" lIns="0" rIns="0" tIns="0" bIns="0" anchor="t">
            <a:spAutoFit/>
          </a:bodyPr>
          <a:lstStyle/>
          <a:p>
            <a:pPr algn="l">
              <a:lnSpc>
                <a:spcPct val="110000"/>
              </a:lnSpc>
            </a:pPr>
            <a:r>
              <a:rPr sz="1050" b="1" i="0">
                <a:solidFill>
                  <a:srgbClr val="0E1E3A"/>
                </a:solidFill>
                <a:latin typeface="Calibri"/>
              </a:rPr>
              <a:t>Typed, versioned artifacts</a:t>
            </a:r>
          </a:p>
        </p:txBody>
      </p:sp>
      <p:sp>
        <p:nvSpPr>
          <p:cNvPr id="31" name="TextBox 30"/>
          <p:cNvSpPr txBox="1"/>
          <p:nvPr/>
        </p:nvSpPr>
        <p:spPr>
          <a:xfrm>
            <a:off x="812800" y="5588000"/>
            <a:ext cx="1714500" cy="406400"/>
          </a:xfrm>
          <a:prstGeom prst="rect">
            <a:avLst/>
          </a:prstGeom>
          <a:noFill/>
        </p:spPr>
        <p:txBody>
          <a:bodyPr wrap="square" lIns="0" rIns="0" tIns="0" bIns="0" anchor="t">
            <a:spAutoFit/>
          </a:bodyPr>
          <a:lstStyle/>
          <a:p>
            <a:pPr algn="l">
              <a:lnSpc>
                <a:spcPct val="122000"/>
              </a:lnSpc>
            </a:pPr>
            <a:r>
              <a:rPr sz="850" b="0" i="0">
                <a:solidFill>
                  <a:srgbClr val="24354F"/>
                </a:solidFill>
                <a:latin typeface="Calibri"/>
              </a:rPr>
              <a:t>a record with a schema and an</a:t>
            </a:r>
            <a:br/>
            <a:r>
              <a:rPr sz="850" b="0" i="0">
                <a:solidFill>
                  <a:srgbClr val="24354F"/>
                </a:solidFill>
                <a:latin typeface="Calibri"/>
              </a:rPr>
              <a:t>immutable history, not a string</a:t>
            </a:r>
          </a:p>
        </p:txBody>
      </p:sp>
      <p:sp>
        <p:nvSpPr>
          <p:cNvPr id="32" name="Rounded Rectangle 31"/>
          <p:cNvSpPr/>
          <p:nvPr/>
        </p:nvSpPr>
        <p:spPr>
          <a:xfrm>
            <a:off x="2844800" y="4902200"/>
            <a:ext cx="2070100" cy="1168400"/>
          </a:xfrm>
          <a:prstGeom prst="roundRect">
            <a:avLst>
              <a:gd name="adj" fmla="val 9782"/>
            </a:avLst>
          </a:prstGeom>
          <a:solidFill>
            <a:srgbClr val="E8F4F5"/>
          </a:solidFill>
          <a:ln w="9525">
            <a:solidFill>
              <a:srgbClr val="CFE4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3022600" y="5041900"/>
            <a:ext cx="381000" cy="190500"/>
          </a:xfrm>
          <a:prstGeom prst="rect">
            <a:avLst/>
          </a:prstGeom>
          <a:noFill/>
        </p:spPr>
        <p:txBody>
          <a:bodyPr wrap="square" lIns="0" rIns="0" tIns="0" bIns="0" anchor="t">
            <a:spAutoFit/>
          </a:bodyPr>
          <a:lstStyle/>
          <a:p>
            <a:pPr algn="l">
              <a:lnSpc>
                <a:spcPct val="122000"/>
              </a:lnSpc>
            </a:pPr>
            <a:r>
              <a:rPr sz="1000" b="1" i="0">
                <a:solidFill>
                  <a:srgbClr val="1F8A99"/>
                </a:solidFill>
                <a:latin typeface="Calibri"/>
              </a:rPr>
              <a:t>R2</a:t>
            </a:r>
          </a:p>
        </p:txBody>
      </p:sp>
      <p:sp>
        <p:nvSpPr>
          <p:cNvPr id="34" name="TextBox 33"/>
          <p:cNvSpPr txBox="1"/>
          <p:nvPr/>
        </p:nvSpPr>
        <p:spPr>
          <a:xfrm>
            <a:off x="3022600" y="5245100"/>
            <a:ext cx="1714500" cy="304800"/>
          </a:xfrm>
          <a:prstGeom prst="rect">
            <a:avLst/>
          </a:prstGeom>
          <a:noFill/>
        </p:spPr>
        <p:txBody>
          <a:bodyPr wrap="square" lIns="0" rIns="0" tIns="0" bIns="0" anchor="t">
            <a:spAutoFit/>
          </a:bodyPr>
          <a:lstStyle/>
          <a:p>
            <a:pPr algn="l">
              <a:lnSpc>
                <a:spcPct val="110000"/>
              </a:lnSpc>
            </a:pPr>
            <a:r>
              <a:rPr sz="1050" b="1" i="0">
                <a:solidFill>
                  <a:srgbClr val="0E1E3A"/>
                </a:solidFill>
                <a:latin typeface="Calibri"/>
              </a:rPr>
              <a:t>Late-bound live targets</a:t>
            </a:r>
          </a:p>
        </p:txBody>
      </p:sp>
      <p:sp>
        <p:nvSpPr>
          <p:cNvPr id="35" name="TextBox 34"/>
          <p:cNvSpPr txBox="1"/>
          <p:nvPr/>
        </p:nvSpPr>
        <p:spPr>
          <a:xfrm>
            <a:off x="3022600" y="5588000"/>
            <a:ext cx="1714500" cy="406400"/>
          </a:xfrm>
          <a:prstGeom prst="rect">
            <a:avLst/>
          </a:prstGeom>
          <a:noFill/>
        </p:spPr>
        <p:txBody>
          <a:bodyPr wrap="square" lIns="0" rIns="0" tIns="0" bIns="0" anchor="t">
            <a:spAutoFit/>
          </a:bodyPr>
          <a:lstStyle/>
          <a:p>
            <a:pPr algn="l">
              <a:lnSpc>
                <a:spcPct val="122000"/>
              </a:lnSpc>
            </a:pPr>
            <a:r>
              <a:rPr sz="850" b="0" i="0">
                <a:solidFill>
                  <a:srgbClr val="24354F"/>
                </a:solidFill>
                <a:latin typeface="Calibri"/>
              </a:rPr>
              <a:t>the client resolves which version to run at call time</a:t>
            </a:r>
          </a:p>
        </p:txBody>
      </p:sp>
      <p:sp>
        <p:nvSpPr>
          <p:cNvPr id="36" name="Rounded Rectangle 35"/>
          <p:cNvSpPr/>
          <p:nvPr/>
        </p:nvSpPr>
        <p:spPr>
          <a:xfrm>
            <a:off x="5054600" y="4902200"/>
            <a:ext cx="2070100" cy="1168400"/>
          </a:xfrm>
          <a:prstGeom prst="roundRect">
            <a:avLst>
              <a:gd name="adj" fmla="val 9782"/>
            </a:avLst>
          </a:prstGeom>
          <a:solidFill>
            <a:srgbClr val="E8F4F5"/>
          </a:solidFill>
          <a:ln w="9525">
            <a:solidFill>
              <a:srgbClr val="CFE4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5232400" y="5041900"/>
            <a:ext cx="381000" cy="190500"/>
          </a:xfrm>
          <a:prstGeom prst="rect">
            <a:avLst/>
          </a:prstGeom>
          <a:noFill/>
        </p:spPr>
        <p:txBody>
          <a:bodyPr wrap="square" lIns="0" rIns="0" tIns="0" bIns="0" anchor="t">
            <a:spAutoFit/>
          </a:bodyPr>
          <a:lstStyle/>
          <a:p>
            <a:pPr algn="l">
              <a:lnSpc>
                <a:spcPct val="122000"/>
              </a:lnSpc>
            </a:pPr>
            <a:r>
              <a:rPr sz="1000" b="1" i="0">
                <a:solidFill>
                  <a:srgbClr val="1F8A99"/>
                </a:solidFill>
                <a:latin typeface="Calibri"/>
              </a:rPr>
              <a:t>R3</a:t>
            </a:r>
          </a:p>
        </p:txBody>
      </p:sp>
      <p:sp>
        <p:nvSpPr>
          <p:cNvPr id="38" name="TextBox 37"/>
          <p:cNvSpPr txBox="1"/>
          <p:nvPr/>
        </p:nvSpPr>
        <p:spPr>
          <a:xfrm>
            <a:off x="5232400" y="5245100"/>
            <a:ext cx="1714500" cy="304800"/>
          </a:xfrm>
          <a:prstGeom prst="rect">
            <a:avLst/>
          </a:prstGeom>
          <a:noFill/>
        </p:spPr>
        <p:txBody>
          <a:bodyPr wrap="square" lIns="0" rIns="0" tIns="0" bIns="0" anchor="t">
            <a:spAutoFit/>
          </a:bodyPr>
          <a:lstStyle/>
          <a:p>
            <a:pPr algn="l">
              <a:lnSpc>
                <a:spcPct val="110000"/>
              </a:lnSpc>
            </a:pPr>
            <a:r>
              <a:rPr sz="1050" b="1" i="0">
                <a:solidFill>
                  <a:srgbClr val="0E1E3A"/>
                </a:solidFill>
                <a:latin typeface="Calibri"/>
              </a:rPr>
              <a:t>Evidence bound to versions</a:t>
            </a:r>
          </a:p>
        </p:txBody>
      </p:sp>
      <p:sp>
        <p:nvSpPr>
          <p:cNvPr id="39" name="TextBox 38"/>
          <p:cNvSpPr txBox="1"/>
          <p:nvPr/>
        </p:nvSpPr>
        <p:spPr>
          <a:xfrm>
            <a:off x="5232400" y="5588000"/>
            <a:ext cx="1714500" cy="406400"/>
          </a:xfrm>
          <a:prstGeom prst="rect">
            <a:avLst/>
          </a:prstGeom>
          <a:noFill/>
        </p:spPr>
        <p:txBody>
          <a:bodyPr wrap="square" lIns="0" rIns="0" tIns="0" bIns="0" anchor="t">
            <a:spAutoFit/>
          </a:bodyPr>
          <a:lstStyle/>
          <a:p>
            <a:pPr algn="l">
              <a:lnSpc>
                <a:spcPct val="122000"/>
              </a:lnSpc>
            </a:pPr>
            <a:r>
              <a:rPr sz="850" b="0" i="0">
                <a:solidFill>
                  <a:srgbClr val="24354F"/>
                </a:solidFill>
                <a:latin typeface="Calibri"/>
              </a:rPr>
              <a:t>scores and their corpus attached</a:t>
            </a:r>
            <a:br/>
            <a:r>
              <a:rPr sz="850" b="0" i="0">
                <a:solidFill>
                  <a:srgbClr val="24354F"/>
                </a:solidFill>
                <a:latin typeface="Calibri"/>
              </a:rPr>
              <a:t>to the version they describe</a:t>
            </a:r>
          </a:p>
        </p:txBody>
      </p:sp>
      <p:sp>
        <p:nvSpPr>
          <p:cNvPr id="40" name="Rounded Rectangle 39"/>
          <p:cNvSpPr/>
          <p:nvPr/>
        </p:nvSpPr>
        <p:spPr>
          <a:xfrm>
            <a:off x="7264400" y="4902200"/>
            <a:ext cx="2070100" cy="1168400"/>
          </a:xfrm>
          <a:prstGeom prst="roundRect">
            <a:avLst>
              <a:gd name="adj" fmla="val 9782"/>
            </a:avLst>
          </a:prstGeom>
          <a:solidFill>
            <a:srgbClr val="E8F4F5"/>
          </a:solidFill>
          <a:ln w="9525">
            <a:solidFill>
              <a:srgbClr val="CFE4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7442200" y="5041900"/>
            <a:ext cx="381000" cy="190500"/>
          </a:xfrm>
          <a:prstGeom prst="rect">
            <a:avLst/>
          </a:prstGeom>
          <a:noFill/>
        </p:spPr>
        <p:txBody>
          <a:bodyPr wrap="square" lIns="0" rIns="0" tIns="0" bIns="0" anchor="t">
            <a:spAutoFit/>
          </a:bodyPr>
          <a:lstStyle/>
          <a:p>
            <a:pPr algn="l">
              <a:lnSpc>
                <a:spcPct val="122000"/>
              </a:lnSpc>
            </a:pPr>
            <a:r>
              <a:rPr sz="1000" b="1" i="0">
                <a:solidFill>
                  <a:srgbClr val="1F8A99"/>
                </a:solidFill>
                <a:latin typeface="Calibri"/>
              </a:rPr>
              <a:t>R4</a:t>
            </a:r>
          </a:p>
        </p:txBody>
      </p:sp>
      <p:sp>
        <p:nvSpPr>
          <p:cNvPr id="42" name="TextBox 41"/>
          <p:cNvSpPr txBox="1"/>
          <p:nvPr/>
        </p:nvSpPr>
        <p:spPr>
          <a:xfrm>
            <a:off x="7442200" y="5245100"/>
            <a:ext cx="1714500" cy="304800"/>
          </a:xfrm>
          <a:prstGeom prst="rect">
            <a:avLst/>
          </a:prstGeom>
          <a:noFill/>
        </p:spPr>
        <p:txBody>
          <a:bodyPr wrap="square" lIns="0" rIns="0" tIns="0" bIns="0" anchor="t">
            <a:spAutoFit/>
          </a:bodyPr>
          <a:lstStyle/>
          <a:p>
            <a:pPr algn="l">
              <a:lnSpc>
                <a:spcPct val="110000"/>
              </a:lnSpc>
            </a:pPr>
            <a:r>
              <a:rPr sz="1050" b="1" i="0">
                <a:solidFill>
                  <a:srgbClr val="0E1E3A"/>
                </a:solidFill>
                <a:latin typeface="Calibri"/>
              </a:rPr>
              <a:t>An enforced gate, plus a human</a:t>
            </a:r>
          </a:p>
        </p:txBody>
      </p:sp>
      <p:sp>
        <p:nvSpPr>
          <p:cNvPr id="43" name="TextBox 42"/>
          <p:cNvSpPr txBox="1"/>
          <p:nvPr/>
        </p:nvSpPr>
        <p:spPr>
          <a:xfrm>
            <a:off x="7442200" y="5588000"/>
            <a:ext cx="1714500" cy="406400"/>
          </a:xfrm>
          <a:prstGeom prst="rect">
            <a:avLst/>
          </a:prstGeom>
          <a:noFill/>
        </p:spPr>
        <p:txBody>
          <a:bodyPr wrap="square" lIns="0" rIns="0" tIns="0" bIns="0" anchor="t">
            <a:spAutoFit/>
          </a:bodyPr>
          <a:lstStyle/>
          <a:p>
            <a:pPr algn="l">
              <a:lnSpc>
                <a:spcPct val="122000"/>
              </a:lnSpc>
            </a:pPr>
            <a:r>
              <a:rPr sz="850" b="0" i="0">
                <a:solidFill>
                  <a:srgbClr val="24354F"/>
                </a:solidFill>
                <a:latin typeface="Calibri"/>
              </a:rPr>
              <a:t>one check unbypassable, one</a:t>
            </a:r>
            <a:br/>
            <a:r>
              <a:rPr sz="850" b="0" i="0">
                <a:solidFill>
                  <a:srgbClr val="24354F"/>
                </a:solidFill>
                <a:latin typeface="Calibri"/>
              </a:rPr>
              <a:t>judgement a person's</a:t>
            </a:r>
          </a:p>
        </p:txBody>
      </p:sp>
      <p:sp>
        <p:nvSpPr>
          <p:cNvPr id="44" name="Rounded Rectangle 43"/>
          <p:cNvSpPr/>
          <p:nvPr/>
        </p:nvSpPr>
        <p:spPr>
          <a:xfrm>
            <a:off x="9474200" y="4902200"/>
            <a:ext cx="2070100" cy="1168400"/>
          </a:xfrm>
          <a:prstGeom prst="roundRect">
            <a:avLst>
              <a:gd name="adj" fmla="val 9782"/>
            </a:avLst>
          </a:prstGeom>
          <a:solidFill>
            <a:srgbClr val="E8F4F5"/>
          </a:solidFill>
          <a:ln w="9525">
            <a:solidFill>
              <a:srgbClr val="CFE4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9652000" y="5041900"/>
            <a:ext cx="381000" cy="190500"/>
          </a:xfrm>
          <a:prstGeom prst="rect">
            <a:avLst/>
          </a:prstGeom>
          <a:noFill/>
        </p:spPr>
        <p:txBody>
          <a:bodyPr wrap="square" lIns="0" rIns="0" tIns="0" bIns="0" anchor="t">
            <a:spAutoFit/>
          </a:bodyPr>
          <a:lstStyle/>
          <a:p>
            <a:pPr algn="l">
              <a:lnSpc>
                <a:spcPct val="122000"/>
              </a:lnSpc>
            </a:pPr>
            <a:r>
              <a:rPr sz="1000" b="1" i="0">
                <a:solidFill>
                  <a:srgbClr val="1F8A99"/>
                </a:solidFill>
                <a:latin typeface="Calibri"/>
              </a:rPr>
              <a:t>R5</a:t>
            </a:r>
          </a:p>
        </p:txBody>
      </p:sp>
      <p:sp>
        <p:nvSpPr>
          <p:cNvPr id="46" name="TextBox 45"/>
          <p:cNvSpPr txBox="1"/>
          <p:nvPr/>
        </p:nvSpPr>
        <p:spPr>
          <a:xfrm>
            <a:off x="9652000" y="5245100"/>
            <a:ext cx="1714500" cy="304800"/>
          </a:xfrm>
          <a:prstGeom prst="rect">
            <a:avLst/>
          </a:prstGeom>
          <a:noFill/>
        </p:spPr>
        <p:txBody>
          <a:bodyPr wrap="square" lIns="0" rIns="0" tIns="0" bIns="0" anchor="t">
            <a:spAutoFit/>
          </a:bodyPr>
          <a:lstStyle/>
          <a:p>
            <a:pPr algn="l">
              <a:lnSpc>
                <a:spcPct val="110000"/>
              </a:lnSpc>
            </a:pPr>
            <a:r>
              <a:rPr sz="1050" b="1" i="0">
                <a:solidFill>
                  <a:srgbClr val="0E1E3A"/>
                </a:solidFill>
                <a:latin typeface="Calibri"/>
              </a:rPr>
              <a:t>Audited, reversible release</a:t>
            </a:r>
          </a:p>
        </p:txBody>
      </p:sp>
      <p:sp>
        <p:nvSpPr>
          <p:cNvPr id="47" name="TextBox 46"/>
          <p:cNvSpPr txBox="1"/>
          <p:nvPr/>
        </p:nvSpPr>
        <p:spPr>
          <a:xfrm>
            <a:off x="9652000" y="5588000"/>
            <a:ext cx="1714500" cy="406400"/>
          </a:xfrm>
          <a:prstGeom prst="rect">
            <a:avLst/>
          </a:prstGeom>
          <a:noFill/>
        </p:spPr>
        <p:txBody>
          <a:bodyPr wrap="square" lIns="0" rIns="0" tIns="0" bIns="0" anchor="t">
            <a:spAutoFit/>
          </a:bodyPr>
          <a:lstStyle/>
          <a:p>
            <a:pPr algn="l">
              <a:lnSpc>
                <a:spcPct val="122000"/>
              </a:lnSpc>
            </a:pPr>
            <a:r>
              <a:rPr sz="850" b="0" i="0">
                <a:solidFill>
                  <a:srgbClr val="24354F"/>
                </a:solidFill>
                <a:latin typeface="Calibri"/>
              </a:rPr>
              <a:t>the release records what the live target was, so undo is a restore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35000" y="6337300"/>
            <a:ext cx="6096000" cy="254000"/>
          </a:xfrm>
          <a:prstGeom prst="rect">
            <a:avLst/>
          </a:prstGeom>
          <a:noFill/>
        </p:spPr>
        <p:txBody>
          <a:bodyPr wrap="square" lIns="0" rIns="0" tIns="0" bIns="0" anchor="t">
            <a:spAutoFit/>
          </a:bodyPr>
          <a:lstStyle/>
          <a:p>
            <a:pPr algn="l">
              <a:lnSpc>
                <a:spcPct val="122000"/>
              </a:lnSpc>
            </a:pPr>
            <a:r>
              <a:rPr sz="900" b="0" i="0">
                <a:solidFill>
                  <a:srgbClr val="A3B2C4"/>
                </a:solidFill>
                <a:latin typeface="Calibri"/>
              </a:rPr>
              <a:t>CALIBER  ·  A Layered Control Plane for Governed Releases of AI-Agent Resources</a:t>
            </a:r>
          </a:p>
        </p:txBody>
      </p:sp>
      <p:sp>
        <p:nvSpPr>
          <p:cNvPr id="3" name="TextBox 2"/>
          <p:cNvSpPr txBox="1"/>
          <p:nvPr/>
        </p:nvSpPr>
        <p:spPr>
          <a:xfrm>
            <a:off x="10629900" y="6337300"/>
            <a:ext cx="914400" cy="254000"/>
          </a:xfrm>
          <a:prstGeom prst="rect">
            <a:avLst/>
          </a:prstGeom>
          <a:noFill/>
        </p:spPr>
        <p:txBody>
          <a:bodyPr wrap="square" lIns="0" rIns="0" tIns="0" bIns="0" anchor="t">
            <a:spAutoFit/>
          </a:bodyPr>
          <a:lstStyle/>
          <a:p>
            <a:pPr algn="r">
              <a:lnSpc>
                <a:spcPct val="122000"/>
              </a:lnSpc>
            </a:pPr>
            <a:r>
              <a:rPr sz="900" b="0" i="0">
                <a:solidFill>
                  <a:srgbClr val="A3B2C4"/>
                </a:solidFill>
                <a:latin typeface="Calibri"/>
              </a:rPr>
              <a:t>4</a:t>
            </a:r>
          </a:p>
        </p:txBody>
      </p:sp>
      <p:sp>
        <p:nvSpPr>
          <p:cNvPr id="4" name="TextBox 3"/>
          <p:cNvSpPr txBox="1"/>
          <p:nvPr/>
        </p:nvSpPr>
        <p:spPr>
          <a:xfrm>
            <a:off x="635000" y="381000"/>
            <a:ext cx="10909300" cy="228600"/>
          </a:xfrm>
          <a:prstGeom prst="rect">
            <a:avLst/>
          </a:prstGeom>
          <a:noFill/>
        </p:spPr>
        <p:txBody>
          <a:bodyPr wrap="square" lIns="0" rIns="0" tIns="0" bIns="0" anchor="t">
            <a:spAutoFit/>
          </a:bodyPr>
          <a:lstStyle/>
          <a:p>
            <a:pPr algn="l">
              <a:lnSpc>
                <a:spcPct val="122000"/>
              </a:lnSpc>
            </a:pPr>
            <a:r>
              <a:rPr sz="1050" b="1" i="0">
                <a:solidFill>
                  <a:srgbClr val="1F8A99"/>
                </a:solidFill>
                <a:latin typeface="Calibri"/>
              </a:rPr>
              <a:t>Related work  ·  §11  ·  Tables 10 and 11</a:t>
            </a:r>
          </a:p>
        </p:txBody>
      </p:sp>
      <p:sp>
        <p:nvSpPr>
          <p:cNvPr id="5" name="TextBox 4"/>
          <p:cNvSpPr txBox="1"/>
          <p:nvPr/>
        </p:nvSpPr>
        <p:spPr>
          <a:xfrm>
            <a:off x="635000" y="647700"/>
            <a:ext cx="10909300" cy="495300"/>
          </a:xfrm>
          <a:prstGeom prst="rect">
            <a:avLst/>
          </a:prstGeom>
          <a:noFill/>
        </p:spPr>
        <p:txBody>
          <a:bodyPr wrap="square" lIns="0" rIns="0" tIns="0" bIns="0" anchor="t">
            <a:spAutoFit/>
          </a:bodyPr>
          <a:lstStyle/>
          <a:p>
            <a:pPr algn="l">
              <a:lnSpc>
                <a:spcPct val="108000"/>
              </a:lnSpc>
            </a:pPr>
            <a:r>
              <a:rPr sz="2600" b="1" i="0">
                <a:solidFill>
                  <a:srgbClr val="0E1E3A"/>
                </a:solidFill>
                <a:latin typeface="Calibri"/>
              </a:rPr>
              <a:t>Positioning: what the adjacent systems already own</a:t>
            </a:r>
          </a:p>
        </p:txBody>
      </p:sp>
      <p:sp>
        <p:nvSpPr>
          <p:cNvPr id="6" name="TextBox 5"/>
          <p:cNvSpPr txBox="1"/>
          <p:nvPr/>
        </p:nvSpPr>
        <p:spPr>
          <a:xfrm>
            <a:off x="635000" y="1168400"/>
            <a:ext cx="10909300" cy="431800"/>
          </a:xfrm>
          <a:prstGeom prst="rect">
            <a:avLst/>
          </a:prstGeom>
          <a:noFill/>
        </p:spPr>
        <p:txBody>
          <a:bodyPr wrap="square" lIns="0" rIns="0" tIns="0" bIns="0" anchor="t">
            <a:spAutoFit/>
          </a:bodyPr>
          <a:lstStyle/>
          <a:p>
            <a:pPr algn="l">
              <a:lnSpc>
                <a:spcPct val="130000"/>
              </a:lnSpc>
            </a:pPr>
            <a:r>
              <a:rPr sz="1250" b="0" i="0">
                <a:solidFill>
                  <a:srgbClr val="24354F"/>
                </a:solidFill>
                <a:latin typeface="Calibri"/>
              </a:rPr>
              <a:t>Late-bound pointer indirection for prompts is not novel; neither is rollback by re-pointing, nor restricting who may promote. Those are table stakes.</a:t>
            </a:r>
          </a:p>
        </p:txBody>
      </p:sp>
      <p:sp>
        <p:nvSpPr>
          <p:cNvPr id="7" name="Rectangle 6"/>
          <p:cNvSpPr/>
          <p:nvPr/>
        </p:nvSpPr>
        <p:spPr>
          <a:xfrm>
            <a:off x="635000" y="1701800"/>
            <a:ext cx="10909300" cy="325373"/>
          </a:xfrm>
          <a:prstGeom prst="rect">
            <a:avLst/>
          </a:prstGeom>
          <a:solidFill>
            <a:srgbClr val="1F8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300" y="1790700"/>
            <a:ext cx="1651000" cy="147573"/>
          </a:xfrm>
          <a:prstGeom prst="rect">
            <a:avLst/>
          </a:prstGeom>
          <a:noFill/>
        </p:spPr>
        <p:txBody>
          <a:bodyPr wrap="square" lIns="0" rIns="0" tIns="0" bIns="0" anchor="t">
            <a:spAutoFit/>
          </a:bodyPr>
          <a:lstStyle/>
          <a:p>
            <a:pPr algn="l">
              <a:lnSpc>
                <a:spcPct val="122000"/>
              </a:lnSpc>
            </a:pPr>
            <a:r>
              <a:rPr sz="900" b="1" i="0">
                <a:solidFill>
                  <a:srgbClr val="FFFFFF"/>
                </a:solidFill>
                <a:latin typeface="Calibri"/>
              </a:rPr>
              <a:t>System</a:t>
            </a:r>
          </a:p>
        </p:txBody>
      </p:sp>
      <p:sp>
        <p:nvSpPr>
          <p:cNvPr id="9" name="TextBox 8"/>
          <p:cNvSpPr txBox="1"/>
          <p:nvPr/>
        </p:nvSpPr>
        <p:spPr>
          <a:xfrm>
            <a:off x="2628900" y="1790700"/>
            <a:ext cx="2260600" cy="147573"/>
          </a:xfrm>
          <a:prstGeom prst="rect">
            <a:avLst/>
          </a:prstGeom>
          <a:noFill/>
        </p:spPr>
        <p:txBody>
          <a:bodyPr wrap="square" lIns="0" rIns="0" tIns="0" bIns="0" anchor="t">
            <a:spAutoFit/>
          </a:bodyPr>
          <a:lstStyle/>
          <a:p>
            <a:pPr algn="l">
              <a:lnSpc>
                <a:spcPct val="122000"/>
              </a:lnSpc>
            </a:pPr>
            <a:r>
              <a:rPr sz="900" b="1" i="0">
                <a:solidFill>
                  <a:srgbClr val="FFFFFF"/>
                </a:solidFill>
                <a:latin typeface="Calibri"/>
              </a:rPr>
              <a:t>Organizing abstraction</a:t>
            </a:r>
          </a:p>
        </p:txBody>
      </p:sp>
      <p:sp>
        <p:nvSpPr>
          <p:cNvPr id="10" name="TextBox 9"/>
          <p:cNvSpPr txBox="1"/>
          <p:nvPr/>
        </p:nvSpPr>
        <p:spPr>
          <a:xfrm>
            <a:off x="5118100" y="1790700"/>
            <a:ext cx="1905000" cy="147573"/>
          </a:xfrm>
          <a:prstGeom prst="rect">
            <a:avLst/>
          </a:prstGeom>
          <a:noFill/>
        </p:spPr>
        <p:txBody>
          <a:bodyPr wrap="square" lIns="0" rIns="0" tIns="0" bIns="0" anchor="t">
            <a:spAutoFit/>
          </a:bodyPr>
          <a:lstStyle/>
          <a:p>
            <a:pPr algn="l">
              <a:lnSpc>
                <a:spcPct val="122000"/>
              </a:lnSpc>
            </a:pPr>
            <a:r>
              <a:rPr sz="900" b="1" i="0">
                <a:solidFill>
                  <a:srgbClr val="FFFFFF"/>
                </a:solidFill>
                <a:latin typeface="Calibri"/>
              </a:rPr>
              <a:t>Versioned + live pointer</a:t>
            </a:r>
          </a:p>
        </p:txBody>
      </p:sp>
      <p:sp>
        <p:nvSpPr>
          <p:cNvPr id="11" name="TextBox 10"/>
          <p:cNvSpPr txBox="1"/>
          <p:nvPr/>
        </p:nvSpPr>
        <p:spPr>
          <a:xfrm>
            <a:off x="7251700" y="1790700"/>
            <a:ext cx="2032000" cy="147573"/>
          </a:xfrm>
          <a:prstGeom prst="rect">
            <a:avLst/>
          </a:prstGeom>
          <a:noFill/>
        </p:spPr>
        <p:txBody>
          <a:bodyPr wrap="square" lIns="0" rIns="0" tIns="0" bIns="0" anchor="t">
            <a:spAutoFit/>
          </a:bodyPr>
          <a:lstStyle/>
          <a:p>
            <a:pPr algn="l">
              <a:lnSpc>
                <a:spcPct val="122000"/>
              </a:lnSpc>
            </a:pPr>
            <a:r>
              <a:rPr sz="900" b="1" i="0">
                <a:solidFill>
                  <a:srgbClr val="FFFFFF"/>
                </a:solidFill>
                <a:latin typeface="Calibri"/>
              </a:rPr>
              <a:t>Evidence gates release</a:t>
            </a:r>
          </a:p>
        </p:txBody>
      </p:sp>
      <p:sp>
        <p:nvSpPr>
          <p:cNvPr id="12" name="TextBox 11"/>
          <p:cNvSpPr txBox="1"/>
          <p:nvPr/>
        </p:nvSpPr>
        <p:spPr>
          <a:xfrm>
            <a:off x="9512300" y="1790700"/>
            <a:ext cx="1917700" cy="147573"/>
          </a:xfrm>
          <a:prstGeom prst="rect">
            <a:avLst/>
          </a:prstGeom>
          <a:noFill/>
        </p:spPr>
        <p:txBody>
          <a:bodyPr wrap="square" lIns="0" rIns="0" tIns="0" bIns="0" anchor="t">
            <a:spAutoFit/>
          </a:bodyPr>
          <a:lstStyle/>
          <a:p>
            <a:pPr algn="l">
              <a:lnSpc>
                <a:spcPct val="122000"/>
              </a:lnSpc>
            </a:pPr>
            <a:r>
              <a:rPr sz="900" b="1" i="0">
                <a:solidFill>
                  <a:srgbClr val="FFFFFF"/>
                </a:solidFill>
                <a:latin typeface="Calibri"/>
              </a:rPr>
              <a:t>Families governed</a:t>
            </a:r>
          </a:p>
        </p:txBody>
      </p:sp>
      <p:sp>
        <p:nvSpPr>
          <p:cNvPr id="13" name="Rectangle 12"/>
          <p:cNvSpPr/>
          <p:nvPr/>
        </p:nvSpPr>
        <p:spPr>
          <a:xfrm>
            <a:off x="635000" y="2347468"/>
            <a:ext cx="10909300" cy="7620"/>
          </a:xfrm>
          <a:prstGeom prst="rect">
            <a:avLst/>
          </a:prstGeom>
          <a:solidFill>
            <a:srgbClr val="D5E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300" y="2116074"/>
            <a:ext cx="1651000" cy="150114"/>
          </a:xfrm>
          <a:prstGeom prst="rect">
            <a:avLst/>
          </a:prstGeom>
          <a:noFill/>
        </p:spPr>
        <p:txBody>
          <a:bodyPr wrap="square" lIns="0" rIns="0" tIns="0" bIns="0" anchor="ctr">
            <a:spAutoFit/>
          </a:bodyPr>
          <a:lstStyle/>
          <a:p>
            <a:pPr algn="l">
              <a:lnSpc>
                <a:spcPct val="118000"/>
              </a:lnSpc>
            </a:pPr>
            <a:r>
              <a:rPr sz="850" b="0" i="0">
                <a:solidFill>
                  <a:srgbClr val="24354F"/>
                </a:solidFill>
                <a:latin typeface="Calibri"/>
              </a:rPr>
              <a:t>MLflow Prompt Registry</a:t>
            </a:r>
          </a:p>
        </p:txBody>
      </p:sp>
      <p:sp>
        <p:nvSpPr>
          <p:cNvPr id="15" name="TextBox 14"/>
          <p:cNvSpPr txBox="1"/>
          <p:nvPr/>
        </p:nvSpPr>
        <p:spPr>
          <a:xfrm>
            <a:off x="2628900" y="2116074"/>
            <a:ext cx="2260600" cy="150114"/>
          </a:xfrm>
          <a:prstGeom prst="rect">
            <a:avLst/>
          </a:prstGeom>
          <a:noFill/>
        </p:spPr>
        <p:txBody>
          <a:bodyPr wrap="square" lIns="0" rIns="0" tIns="0" bIns="0" anchor="ctr">
            <a:spAutoFit/>
          </a:bodyPr>
          <a:lstStyle/>
          <a:p>
            <a:pPr algn="l">
              <a:lnSpc>
                <a:spcPct val="118000"/>
              </a:lnSpc>
            </a:pPr>
            <a:r>
              <a:rPr sz="850" b="0" i="0">
                <a:solidFill>
                  <a:srgbClr val="24354F"/>
                </a:solidFill>
                <a:latin typeface="Calibri"/>
              </a:rPr>
              <a:t>the trace, plus the versioned prompt</a:t>
            </a:r>
          </a:p>
        </p:txBody>
      </p:sp>
      <p:sp>
        <p:nvSpPr>
          <p:cNvPr id="16" name="TextBox 15"/>
          <p:cNvSpPr txBox="1"/>
          <p:nvPr/>
        </p:nvSpPr>
        <p:spPr>
          <a:xfrm>
            <a:off x="5118100" y="2116074"/>
            <a:ext cx="1905000" cy="150114"/>
          </a:xfrm>
          <a:prstGeom prst="rect">
            <a:avLst/>
          </a:prstGeom>
          <a:noFill/>
        </p:spPr>
        <p:txBody>
          <a:bodyPr wrap="square" lIns="0" rIns="0" tIns="0" bIns="0" anchor="ctr">
            <a:spAutoFit/>
          </a:bodyPr>
          <a:lstStyle/>
          <a:p>
            <a:pPr algn="l">
              <a:lnSpc>
                <a:spcPct val="118000"/>
              </a:lnSpc>
            </a:pPr>
            <a:r>
              <a:rPr sz="850" b="0" i="0">
                <a:solidFill>
                  <a:srgbClr val="24354F"/>
                </a:solidFill>
                <a:latin typeface="Calibri"/>
              </a:rPr>
              <a:t>yes — registry aliases</a:t>
            </a:r>
          </a:p>
        </p:txBody>
      </p:sp>
      <p:sp>
        <p:nvSpPr>
          <p:cNvPr id="17" name="TextBox 16"/>
          <p:cNvSpPr txBox="1"/>
          <p:nvPr/>
        </p:nvSpPr>
        <p:spPr>
          <a:xfrm>
            <a:off x="7251700" y="2116074"/>
            <a:ext cx="2032000" cy="150114"/>
          </a:xfrm>
          <a:prstGeom prst="rect">
            <a:avLst/>
          </a:prstGeom>
          <a:noFill/>
        </p:spPr>
        <p:txBody>
          <a:bodyPr wrap="square" lIns="0" rIns="0" tIns="0" bIns="0" anchor="ctr">
            <a:spAutoFit/>
          </a:bodyPr>
          <a:lstStyle/>
          <a:p>
            <a:pPr algn="l">
              <a:lnSpc>
                <a:spcPct val="118000"/>
              </a:lnSpc>
            </a:pPr>
            <a:r>
              <a:rPr sz="850" b="0" i="0">
                <a:solidFill>
                  <a:srgbClr val="24354F"/>
                </a:solidFill>
                <a:latin typeface="Calibri"/>
              </a:rPr>
              <a:t>linked, not enforced</a:t>
            </a:r>
          </a:p>
        </p:txBody>
      </p:sp>
      <p:sp>
        <p:nvSpPr>
          <p:cNvPr id="18" name="TextBox 17"/>
          <p:cNvSpPr txBox="1"/>
          <p:nvPr/>
        </p:nvSpPr>
        <p:spPr>
          <a:xfrm>
            <a:off x="9512300" y="2116074"/>
            <a:ext cx="1917700" cy="150114"/>
          </a:xfrm>
          <a:prstGeom prst="rect">
            <a:avLst/>
          </a:prstGeom>
          <a:noFill/>
        </p:spPr>
        <p:txBody>
          <a:bodyPr wrap="square" lIns="0" rIns="0" tIns="0" bIns="0" anchor="ctr">
            <a:spAutoFit/>
          </a:bodyPr>
          <a:lstStyle/>
          <a:p>
            <a:pPr algn="l">
              <a:lnSpc>
                <a:spcPct val="118000"/>
              </a:lnSpc>
            </a:pPr>
            <a:r>
              <a:rPr sz="850" b="0" i="0">
                <a:solidFill>
                  <a:srgbClr val="24354F"/>
                </a:solidFill>
                <a:latin typeface="Calibri"/>
              </a:rPr>
              <a:t>prompts, models</a:t>
            </a:r>
          </a:p>
        </p:txBody>
      </p:sp>
      <p:sp>
        <p:nvSpPr>
          <p:cNvPr id="19" name="Rectangle 18"/>
          <p:cNvSpPr/>
          <p:nvPr/>
        </p:nvSpPr>
        <p:spPr>
          <a:xfrm>
            <a:off x="635000" y="2355088"/>
            <a:ext cx="10909300" cy="327914"/>
          </a:xfrm>
          <a:prstGeom prst="rect">
            <a:avLst/>
          </a:prstGeom>
          <a:solidFill>
            <a:srgbClr val="F5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5000" y="2675382"/>
            <a:ext cx="10909300" cy="7620"/>
          </a:xfrm>
          <a:prstGeom prst="rect">
            <a:avLst/>
          </a:prstGeom>
          <a:solidFill>
            <a:srgbClr val="D5E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9300" y="2443988"/>
            <a:ext cx="1651000" cy="150114"/>
          </a:xfrm>
          <a:prstGeom prst="rect">
            <a:avLst/>
          </a:prstGeom>
          <a:noFill/>
        </p:spPr>
        <p:txBody>
          <a:bodyPr wrap="square" lIns="0" rIns="0" tIns="0" bIns="0" anchor="ctr">
            <a:spAutoFit/>
          </a:bodyPr>
          <a:lstStyle/>
          <a:p>
            <a:pPr algn="l">
              <a:lnSpc>
                <a:spcPct val="118000"/>
              </a:lnSpc>
            </a:pPr>
            <a:r>
              <a:rPr sz="850" b="0" i="0">
                <a:solidFill>
                  <a:srgbClr val="24354F"/>
                </a:solidFill>
                <a:latin typeface="Calibri"/>
              </a:rPr>
              <a:t>LangSmith</a:t>
            </a:r>
          </a:p>
        </p:txBody>
      </p:sp>
      <p:sp>
        <p:nvSpPr>
          <p:cNvPr id="22" name="TextBox 21"/>
          <p:cNvSpPr txBox="1"/>
          <p:nvPr/>
        </p:nvSpPr>
        <p:spPr>
          <a:xfrm>
            <a:off x="2628900" y="2443988"/>
            <a:ext cx="2260600" cy="150114"/>
          </a:xfrm>
          <a:prstGeom prst="rect">
            <a:avLst/>
          </a:prstGeom>
          <a:noFill/>
        </p:spPr>
        <p:txBody>
          <a:bodyPr wrap="square" lIns="0" rIns="0" tIns="0" bIns="0" anchor="ctr">
            <a:spAutoFit/>
          </a:bodyPr>
          <a:lstStyle/>
          <a:p>
            <a:pPr algn="l">
              <a:lnSpc>
                <a:spcPct val="118000"/>
              </a:lnSpc>
            </a:pPr>
            <a:r>
              <a:rPr sz="850" b="0" i="0">
                <a:solidFill>
                  <a:srgbClr val="24354F"/>
                </a:solidFill>
                <a:latin typeface="Calibri"/>
              </a:rPr>
              <a:t>the trace, plus the versioned prompt</a:t>
            </a:r>
          </a:p>
        </p:txBody>
      </p:sp>
      <p:sp>
        <p:nvSpPr>
          <p:cNvPr id="23" name="TextBox 22"/>
          <p:cNvSpPr txBox="1"/>
          <p:nvPr/>
        </p:nvSpPr>
        <p:spPr>
          <a:xfrm>
            <a:off x="5118100" y="2443988"/>
            <a:ext cx="1905000" cy="150114"/>
          </a:xfrm>
          <a:prstGeom prst="rect">
            <a:avLst/>
          </a:prstGeom>
          <a:noFill/>
        </p:spPr>
        <p:txBody>
          <a:bodyPr wrap="square" lIns="0" rIns="0" tIns="0" bIns="0" anchor="ctr">
            <a:spAutoFit/>
          </a:bodyPr>
          <a:lstStyle/>
          <a:p>
            <a:pPr algn="l">
              <a:lnSpc>
                <a:spcPct val="118000"/>
              </a:lnSpc>
            </a:pPr>
            <a:r>
              <a:rPr sz="850" b="0" i="0">
                <a:solidFill>
                  <a:srgbClr val="24354F"/>
                </a:solidFill>
                <a:latin typeface="Calibri"/>
              </a:rPr>
              <a:t>yes — labels and tags</a:t>
            </a:r>
          </a:p>
        </p:txBody>
      </p:sp>
      <p:sp>
        <p:nvSpPr>
          <p:cNvPr id="24" name="TextBox 23"/>
          <p:cNvSpPr txBox="1"/>
          <p:nvPr/>
        </p:nvSpPr>
        <p:spPr>
          <a:xfrm>
            <a:off x="7251700" y="2443988"/>
            <a:ext cx="2032000" cy="150114"/>
          </a:xfrm>
          <a:prstGeom prst="rect">
            <a:avLst/>
          </a:prstGeom>
          <a:noFill/>
        </p:spPr>
        <p:txBody>
          <a:bodyPr wrap="square" lIns="0" rIns="0" tIns="0" bIns="0" anchor="ctr">
            <a:spAutoFit/>
          </a:bodyPr>
          <a:lstStyle/>
          <a:p>
            <a:pPr algn="l">
              <a:lnSpc>
                <a:spcPct val="118000"/>
              </a:lnSpc>
            </a:pPr>
            <a:r>
              <a:rPr sz="850" b="0" i="0">
                <a:solidFill>
                  <a:srgbClr val="24354F"/>
                </a:solidFill>
                <a:latin typeface="Calibri"/>
              </a:rPr>
              <a:t>linked, not enforced</a:t>
            </a:r>
          </a:p>
        </p:txBody>
      </p:sp>
      <p:sp>
        <p:nvSpPr>
          <p:cNvPr id="25" name="TextBox 24"/>
          <p:cNvSpPr txBox="1"/>
          <p:nvPr/>
        </p:nvSpPr>
        <p:spPr>
          <a:xfrm>
            <a:off x="9512300" y="2443988"/>
            <a:ext cx="1917700" cy="150114"/>
          </a:xfrm>
          <a:prstGeom prst="rect">
            <a:avLst/>
          </a:prstGeom>
          <a:noFill/>
        </p:spPr>
        <p:txBody>
          <a:bodyPr wrap="square" lIns="0" rIns="0" tIns="0" bIns="0" anchor="ctr">
            <a:spAutoFit/>
          </a:bodyPr>
          <a:lstStyle/>
          <a:p>
            <a:pPr algn="l">
              <a:lnSpc>
                <a:spcPct val="118000"/>
              </a:lnSpc>
            </a:pPr>
            <a:r>
              <a:rPr sz="850" b="0" i="0">
                <a:solidFill>
                  <a:srgbClr val="24354F"/>
                </a:solidFill>
                <a:latin typeface="Calibri"/>
              </a:rPr>
              <a:t>prompts</a:t>
            </a:r>
          </a:p>
        </p:txBody>
      </p:sp>
      <p:sp>
        <p:nvSpPr>
          <p:cNvPr id="26" name="Rectangle 25"/>
          <p:cNvSpPr/>
          <p:nvPr/>
        </p:nvSpPr>
        <p:spPr>
          <a:xfrm>
            <a:off x="635000" y="3003296"/>
            <a:ext cx="10909300" cy="7620"/>
          </a:xfrm>
          <a:prstGeom prst="rect">
            <a:avLst/>
          </a:prstGeom>
          <a:solidFill>
            <a:srgbClr val="D5E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300" y="2771902"/>
            <a:ext cx="1651000" cy="150114"/>
          </a:xfrm>
          <a:prstGeom prst="rect">
            <a:avLst/>
          </a:prstGeom>
          <a:noFill/>
        </p:spPr>
        <p:txBody>
          <a:bodyPr wrap="square" lIns="0" rIns="0" tIns="0" bIns="0" anchor="ctr">
            <a:spAutoFit/>
          </a:bodyPr>
          <a:lstStyle/>
          <a:p>
            <a:pPr algn="l">
              <a:lnSpc>
                <a:spcPct val="118000"/>
              </a:lnSpc>
            </a:pPr>
            <a:r>
              <a:rPr sz="850" b="0" i="0">
                <a:solidFill>
                  <a:srgbClr val="24354F"/>
                </a:solidFill>
                <a:latin typeface="Calibri"/>
              </a:rPr>
              <a:t>Langfuse</a:t>
            </a:r>
          </a:p>
        </p:txBody>
      </p:sp>
      <p:sp>
        <p:nvSpPr>
          <p:cNvPr id="28" name="TextBox 27"/>
          <p:cNvSpPr txBox="1"/>
          <p:nvPr/>
        </p:nvSpPr>
        <p:spPr>
          <a:xfrm>
            <a:off x="2628900" y="2771902"/>
            <a:ext cx="2260600" cy="150114"/>
          </a:xfrm>
          <a:prstGeom prst="rect">
            <a:avLst/>
          </a:prstGeom>
          <a:noFill/>
        </p:spPr>
        <p:txBody>
          <a:bodyPr wrap="square" lIns="0" rIns="0" tIns="0" bIns="0" anchor="ctr">
            <a:spAutoFit/>
          </a:bodyPr>
          <a:lstStyle/>
          <a:p>
            <a:pPr algn="l">
              <a:lnSpc>
                <a:spcPct val="118000"/>
              </a:lnSpc>
            </a:pPr>
            <a:r>
              <a:rPr sz="850" b="0" i="0">
                <a:solidFill>
                  <a:srgbClr val="24354F"/>
                </a:solidFill>
                <a:latin typeface="Calibri"/>
              </a:rPr>
              <a:t>the trace, plus the versioned prompt</a:t>
            </a:r>
          </a:p>
        </p:txBody>
      </p:sp>
      <p:sp>
        <p:nvSpPr>
          <p:cNvPr id="29" name="TextBox 28"/>
          <p:cNvSpPr txBox="1"/>
          <p:nvPr/>
        </p:nvSpPr>
        <p:spPr>
          <a:xfrm>
            <a:off x="5118100" y="2771902"/>
            <a:ext cx="1905000" cy="150114"/>
          </a:xfrm>
          <a:prstGeom prst="rect">
            <a:avLst/>
          </a:prstGeom>
          <a:noFill/>
        </p:spPr>
        <p:txBody>
          <a:bodyPr wrap="square" lIns="0" rIns="0" tIns="0" bIns="0" anchor="ctr">
            <a:spAutoFit/>
          </a:bodyPr>
          <a:lstStyle/>
          <a:p>
            <a:pPr algn="l">
              <a:lnSpc>
                <a:spcPct val="118000"/>
              </a:lnSpc>
            </a:pPr>
            <a:r>
              <a:rPr sz="850" b="0" i="0">
                <a:solidFill>
                  <a:srgbClr val="24354F"/>
                </a:solidFill>
                <a:latin typeface="Calibri"/>
              </a:rPr>
              <a:t>yes — labels</a:t>
            </a:r>
          </a:p>
        </p:txBody>
      </p:sp>
      <p:sp>
        <p:nvSpPr>
          <p:cNvPr id="30" name="TextBox 29"/>
          <p:cNvSpPr txBox="1"/>
          <p:nvPr/>
        </p:nvSpPr>
        <p:spPr>
          <a:xfrm>
            <a:off x="7251700" y="2771902"/>
            <a:ext cx="2032000" cy="150114"/>
          </a:xfrm>
          <a:prstGeom prst="rect">
            <a:avLst/>
          </a:prstGeom>
          <a:noFill/>
        </p:spPr>
        <p:txBody>
          <a:bodyPr wrap="square" lIns="0" rIns="0" tIns="0" bIns="0" anchor="ctr">
            <a:spAutoFit/>
          </a:bodyPr>
          <a:lstStyle/>
          <a:p>
            <a:pPr algn="l">
              <a:lnSpc>
                <a:spcPct val="118000"/>
              </a:lnSpc>
            </a:pPr>
            <a:r>
              <a:rPr sz="850" b="0" i="0">
                <a:solidFill>
                  <a:srgbClr val="24354F"/>
                </a:solidFill>
                <a:latin typeface="Calibri"/>
              </a:rPr>
              <a:t>linked, not enforced</a:t>
            </a:r>
          </a:p>
        </p:txBody>
      </p:sp>
      <p:sp>
        <p:nvSpPr>
          <p:cNvPr id="31" name="TextBox 30"/>
          <p:cNvSpPr txBox="1"/>
          <p:nvPr/>
        </p:nvSpPr>
        <p:spPr>
          <a:xfrm>
            <a:off x="9512300" y="2771902"/>
            <a:ext cx="1917700" cy="150114"/>
          </a:xfrm>
          <a:prstGeom prst="rect">
            <a:avLst/>
          </a:prstGeom>
          <a:noFill/>
        </p:spPr>
        <p:txBody>
          <a:bodyPr wrap="square" lIns="0" rIns="0" tIns="0" bIns="0" anchor="ctr">
            <a:spAutoFit/>
          </a:bodyPr>
          <a:lstStyle/>
          <a:p>
            <a:pPr algn="l">
              <a:lnSpc>
                <a:spcPct val="118000"/>
              </a:lnSpc>
            </a:pPr>
            <a:r>
              <a:rPr sz="850" b="0" i="0">
                <a:solidFill>
                  <a:srgbClr val="24354F"/>
                </a:solidFill>
                <a:latin typeface="Calibri"/>
              </a:rPr>
              <a:t>prompts</a:t>
            </a:r>
          </a:p>
        </p:txBody>
      </p:sp>
      <p:sp>
        <p:nvSpPr>
          <p:cNvPr id="32" name="Rectangle 31"/>
          <p:cNvSpPr/>
          <p:nvPr/>
        </p:nvSpPr>
        <p:spPr>
          <a:xfrm>
            <a:off x="635000" y="3010916"/>
            <a:ext cx="10909300" cy="327914"/>
          </a:xfrm>
          <a:prstGeom prst="rect">
            <a:avLst/>
          </a:prstGeom>
          <a:solidFill>
            <a:srgbClr val="F5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35000" y="3331209"/>
            <a:ext cx="10909300" cy="7620"/>
          </a:xfrm>
          <a:prstGeom prst="rect">
            <a:avLst/>
          </a:prstGeom>
          <a:solidFill>
            <a:srgbClr val="D5E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9300" y="3099816"/>
            <a:ext cx="1651000" cy="150114"/>
          </a:xfrm>
          <a:prstGeom prst="rect">
            <a:avLst/>
          </a:prstGeom>
          <a:noFill/>
        </p:spPr>
        <p:txBody>
          <a:bodyPr wrap="square" lIns="0" rIns="0" tIns="0" bIns="0" anchor="ctr">
            <a:spAutoFit/>
          </a:bodyPr>
          <a:lstStyle/>
          <a:p>
            <a:pPr algn="l">
              <a:lnSpc>
                <a:spcPct val="118000"/>
              </a:lnSpc>
            </a:pPr>
            <a:r>
              <a:rPr sz="850" b="0" i="0">
                <a:solidFill>
                  <a:srgbClr val="24354F"/>
                </a:solidFill>
                <a:latin typeface="Calibri"/>
              </a:rPr>
              <a:t>Phoenix</a:t>
            </a:r>
          </a:p>
        </p:txBody>
      </p:sp>
      <p:sp>
        <p:nvSpPr>
          <p:cNvPr id="35" name="TextBox 34"/>
          <p:cNvSpPr txBox="1"/>
          <p:nvPr/>
        </p:nvSpPr>
        <p:spPr>
          <a:xfrm>
            <a:off x="2628900" y="3099816"/>
            <a:ext cx="2260600" cy="150114"/>
          </a:xfrm>
          <a:prstGeom prst="rect">
            <a:avLst/>
          </a:prstGeom>
          <a:noFill/>
        </p:spPr>
        <p:txBody>
          <a:bodyPr wrap="square" lIns="0" rIns="0" tIns="0" bIns="0" anchor="ctr">
            <a:spAutoFit/>
          </a:bodyPr>
          <a:lstStyle/>
          <a:p>
            <a:pPr algn="l">
              <a:lnSpc>
                <a:spcPct val="118000"/>
              </a:lnSpc>
            </a:pPr>
            <a:r>
              <a:rPr sz="850" b="0" i="0">
                <a:solidFill>
                  <a:srgbClr val="24354F"/>
                </a:solidFill>
                <a:latin typeface="Calibri"/>
              </a:rPr>
              <a:t>the trace</a:t>
            </a:r>
          </a:p>
        </p:txBody>
      </p:sp>
      <p:sp>
        <p:nvSpPr>
          <p:cNvPr id="36" name="TextBox 35"/>
          <p:cNvSpPr txBox="1"/>
          <p:nvPr/>
        </p:nvSpPr>
        <p:spPr>
          <a:xfrm>
            <a:off x="5118100" y="3099816"/>
            <a:ext cx="1905000" cy="150114"/>
          </a:xfrm>
          <a:prstGeom prst="rect">
            <a:avLst/>
          </a:prstGeom>
          <a:noFill/>
        </p:spPr>
        <p:txBody>
          <a:bodyPr wrap="square" lIns="0" rIns="0" tIns="0" bIns="0" anchor="ctr">
            <a:spAutoFit/>
          </a:bodyPr>
          <a:lstStyle/>
          <a:p>
            <a:pPr algn="l">
              <a:lnSpc>
                <a:spcPct val="118000"/>
              </a:lnSpc>
            </a:pPr>
            <a:r>
              <a:rPr sz="850" b="0" i="0">
                <a:solidFill>
                  <a:srgbClr val="24354F"/>
                </a:solidFill>
                <a:latin typeface="Calibri"/>
              </a:rPr>
              <a:t>tracing only</a:t>
            </a:r>
          </a:p>
        </p:txBody>
      </p:sp>
      <p:sp>
        <p:nvSpPr>
          <p:cNvPr id="37" name="TextBox 36"/>
          <p:cNvSpPr txBox="1"/>
          <p:nvPr/>
        </p:nvSpPr>
        <p:spPr>
          <a:xfrm>
            <a:off x="7251700" y="3099816"/>
            <a:ext cx="2032000" cy="150114"/>
          </a:xfrm>
          <a:prstGeom prst="rect">
            <a:avLst/>
          </a:prstGeom>
          <a:noFill/>
        </p:spPr>
        <p:txBody>
          <a:bodyPr wrap="square" lIns="0" rIns="0" tIns="0" bIns="0" anchor="ctr">
            <a:spAutoFit/>
          </a:bodyPr>
          <a:lstStyle/>
          <a:p>
            <a:pPr algn="l">
              <a:lnSpc>
                <a:spcPct val="118000"/>
              </a:lnSpc>
            </a:pPr>
            <a:r>
              <a:rPr sz="850" b="0" i="0">
                <a:solidFill>
                  <a:srgbClr val="24354F"/>
                </a:solidFill>
                <a:latin typeface="Calibri"/>
              </a:rPr>
              <a:t>no</a:t>
            </a:r>
          </a:p>
        </p:txBody>
      </p:sp>
      <p:sp>
        <p:nvSpPr>
          <p:cNvPr id="38" name="TextBox 37"/>
          <p:cNvSpPr txBox="1"/>
          <p:nvPr/>
        </p:nvSpPr>
        <p:spPr>
          <a:xfrm>
            <a:off x="9512300" y="3099816"/>
            <a:ext cx="1917700" cy="150114"/>
          </a:xfrm>
          <a:prstGeom prst="rect">
            <a:avLst/>
          </a:prstGeom>
          <a:noFill/>
        </p:spPr>
        <p:txBody>
          <a:bodyPr wrap="square" lIns="0" rIns="0" tIns="0" bIns="0" anchor="ctr">
            <a:spAutoFit/>
          </a:bodyPr>
          <a:lstStyle/>
          <a:p>
            <a:pPr algn="l">
              <a:lnSpc>
                <a:spcPct val="118000"/>
              </a:lnSpc>
            </a:pPr>
            <a:r>
              <a:rPr sz="850" b="0" i="0">
                <a:solidFill>
                  <a:srgbClr val="24354F"/>
                </a:solidFill>
                <a:latin typeface="Calibri"/>
              </a:rPr>
              <a:t>—</a:t>
            </a:r>
          </a:p>
        </p:txBody>
      </p:sp>
      <p:sp>
        <p:nvSpPr>
          <p:cNvPr id="39" name="Rectangle 38"/>
          <p:cNvSpPr/>
          <p:nvPr/>
        </p:nvSpPr>
        <p:spPr>
          <a:xfrm>
            <a:off x="635000" y="3659123"/>
            <a:ext cx="10909300" cy="7620"/>
          </a:xfrm>
          <a:prstGeom prst="rect">
            <a:avLst/>
          </a:prstGeom>
          <a:solidFill>
            <a:srgbClr val="D5E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49300" y="3427729"/>
            <a:ext cx="1651000" cy="150114"/>
          </a:xfrm>
          <a:prstGeom prst="rect">
            <a:avLst/>
          </a:prstGeom>
          <a:noFill/>
        </p:spPr>
        <p:txBody>
          <a:bodyPr wrap="square" lIns="0" rIns="0" tIns="0" bIns="0" anchor="ctr">
            <a:spAutoFit/>
          </a:bodyPr>
          <a:lstStyle/>
          <a:p>
            <a:pPr algn="l">
              <a:lnSpc>
                <a:spcPct val="118000"/>
              </a:lnSpc>
            </a:pPr>
            <a:r>
              <a:rPr sz="850" b="0" i="0">
                <a:solidFill>
                  <a:srgbClr val="24354F"/>
                </a:solidFill>
                <a:latin typeface="Calibri"/>
              </a:rPr>
              <a:t>LangChain / LangGraph</a:t>
            </a:r>
          </a:p>
        </p:txBody>
      </p:sp>
      <p:sp>
        <p:nvSpPr>
          <p:cNvPr id="41" name="TextBox 40"/>
          <p:cNvSpPr txBox="1"/>
          <p:nvPr/>
        </p:nvSpPr>
        <p:spPr>
          <a:xfrm>
            <a:off x="2628900" y="3427729"/>
            <a:ext cx="2260600" cy="150114"/>
          </a:xfrm>
          <a:prstGeom prst="rect">
            <a:avLst/>
          </a:prstGeom>
          <a:noFill/>
        </p:spPr>
        <p:txBody>
          <a:bodyPr wrap="square" lIns="0" rIns="0" tIns="0" bIns="0" anchor="ctr">
            <a:spAutoFit/>
          </a:bodyPr>
          <a:lstStyle/>
          <a:p>
            <a:pPr algn="l">
              <a:lnSpc>
                <a:spcPct val="118000"/>
              </a:lnSpc>
            </a:pPr>
            <a:r>
              <a:rPr sz="850" b="0" i="0">
                <a:solidFill>
                  <a:srgbClr val="24354F"/>
                </a:solidFill>
                <a:latin typeface="Calibri"/>
              </a:rPr>
              <a:t>the chain or graph</a:t>
            </a:r>
          </a:p>
        </p:txBody>
      </p:sp>
      <p:sp>
        <p:nvSpPr>
          <p:cNvPr id="42" name="TextBox 41"/>
          <p:cNvSpPr txBox="1"/>
          <p:nvPr/>
        </p:nvSpPr>
        <p:spPr>
          <a:xfrm>
            <a:off x="5118100" y="3427729"/>
            <a:ext cx="1905000" cy="150114"/>
          </a:xfrm>
          <a:prstGeom prst="rect">
            <a:avLst/>
          </a:prstGeom>
          <a:noFill/>
        </p:spPr>
        <p:txBody>
          <a:bodyPr wrap="square" lIns="0" rIns="0" tIns="0" bIns="0" anchor="ctr">
            <a:spAutoFit/>
          </a:bodyPr>
          <a:lstStyle/>
          <a:p>
            <a:pPr algn="l">
              <a:lnSpc>
                <a:spcPct val="118000"/>
              </a:lnSpc>
            </a:pPr>
            <a:r>
              <a:rPr sz="850" b="0" i="0">
                <a:solidFill>
                  <a:srgbClr val="24354F"/>
                </a:solidFill>
                <a:latin typeface="Calibri"/>
              </a:rPr>
              <a:t>no</a:t>
            </a:r>
          </a:p>
        </p:txBody>
      </p:sp>
      <p:sp>
        <p:nvSpPr>
          <p:cNvPr id="43" name="TextBox 42"/>
          <p:cNvSpPr txBox="1"/>
          <p:nvPr/>
        </p:nvSpPr>
        <p:spPr>
          <a:xfrm>
            <a:off x="7251700" y="3427729"/>
            <a:ext cx="2032000" cy="150114"/>
          </a:xfrm>
          <a:prstGeom prst="rect">
            <a:avLst/>
          </a:prstGeom>
          <a:noFill/>
        </p:spPr>
        <p:txBody>
          <a:bodyPr wrap="square" lIns="0" rIns="0" tIns="0" bIns="0" anchor="ctr">
            <a:spAutoFit/>
          </a:bodyPr>
          <a:lstStyle/>
          <a:p>
            <a:pPr algn="l">
              <a:lnSpc>
                <a:spcPct val="118000"/>
              </a:lnSpc>
            </a:pPr>
            <a:r>
              <a:rPr sz="850" b="0" i="0">
                <a:solidFill>
                  <a:srgbClr val="24354F"/>
                </a:solidFill>
                <a:latin typeface="Calibri"/>
              </a:rPr>
              <a:t>no</a:t>
            </a:r>
          </a:p>
        </p:txBody>
      </p:sp>
      <p:sp>
        <p:nvSpPr>
          <p:cNvPr id="44" name="TextBox 43"/>
          <p:cNvSpPr txBox="1"/>
          <p:nvPr/>
        </p:nvSpPr>
        <p:spPr>
          <a:xfrm>
            <a:off x="9512300" y="3427729"/>
            <a:ext cx="1917700" cy="150114"/>
          </a:xfrm>
          <a:prstGeom prst="rect">
            <a:avLst/>
          </a:prstGeom>
          <a:noFill/>
        </p:spPr>
        <p:txBody>
          <a:bodyPr wrap="square" lIns="0" rIns="0" tIns="0" bIns="0" anchor="ctr">
            <a:spAutoFit/>
          </a:bodyPr>
          <a:lstStyle/>
          <a:p>
            <a:pPr algn="l">
              <a:lnSpc>
                <a:spcPct val="118000"/>
              </a:lnSpc>
            </a:pPr>
            <a:r>
              <a:rPr sz="850" b="0" i="0">
                <a:solidFill>
                  <a:srgbClr val="24354F"/>
                </a:solidFill>
                <a:latin typeface="Calibri"/>
              </a:rPr>
              <a:t>— composition</a:t>
            </a:r>
          </a:p>
        </p:txBody>
      </p:sp>
      <p:sp>
        <p:nvSpPr>
          <p:cNvPr id="45" name="Rectangle 44"/>
          <p:cNvSpPr/>
          <p:nvPr/>
        </p:nvSpPr>
        <p:spPr>
          <a:xfrm>
            <a:off x="635000" y="3666743"/>
            <a:ext cx="10909300" cy="327914"/>
          </a:xfrm>
          <a:prstGeom prst="rect">
            <a:avLst/>
          </a:prstGeom>
          <a:solidFill>
            <a:srgbClr val="F5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35000" y="3987037"/>
            <a:ext cx="10909300" cy="7620"/>
          </a:xfrm>
          <a:prstGeom prst="rect">
            <a:avLst/>
          </a:prstGeom>
          <a:solidFill>
            <a:srgbClr val="D5E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49300" y="3755643"/>
            <a:ext cx="1651000" cy="150114"/>
          </a:xfrm>
          <a:prstGeom prst="rect">
            <a:avLst/>
          </a:prstGeom>
          <a:noFill/>
        </p:spPr>
        <p:txBody>
          <a:bodyPr wrap="square" lIns="0" rIns="0" tIns="0" bIns="0" anchor="ctr">
            <a:spAutoFit/>
          </a:bodyPr>
          <a:lstStyle/>
          <a:p>
            <a:pPr algn="l">
              <a:lnSpc>
                <a:spcPct val="118000"/>
              </a:lnSpc>
            </a:pPr>
            <a:r>
              <a:rPr sz="850" b="0" i="0">
                <a:solidFill>
                  <a:srgbClr val="24354F"/>
                </a:solidFill>
                <a:latin typeface="Calibri"/>
              </a:rPr>
              <a:t>AutoGen / CrewAI</a:t>
            </a:r>
          </a:p>
        </p:txBody>
      </p:sp>
      <p:sp>
        <p:nvSpPr>
          <p:cNvPr id="48" name="TextBox 47"/>
          <p:cNvSpPr txBox="1"/>
          <p:nvPr/>
        </p:nvSpPr>
        <p:spPr>
          <a:xfrm>
            <a:off x="2628900" y="3755643"/>
            <a:ext cx="2260600" cy="150114"/>
          </a:xfrm>
          <a:prstGeom prst="rect">
            <a:avLst/>
          </a:prstGeom>
          <a:noFill/>
        </p:spPr>
        <p:txBody>
          <a:bodyPr wrap="square" lIns="0" rIns="0" tIns="0" bIns="0" anchor="ctr">
            <a:spAutoFit/>
          </a:bodyPr>
          <a:lstStyle/>
          <a:p>
            <a:pPr algn="l">
              <a:lnSpc>
                <a:spcPct val="118000"/>
              </a:lnSpc>
            </a:pPr>
            <a:r>
              <a:rPr sz="850" b="0" i="0">
                <a:solidFill>
                  <a:srgbClr val="24354F"/>
                </a:solidFill>
                <a:latin typeface="Calibri"/>
              </a:rPr>
              <a:t>the agent and its conversation</a:t>
            </a:r>
          </a:p>
        </p:txBody>
      </p:sp>
      <p:sp>
        <p:nvSpPr>
          <p:cNvPr id="49" name="TextBox 48"/>
          <p:cNvSpPr txBox="1"/>
          <p:nvPr/>
        </p:nvSpPr>
        <p:spPr>
          <a:xfrm>
            <a:off x="5118100" y="3755643"/>
            <a:ext cx="1905000" cy="150114"/>
          </a:xfrm>
          <a:prstGeom prst="rect">
            <a:avLst/>
          </a:prstGeom>
          <a:noFill/>
        </p:spPr>
        <p:txBody>
          <a:bodyPr wrap="square" lIns="0" rIns="0" tIns="0" bIns="0" anchor="ctr">
            <a:spAutoFit/>
          </a:bodyPr>
          <a:lstStyle/>
          <a:p>
            <a:pPr algn="l">
              <a:lnSpc>
                <a:spcPct val="118000"/>
              </a:lnSpc>
            </a:pPr>
            <a:r>
              <a:rPr sz="850" b="0" i="0">
                <a:solidFill>
                  <a:srgbClr val="24354F"/>
                </a:solidFill>
                <a:latin typeface="Calibri"/>
              </a:rPr>
              <a:t>no</a:t>
            </a:r>
          </a:p>
        </p:txBody>
      </p:sp>
      <p:sp>
        <p:nvSpPr>
          <p:cNvPr id="50" name="TextBox 49"/>
          <p:cNvSpPr txBox="1"/>
          <p:nvPr/>
        </p:nvSpPr>
        <p:spPr>
          <a:xfrm>
            <a:off x="7251700" y="3755643"/>
            <a:ext cx="2032000" cy="150114"/>
          </a:xfrm>
          <a:prstGeom prst="rect">
            <a:avLst/>
          </a:prstGeom>
          <a:noFill/>
        </p:spPr>
        <p:txBody>
          <a:bodyPr wrap="square" lIns="0" rIns="0" tIns="0" bIns="0" anchor="ctr">
            <a:spAutoFit/>
          </a:bodyPr>
          <a:lstStyle/>
          <a:p>
            <a:pPr algn="l">
              <a:lnSpc>
                <a:spcPct val="118000"/>
              </a:lnSpc>
            </a:pPr>
            <a:r>
              <a:rPr sz="850" b="0" i="0">
                <a:solidFill>
                  <a:srgbClr val="24354F"/>
                </a:solidFill>
                <a:latin typeface="Calibri"/>
              </a:rPr>
              <a:t>no</a:t>
            </a:r>
          </a:p>
        </p:txBody>
      </p:sp>
      <p:sp>
        <p:nvSpPr>
          <p:cNvPr id="51" name="TextBox 50"/>
          <p:cNvSpPr txBox="1"/>
          <p:nvPr/>
        </p:nvSpPr>
        <p:spPr>
          <a:xfrm>
            <a:off x="9512300" y="3755643"/>
            <a:ext cx="1917700" cy="150114"/>
          </a:xfrm>
          <a:prstGeom prst="rect">
            <a:avLst/>
          </a:prstGeom>
          <a:noFill/>
        </p:spPr>
        <p:txBody>
          <a:bodyPr wrap="square" lIns="0" rIns="0" tIns="0" bIns="0" anchor="ctr">
            <a:spAutoFit/>
          </a:bodyPr>
          <a:lstStyle/>
          <a:p>
            <a:pPr algn="l">
              <a:lnSpc>
                <a:spcPct val="118000"/>
              </a:lnSpc>
            </a:pPr>
            <a:r>
              <a:rPr sz="850" b="0" i="0">
                <a:solidFill>
                  <a:srgbClr val="24354F"/>
                </a:solidFill>
                <a:latin typeface="Calibri"/>
              </a:rPr>
              <a:t>— orchestration</a:t>
            </a:r>
          </a:p>
        </p:txBody>
      </p:sp>
      <p:sp>
        <p:nvSpPr>
          <p:cNvPr id="52" name="Rectangle 51"/>
          <p:cNvSpPr/>
          <p:nvPr/>
        </p:nvSpPr>
        <p:spPr>
          <a:xfrm>
            <a:off x="635000" y="4314951"/>
            <a:ext cx="10909300" cy="7620"/>
          </a:xfrm>
          <a:prstGeom prst="rect">
            <a:avLst/>
          </a:prstGeom>
          <a:solidFill>
            <a:srgbClr val="D5E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49300" y="4083557"/>
            <a:ext cx="1651000" cy="150114"/>
          </a:xfrm>
          <a:prstGeom prst="rect">
            <a:avLst/>
          </a:prstGeom>
          <a:noFill/>
        </p:spPr>
        <p:txBody>
          <a:bodyPr wrap="square" lIns="0" rIns="0" tIns="0" bIns="0" anchor="ctr">
            <a:spAutoFit/>
          </a:bodyPr>
          <a:lstStyle/>
          <a:p>
            <a:pPr algn="l">
              <a:lnSpc>
                <a:spcPct val="118000"/>
              </a:lnSpc>
            </a:pPr>
            <a:r>
              <a:rPr sz="850" b="0" i="0">
                <a:solidFill>
                  <a:srgbClr val="24354F"/>
                </a:solidFill>
                <a:latin typeface="Calibri"/>
              </a:rPr>
              <a:t>DSPy / GEPA / MIPRO</a:t>
            </a:r>
          </a:p>
        </p:txBody>
      </p:sp>
      <p:sp>
        <p:nvSpPr>
          <p:cNvPr id="54" name="TextBox 53"/>
          <p:cNvSpPr txBox="1"/>
          <p:nvPr/>
        </p:nvSpPr>
        <p:spPr>
          <a:xfrm>
            <a:off x="2628900" y="4083557"/>
            <a:ext cx="2260600" cy="150114"/>
          </a:xfrm>
          <a:prstGeom prst="rect">
            <a:avLst/>
          </a:prstGeom>
          <a:noFill/>
        </p:spPr>
        <p:txBody>
          <a:bodyPr wrap="square" lIns="0" rIns="0" tIns="0" bIns="0" anchor="ctr">
            <a:spAutoFit/>
          </a:bodyPr>
          <a:lstStyle/>
          <a:p>
            <a:pPr algn="l">
              <a:lnSpc>
                <a:spcPct val="118000"/>
              </a:lnSpc>
            </a:pPr>
            <a:r>
              <a:rPr sz="850" b="0" i="0">
                <a:solidFill>
                  <a:srgbClr val="24354F"/>
                </a:solidFill>
                <a:latin typeface="Calibri"/>
              </a:rPr>
              <a:t>the program being optimized</a:t>
            </a:r>
          </a:p>
        </p:txBody>
      </p:sp>
      <p:sp>
        <p:nvSpPr>
          <p:cNvPr id="55" name="TextBox 54"/>
          <p:cNvSpPr txBox="1"/>
          <p:nvPr/>
        </p:nvSpPr>
        <p:spPr>
          <a:xfrm>
            <a:off x="5118100" y="4083557"/>
            <a:ext cx="1905000" cy="150114"/>
          </a:xfrm>
          <a:prstGeom prst="rect">
            <a:avLst/>
          </a:prstGeom>
          <a:noFill/>
        </p:spPr>
        <p:txBody>
          <a:bodyPr wrap="square" lIns="0" rIns="0" tIns="0" bIns="0" anchor="ctr">
            <a:spAutoFit/>
          </a:bodyPr>
          <a:lstStyle/>
          <a:p>
            <a:pPr algn="l">
              <a:lnSpc>
                <a:spcPct val="118000"/>
              </a:lnSpc>
            </a:pPr>
            <a:r>
              <a:rPr sz="850" b="0" i="0">
                <a:solidFill>
                  <a:srgbClr val="24354F"/>
                </a:solidFill>
                <a:latin typeface="Calibri"/>
              </a:rPr>
              <a:t>no</a:t>
            </a:r>
          </a:p>
        </p:txBody>
      </p:sp>
      <p:sp>
        <p:nvSpPr>
          <p:cNvPr id="56" name="TextBox 55"/>
          <p:cNvSpPr txBox="1"/>
          <p:nvPr/>
        </p:nvSpPr>
        <p:spPr>
          <a:xfrm>
            <a:off x="7251700" y="4083557"/>
            <a:ext cx="2032000" cy="150114"/>
          </a:xfrm>
          <a:prstGeom prst="rect">
            <a:avLst/>
          </a:prstGeom>
          <a:noFill/>
        </p:spPr>
        <p:txBody>
          <a:bodyPr wrap="square" lIns="0" rIns="0" tIns="0" bIns="0" anchor="ctr">
            <a:spAutoFit/>
          </a:bodyPr>
          <a:lstStyle/>
          <a:p>
            <a:pPr algn="l">
              <a:lnSpc>
                <a:spcPct val="118000"/>
              </a:lnSpc>
            </a:pPr>
            <a:r>
              <a:rPr sz="850" b="0" i="0">
                <a:solidFill>
                  <a:srgbClr val="24354F"/>
                </a:solidFill>
                <a:latin typeface="Calibri"/>
              </a:rPr>
              <a:t>produces candidates, not releases</a:t>
            </a:r>
          </a:p>
        </p:txBody>
      </p:sp>
      <p:sp>
        <p:nvSpPr>
          <p:cNvPr id="57" name="TextBox 56"/>
          <p:cNvSpPr txBox="1"/>
          <p:nvPr/>
        </p:nvSpPr>
        <p:spPr>
          <a:xfrm>
            <a:off x="9512300" y="4083557"/>
            <a:ext cx="1917700" cy="150114"/>
          </a:xfrm>
          <a:prstGeom prst="rect">
            <a:avLst/>
          </a:prstGeom>
          <a:noFill/>
        </p:spPr>
        <p:txBody>
          <a:bodyPr wrap="square" lIns="0" rIns="0" tIns="0" bIns="0" anchor="ctr">
            <a:spAutoFit/>
          </a:bodyPr>
          <a:lstStyle/>
          <a:p>
            <a:pPr algn="l">
              <a:lnSpc>
                <a:spcPct val="118000"/>
              </a:lnSpc>
            </a:pPr>
            <a:r>
              <a:rPr sz="850" b="0" i="0">
                <a:solidFill>
                  <a:srgbClr val="24354F"/>
                </a:solidFill>
                <a:latin typeface="Calibri"/>
              </a:rPr>
              <a:t>— optimization</a:t>
            </a:r>
          </a:p>
        </p:txBody>
      </p:sp>
      <p:sp>
        <p:nvSpPr>
          <p:cNvPr id="58" name="Rectangle 57"/>
          <p:cNvSpPr/>
          <p:nvPr/>
        </p:nvSpPr>
        <p:spPr>
          <a:xfrm>
            <a:off x="635000" y="4322571"/>
            <a:ext cx="10909300" cy="327914"/>
          </a:xfrm>
          <a:prstGeom prst="rect">
            <a:avLst/>
          </a:prstGeom>
          <a:solidFill>
            <a:srgbClr val="F5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635000" y="4642865"/>
            <a:ext cx="10909300" cy="7620"/>
          </a:xfrm>
          <a:prstGeom prst="rect">
            <a:avLst/>
          </a:prstGeom>
          <a:solidFill>
            <a:srgbClr val="D5E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49300" y="4411471"/>
            <a:ext cx="1651000" cy="150114"/>
          </a:xfrm>
          <a:prstGeom prst="rect">
            <a:avLst/>
          </a:prstGeom>
          <a:noFill/>
        </p:spPr>
        <p:txBody>
          <a:bodyPr wrap="square" lIns="0" rIns="0" tIns="0" bIns="0" anchor="ctr">
            <a:spAutoFit/>
          </a:bodyPr>
          <a:lstStyle/>
          <a:p>
            <a:pPr algn="l">
              <a:lnSpc>
                <a:spcPct val="118000"/>
              </a:lnSpc>
            </a:pPr>
            <a:r>
              <a:rPr sz="850" b="0" i="0">
                <a:solidFill>
                  <a:srgbClr val="24354F"/>
                </a:solidFill>
                <a:latin typeface="Calibri"/>
              </a:rPr>
              <a:t>promptfoo / Evals</a:t>
            </a:r>
          </a:p>
        </p:txBody>
      </p:sp>
      <p:sp>
        <p:nvSpPr>
          <p:cNvPr id="61" name="TextBox 60"/>
          <p:cNvSpPr txBox="1"/>
          <p:nvPr/>
        </p:nvSpPr>
        <p:spPr>
          <a:xfrm>
            <a:off x="2628900" y="4411471"/>
            <a:ext cx="2260600" cy="150114"/>
          </a:xfrm>
          <a:prstGeom prst="rect">
            <a:avLst/>
          </a:prstGeom>
          <a:noFill/>
        </p:spPr>
        <p:txBody>
          <a:bodyPr wrap="square" lIns="0" rIns="0" tIns="0" bIns="0" anchor="ctr">
            <a:spAutoFit/>
          </a:bodyPr>
          <a:lstStyle/>
          <a:p>
            <a:pPr algn="l">
              <a:lnSpc>
                <a:spcPct val="118000"/>
              </a:lnSpc>
            </a:pPr>
            <a:r>
              <a:rPr sz="850" b="0" i="0">
                <a:solidFill>
                  <a:srgbClr val="24354F"/>
                </a:solidFill>
                <a:latin typeface="Calibri"/>
              </a:rPr>
              <a:t>the test case</a:t>
            </a:r>
          </a:p>
        </p:txBody>
      </p:sp>
      <p:sp>
        <p:nvSpPr>
          <p:cNvPr id="62" name="TextBox 61"/>
          <p:cNvSpPr txBox="1"/>
          <p:nvPr/>
        </p:nvSpPr>
        <p:spPr>
          <a:xfrm>
            <a:off x="5118100" y="4411471"/>
            <a:ext cx="1905000" cy="150114"/>
          </a:xfrm>
          <a:prstGeom prst="rect">
            <a:avLst/>
          </a:prstGeom>
          <a:noFill/>
        </p:spPr>
        <p:txBody>
          <a:bodyPr wrap="square" lIns="0" rIns="0" tIns="0" bIns="0" anchor="ctr">
            <a:spAutoFit/>
          </a:bodyPr>
          <a:lstStyle/>
          <a:p>
            <a:pPr algn="l">
              <a:lnSpc>
                <a:spcPct val="118000"/>
              </a:lnSpc>
            </a:pPr>
            <a:r>
              <a:rPr sz="850" b="0" i="0">
                <a:solidFill>
                  <a:srgbClr val="24354F"/>
                </a:solidFill>
                <a:latin typeface="Calibri"/>
              </a:rPr>
              <a:t>no</a:t>
            </a:r>
          </a:p>
        </p:txBody>
      </p:sp>
      <p:sp>
        <p:nvSpPr>
          <p:cNvPr id="63" name="TextBox 62"/>
          <p:cNvSpPr txBox="1"/>
          <p:nvPr/>
        </p:nvSpPr>
        <p:spPr>
          <a:xfrm>
            <a:off x="7251700" y="4411471"/>
            <a:ext cx="2032000" cy="150114"/>
          </a:xfrm>
          <a:prstGeom prst="rect">
            <a:avLst/>
          </a:prstGeom>
          <a:noFill/>
        </p:spPr>
        <p:txBody>
          <a:bodyPr wrap="square" lIns="0" rIns="0" tIns="0" bIns="0" anchor="ctr">
            <a:spAutoFit/>
          </a:bodyPr>
          <a:lstStyle/>
          <a:p>
            <a:pPr algn="l">
              <a:lnSpc>
                <a:spcPct val="118000"/>
              </a:lnSpc>
            </a:pPr>
            <a:r>
              <a:rPr sz="850" b="0" i="0">
                <a:solidFill>
                  <a:srgbClr val="24354F"/>
                </a:solidFill>
                <a:latin typeface="Calibri"/>
              </a:rPr>
              <a:t>reports, does not gate</a:t>
            </a:r>
          </a:p>
        </p:txBody>
      </p:sp>
      <p:sp>
        <p:nvSpPr>
          <p:cNvPr id="64" name="TextBox 63"/>
          <p:cNvSpPr txBox="1"/>
          <p:nvPr/>
        </p:nvSpPr>
        <p:spPr>
          <a:xfrm>
            <a:off x="9512300" y="4411471"/>
            <a:ext cx="1917700" cy="150114"/>
          </a:xfrm>
          <a:prstGeom prst="rect">
            <a:avLst/>
          </a:prstGeom>
          <a:noFill/>
        </p:spPr>
        <p:txBody>
          <a:bodyPr wrap="square" lIns="0" rIns="0" tIns="0" bIns="0" anchor="ctr">
            <a:spAutoFit/>
          </a:bodyPr>
          <a:lstStyle/>
          <a:p>
            <a:pPr algn="l">
              <a:lnSpc>
                <a:spcPct val="118000"/>
              </a:lnSpc>
            </a:pPr>
            <a:r>
              <a:rPr sz="850" b="0" i="0">
                <a:solidFill>
                  <a:srgbClr val="24354F"/>
                </a:solidFill>
                <a:latin typeface="Calibri"/>
              </a:rPr>
              <a:t>— evaluation</a:t>
            </a:r>
          </a:p>
        </p:txBody>
      </p:sp>
      <p:sp>
        <p:nvSpPr>
          <p:cNvPr id="65" name="Rectangle 64"/>
          <p:cNvSpPr/>
          <p:nvPr/>
        </p:nvSpPr>
        <p:spPr>
          <a:xfrm>
            <a:off x="635000" y="4650485"/>
            <a:ext cx="10909300" cy="327914"/>
          </a:xfrm>
          <a:prstGeom prst="rect">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635000" y="4650485"/>
            <a:ext cx="31750" cy="327914"/>
          </a:xfrm>
          <a:prstGeom prst="rect">
            <a:avLst/>
          </a:prstGeom>
          <a:solidFill>
            <a:srgbClr val="1F8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635000" y="4970779"/>
            <a:ext cx="10909300" cy="7620"/>
          </a:xfrm>
          <a:prstGeom prst="rect">
            <a:avLst/>
          </a:prstGeom>
          <a:solidFill>
            <a:srgbClr val="D5E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49300" y="4739385"/>
            <a:ext cx="1651000" cy="150114"/>
          </a:xfrm>
          <a:prstGeom prst="rect">
            <a:avLst/>
          </a:prstGeom>
          <a:noFill/>
        </p:spPr>
        <p:txBody>
          <a:bodyPr wrap="square" lIns="0" rIns="0" tIns="0" bIns="0" anchor="ctr">
            <a:spAutoFit/>
          </a:bodyPr>
          <a:lstStyle/>
          <a:p>
            <a:pPr algn="l">
              <a:lnSpc>
                <a:spcPct val="118000"/>
              </a:lnSpc>
            </a:pPr>
            <a:r>
              <a:rPr sz="850" b="1" i="0">
                <a:solidFill>
                  <a:srgbClr val="24354F"/>
                </a:solidFill>
                <a:latin typeface="Calibri"/>
              </a:rPr>
              <a:t>CALIBER</a:t>
            </a:r>
          </a:p>
        </p:txBody>
      </p:sp>
      <p:sp>
        <p:nvSpPr>
          <p:cNvPr id="69" name="TextBox 68"/>
          <p:cNvSpPr txBox="1"/>
          <p:nvPr/>
        </p:nvSpPr>
        <p:spPr>
          <a:xfrm>
            <a:off x="2628900" y="4739385"/>
            <a:ext cx="2260600" cy="150114"/>
          </a:xfrm>
          <a:prstGeom prst="rect">
            <a:avLst/>
          </a:prstGeom>
          <a:noFill/>
        </p:spPr>
        <p:txBody>
          <a:bodyPr wrap="square" lIns="0" rIns="0" tIns="0" bIns="0" anchor="ctr">
            <a:spAutoFit/>
          </a:bodyPr>
          <a:lstStyle/>
          <a:p>
            <a:pPr algn="l">
              <a:lnSpc>
                <a:spcPct val="118000"/>
              </a:lnSpc>
            </a:pPr>
            <a:r>
              <a:rPr sz="850" b="0" i="0">
                <a:solidFill>
                  <a:srgbClr val="24354F"/>
                </a:solidFill>
                <a:latin typeface="Calibri"/>
              </a:rPr>
              <a:t>the governed asset, across families</a:t>
            </a:r>
          </a:p>
        </p:txBody>
      </p:sp>
      <p:sp>
        <p:nvSpPr>
          <p:cNvPr id="70" name="TextBox 69"/>
          <p:cNvSpPr txBox="1"/>
          <p:nvPr/>
        </p:nvSpPr>
        <p:spPr>
          <a:xfrm>
            <a:off x="5118100" y="4739385"/>
            <a:ext cx="1905000" cy="150114"/>
          </a:xfrm>
          <a:prstGeom prst="rect">
            <a:avLst/>
          </a:prstGeom>
          <a:noFill/>
        </p:spPr>
        <p:txBody>
          <a:bodyPr wrap="square" lIns="0" rIns="0" tIns="0" bIns="0" anchor="ctr">
            <a:spAutoFit/>
          </a:bodyPr>
          <a:lstStyle/>
          <a:p>
            <a:pPr algn="l">
              <a:lnSpc>
                <a:spcPct val="118000"/>
              </a:lnSpc>
            </a:pPr>
            <a:r>
              <a:rPr sz="850" b="0" i="0">
                <a:solidFill>
                  <a:srgbClr val="24354F"/>
                </a:solidFill>
                <a:latin typeface="Calibri"/>
              </a:rPr>
              <a:t>yes, where the family supports one</a:t>
            </a:r>
          </a:p>
        </p:txBody>
      </p:sp>
      <p:sp>
        <p:nvSpPr>
          <p:cNvPr id="71" name="TextBox 70"/>
          <p:cNvSpPr txBox="1"/>
          <p:nvPr/>
        </p:nvSpPr>
        <p:spPr>
          <a:xfrm>
            <a:off x="7251700" y="4739385"/>
            <a:ext cx="2032000" cy="150114"/>
          </a:xfrm>
          <a:prstGeom prst="rect">
            <a:avLst/>
          </a:prstGeom>
          <a:noFill/>
        </p:spPr>
        <p:txBody>
          <a:bodyPr wrap="square" lIns="0" rIns="0" tIns="0" bIns="0" anchor="ctr">
            <a:spAutoFit/>
          </a:bodyPr>
          <a:lstStyle/>
          <a:p>
            <a:pPr algn="l">
              <a:lnSpc>
                <a:spcPct val="118000"/>
              </a:lnSpc>
            </a:pPr>
            <a:r>
              <a:rPr sz="850" b="0" i="0">
                <a:solidFill>
                  <a:srgbClr val="24354F"/>
                </a:solidFill>
                <a:latin typeface="Calibri"/>
              </a:rPr>
              <a:t>enforced on candidate advancement</a:t>
            </a:r>
          </a:p>
        </p:txBody>
      </p:sp>
      <p:sp>
        <p:nvSpPr>
          <p:cNvPr id="72" name="TextBox 71"/>
          <p:cNvSpPr txBox="1"/>
          <p:nvPr/>
        </p:nvSpPr>
        <p:spPr>
          <a:xfrm>
            <a:off x="9512300" y="4739385"/>
            <a:ext cx="1917700" cy="150114"/>
          </a:xfrm>
          <a:prstGeom prst="rect">
            <a:avLst/>
          </a:prstGeom>
          <a:noFill/>
        </p:spPr>
        <p:txBody>
          <a:bodyPr wrap="square" lIns="0" rIns="0" tIns="0" bIns="0" anchor="ctr">
            <a:spAutoFit/>
          </a:bodyPr>
          <a:lstStyle/>
          <a:p>
            <a:pPr algn="l">
              <a:lnSpc>
                <a:spcPct val="118000"/>
              </a:lnSpc>
            </a:pPr>
            <a:r>
              <a:rPr sz="850" b="0" i="0">
                <a:solidFill>
                  <a:srgbClr val="24354F"/>
                </a:solidFill>
                <a:latin typeface="Calibri"/>
              </a:rPr>
              <a:t>9 families</a:t>
            </a:r>
          </a:p>
        </p:txBody>
      </p:sp>
      <p:sp>
        <p:nvSpPr>
          <p:cNvPr id="73" name="Rounded Rectangle 72"/>
          <p:cNvSpPr/>
          <p:nvPr/>
        </p:nvSpPr>
        <p:spPr>
          <a:xfrm>
            <a:off x="635000" y="5156199"/>
            <a:ext cx="10909300" cy="909319"/>
          </a:xfrm>
          <a:prstGeom prst="roundRect">
            <a:avLst>
              <a:gd name="adj" fmla="val 12569"/>
            </a:avLst>
          </a:prstGeom>
          <a:solidFill>
            <a:srgbClr val="EAF1F7"/>
          </a:solidFill>
          <a:ln w="9525">
            <a:solidFill>
              <a:srgbClr val="D5E0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TextBox 73"/>
          <p:cNvSpPr txBox="1"/>
          <p:nvPr/>
        </p:nvSpPr>
        <p:spPr>
          <a:xfrm>
            <a:off x="889000" y="5295899"/>
            <a:ext cx="10401300" cy="177800"/>
          </a:xfrm>
          <a:prstGeom prst="rect">
            <a:avLst/>
          </a:prstGeom>
          <a:noFill/>
        </p:spPr>
        <p:txBody>
          <a:bodyPr wrap="square" lIns="0" rIns="0" tIns="0" bIns="0" anchor="t">
            <a:spAutoFit/>
          </a:bodyPr>
          <a:lstStyle/>
          <a:p>
            <a:pPr algn="l">
              <a:lnSpc>
                <a:spcPct val="122000"/>
              </a:lnSpc>
            </a:pPr>
            <a:r>
              <a:rPr sz="950" b="1" i="0">
                <a:solidFill>
                  <a:srgbClr val="0E1E3A"/>
                </a:solidFill>
                <a:latin typeface="Calibri"/>
              </a:rPr>
              <a:t>The honest reading</a:t>
            </a:r>
          </a:p>
        </p:txBody>
      </p:sp>
      <p:sp>
        <p:nvSpPr>
          <p:cNvPr id="75" name="TextBox 74"/>
          <p:cNvSpPr txBox="1"/>
          <p:nvPr/>
        </p:nvSpPr>
        <p:spPr>
          <a:xfrm>
            <a:off x="889000" y="5524499"/>
            <a:ext cx="10401300" cy="325120"/>
          </a:xfrm>
          <a:prstGeom prst="rect">
            <a:avLst/>
          </a:prstGeom>
          <a:noFill/>
        </p:spPr>
        <p:txBody>
          <a:bodyPr wrap="square" lIns="0" rIns="0" tIns="0" bIns="0" anchor="t">
            <a:spAutoFit/>
          </a:bodyPr>
          <a:lstStyle/>
          <a:p>
            <a:pPr algn="l">
              <a:lnSpc>
                <a:spcPct val="128000"/>
              </a:lnSpc>
            </a:pPr>
            <a:r>
              <a:rPr sz="1000" b="0" i="0">
                <a:solidFill>
                  <a:srgbClr val="24354F"/>
                </a:solidFill>
                <a:latin typeface="Calibri"/>
              </a:rPr>
              <a:t>All three prompt platforms link evaluations to prompts; none of their documentation describes a mechanism that makes a promotion fail because a score fell. In CALIBER the advancement gate is such a mechanism — inside the refinement state machine, and, as §12 concedes, only there.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E1E3A"/>
        </a:solidFill>
        <a:effectLst/>
      </p:bgPr>
    </p:bg>
    <p:spTree>
      <p:nvGrpSpPr>
        <p:cNvPr id="1" name=""/>
        <p:cNvGrpSpPr/>
        <p:nvPr/>
      </p:nvGrpSpPr>
      <p:grpSpPr/>
      <p:sp>
        <p:nvSpPr>
          <p:cNvPr id="2" name="TextBox 1"/>
          <p:cNvSpPr txBox="1"/>
          <p:nvPr/>
        </p:nvSpPr>
        <p:spPr>
          <a:xfrm>
            <a:off x="635000" y="6337300"/>
            <a:ext cx="6096000" cy="254000"/>
          </a:xfrm>
          <a:prstGeom prst="rect">
            <a:avLst/>
          </a:prstGeom>
          <a:noFill/>
        </p:spPr>
        <p:txBody>
          <a:bodyPr wrap="square" lIns="0" rIns="0" tIns="0" bIns="0" anchor="t">
            <a:spAutoFit/>
          </a:bodyPr>
          <a:lstStyle/>
          <a:p>
            <a:pPr algn="l">
              <a:lnSpc>
                <a:spcPct val="122000"/>
              </a:lnSpc>
            </a:pPr>
            <a:r>
              <a:rPr sz="900" b="0" i="0">
                <a:solidFill>
                  <a:srgbClr val="43597C"/>
                </a:solidFill>
                <a:latin typeface="Calibri"/>
              </a:rPr>
              <a:t>CALIBER  ·  A Layered Control Plane for Governed Releases of AI-Agent Resources</a:t>
            </a:r>
          </a:p>
        </p:txBody>
      </p:sp>
      <p:sp>
        <p:nvSpPr>
          <p:cNvPr id="3" name="TextBox 2"/>
          <p:cNvSpPr txBox="1"/>
          <p:nvPr/>
        </p:nvSpPr>
        <p:spPr>
          <a:xfrm>
            <a:off x="10629900" y="6337300"/>
            <a:ext cx="914400" cy="254000"/>
          </a:xfrm>
          <a:prstGeom prst="rect">
            <a:avLst/>
          </a:prstGeom>
          <a:noFill/>
        </p:spPr>
        <p:txBody>
          <a:bodyPr wrap="square" lIns="0" rIns="0" tIns="0" bIns="0" anchor="t">
            <a:spAutoFit/>
          </a:bodyPr>
          <a:lstStyle/>
          <a:p>
            <a:pPr algn="r">
              <a:lnSpc>
                <a:spcPct val="122000"/>
              </a:lnSpc>
            </a:pPr>
            <a:r>
              <a:rPr sz="900" b="0" i="0">
                <a:solidFill>
                  <a:srgbClr val="43597C"/>
                </a:solidFill>
                <a:latin typeface="Calibri"/>
              </a:rPr>
              <a:t>5</a:t>
            </a:r>
          </a:p>
        </p:txBody>
      </p:sp>
      <p:sp>
        <p:nvSpPr>
          <p:cNvPr id="4" name="Oval 3"/>
          <p:cNvSpPr/>
          <p:nvPr/>
        </p:nvSpPr>
        <p:spPr>
          <a:xfrm>
            <a:off x="9321800" y="914400"/>
            <a:ext cx="5118100" cy="5118100"/>
          </a:xfrm>
          <a:prstGeom prst="ellipse">
            <a:avLst/>
          </a:prstGeom>
          <a:solidFill>
            <a:srgbClr val="1A3563"/>
          </a:solidFill>
          <a:ln w="12700">
            <a:solidFill>
              <a:srgbClr val="1A35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604500" y="2184400"/>
            <a:ext cx="2552700" cy="2552700"/>
          </a:xfrm>
          <a:prstGeom prst="ellipse">
            <a:avLst/>
          </a:prstGeom>
          <a:solidFill>
            <a:srgbClr val="1F8A99"/>
          </a:solidFill>
          <a:ln w="12700">
            <a:solidFill>
              <a:srgbClr val="1F8A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379200" y="2959100"/>
            <a:ext cx="1003300" cy="1003300"/>
          </a:xfrm>
          <a:prstGeom prst="ellipse">
            <a:avLst/>
          </a:prstGeom>
          <a:solidFill>
            <a:srgbClr val="56B3BE"/>
          </a:solidFill>
          <a:ln w="12700">
            <a:solidFill>
              <a:srgbClr val="56B3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5000" y="2146300"/>
            <a:ext cx="1651000" cy="1371600"/>
          </a:xfrm>
          <a:prstGeom prst="rect">
            <a:avLst/>
          </a:prstGeom>
          <a:noFill/>
        </p:spPr>
        <p:txBody>
          <a:bodyPr wrap="square" lIns="0" rIns="0" tIns="0" bIns="0" anchor="t">
            <a:spAutoFit/>
          </a:bodyPr>
          <a:lstStyle/>
          <a:p>
            <a:pPr algn="l">
              <a:lnSpc>
                <a:spcPct val="100000"/>
              </a:lnSpc>
            </a:pPr>
            <a:r>
              <a:rPr sz="7600" b="1" i="0">
                <a:solidFill>
                  <a:srgbClr val="56B3BE"/>
                </a:solidFill>
                <a:latin typeface="Calibri"/>
              </a:rPr>
              <a:t>I</a:t>
            </a:r>
          </a:p>
        </p:txBody>
      </p:sp>
      <p:sp>
        <p:nvSpPr>
          <p:cNvPr id="8" name="TextBox 7"/>
          <p:cNvSpPr txBox="1"/>
          <p:nvPr/>
        </p:nvSpPr>
        <p:spPr>
          <a:xfrm>
            <a:off x="2362200" y="2286000"/>
            <a:ext cx="6350000" cy="685800"/>
          </a:xfrm>
          <a:prstGeom prst="rect">
            <a:avLst/>
          </a:prstGeom>
          <a:noFill/>
        </p:spPr>
        <p:txBody>
          <a:bodyPr wrap="square" lIns="0" rIns="0" tIns="0" bIns="0" anchor="t">
            <a:spAutoFit/>
          </a:bodyPr>
          <a:lstStyle/>
          <a:p>
            <a:pPr algn="l">
              <a:lnSpc>
                <a:spcPct val="105000"/>
              </a:lnSpc>
            </a:pPr>
            <a:r>
              <a:rPr sz="3400" b="1" i="0">
                <a:solidFill>
                  <a:srgbClr val="FFFFFF"/>
                </a:solidFill>
                <a:latin typeface="Calibri"/>
              </a:rPr>
              <a:t>The abstraction</a:t>
            </a:r>
          </a:p>
        </p:txBody>
      </p:sp>
      <p:sp>
        <p:nvSpPr>
          <p:cNvPr id="9" name="TextBox 8"/>
          <p:cNvSpPr txBox="1"/>
          <p:nvPr/>
        </p:nvSpPr>
        <p:spPr>
          <a:xfrm>
            <a:off x="2387600" y="3048000"/>
            <a:ext cx="6350000" cy="762000"/>
          </a:xfrm>
          <a:prstGeom prst="rect">
            <a:avLst/>
          </a:prstGeom>
          <a:noFill/>
        </p:spPr>
        <p:txBody>
          <a:bodyPr wrap="square" lIns="0" rIns="0" tIns="0" bIns="0" anchor="t">
            <a:spAutoFit/>
          </a:bodyPr>
          <a:lstStyle/>
          <a:p>
            <a:pPr algn="l">
              <a:lnSpc>
                <a:spcPct val="132000"/>
              </a:lnSpc>
            </a:pPr>
            <a:r>
              <a:rPr sz="1350" b="0" i="0">
                <a:solidFill>
                  <a:srgbClr val="9BD0D6"/>
                </a:solidFill>
                <a:latin typeface="Calibri"/>
              </a:rPr>
              <a:t>The governed asset, six lifecycle modes, the governance chain, and the six-layer factoring that carries them.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35000" y="6337300"/>
            <a:ext cx="6096000" cy="254000"/>
          </a:xfrm>
          <a:prstGeom prst="rect">
            <a:avLst/>
          </a:prstGeom>
          <a:noFill/>
        </p:spPr>
        <p:txBody>
          <a:bodyPr wrap="square" lIns="0" rIns="0" tIns="0" bIns="0" anchor="t">
            <a:spAutoFit/>
          </a:bodyPr>
          <a:lstStyle/>
          <a:p>
            <a:pPr algn="l">
              <a:lnSpc>
                <a:spcPct val="122000"/>
              </a:lnSpc>
            </a:pPr>
            <a:r>
              <a:rPr sz="900" b="0" i="0">
                <a:solidFill>
                  <a:srgbClr val="A3B2C4"/>
                </a:solidFill>
                <a:latin typeface="Calibri"/>
              </a:rPr>
              <a:t>CALIBER  ·  A Layered Control Plane for Governed Releases of AI-Agent Resources</a:t>
            </a:r>
          </a:p>
        </p:txBody>
      </p:sp>
      <p:sp>
        <p:nvSpPr>
          <p:cNvPr id="3" name="TextBox 2"/>
          <p:cNvSpPr txBox="1"/>
          <p:nvPr/>
        </p:nvSpPr>
        <p:spPr>
          <a:xfrm>
            <a:off x="10629900" y="6337300"/>
            <a:ext cx="914400" cy="254000"/>
          </a:xfrm>
          <a:prstGeom prst="rect">
            <a:avLst/>
          </a:prstGeom>
          <a:noFill/>
        </p:spPr>
        <p:txBody>
          <a:bodyPr wrap="square" lIns="0" rIns="0" tIns="0" bIns="0" anchor="t">
            <a:spAutoFit/>
          </a:bodyPr>
          <a:lstStyle/>
          <a:p>
            <a:pPr algn="r">
              <a:lnSpc>
                <a:spcPct val="122000"/>
              </a:lnSpc>
            </a:pPr>
            <a:r>
              <a:rPr sz="900" b="0" i="0">
                <a:solidFill>
                  <a:srgbClr val="A3B2C4"/>
                </a:solidFill>
                <a:latin typeface="Calibri"/>
              </a:rPr>
              <a:t>6</a:t>
            </a:r>
          </a:p>
        </p:txBody>
      </p:sp>
      <p:sp>
        <p:nvSpPr>
          <p:cNvPr id="4" name="TextBox 3"/>
          <p:cNvSpPr txBox="1"/>
          <p:nvPr/>
        </p:nvSpPr>
        <p:spPr>
          <a:xfrm>
            <a:off x="635000" y="381000"/>
            <a:ext cx="10909300" cy="228600"/>
          </a:xfrm>
          <a:prstGeom prst="rect">
            <a:avLst/>
          </a:prstGeom>
          <a:noFill/>
        </p:spPr>
        <p:txBody>
          <a:bodyPr wrap="square" lIns="0" rIns="0" tIns="0" bIns="0" anchor="t">
            <a:spAutoFit/>
          </a:bodyPr>
          <a:lstStyle/>
          <a:p>
            <a:pPr algn="l">
              <a:lnSpc>
                <a:spcPct val="122000"/>
              </a:lnSpc>
            </a:pPr>
            <a:r>
              <a:rPr sz="1050" b="1" i="0">
                <a:solidFill>
                  <a:srgbClr val="1F8A99"/>
                </a:solidFill>
                <a:latin typeface="Calibri"/>
              </a:rPr>
              <a:t>The abstraction  ·  §4.1</a:t>
            </a:r>
          </a:p>
        </p:txBody>
      </p:sp>
      <p:sp>
        <p:nvSpPr>
          <p:cNvPr id="5" name="TextBox 4"/>
          <p:cNvSpPr txBox="1"/>
          <p:nvPr/>
        </p:nvSpPr>
        <p:spPr>
          <a:xfrm>
            <a:off x="635000" y="647700"/>
            <a:ext cx="10909300" cy="495300"/>
          </a:xfrm>
          <a:prstGeom prst="rect">
            <a:avLst/>
          </a:prstGeom>
          <a:noFill/>
        </p:spPr>
        <p:txBody>
          <a:bodyPr wrap="square" lIns="0" rIns="0" tIns="0" bIns="0" anchor="t">
            <a:spAutoFit/>
          </a:bodyPr>
          <a:lstStyle/>
          <a:p>
            <a:pPr algn="l">
              <a:lnSpc>
                <a:spcPct val="108000"/>
              </a:lnSpc>
            </a:pPr>
            <a:r>
              <a:rPr sz="2600" b="1" i="0">
                <a:solidFill>
                  <a:srgbClr val="0E1E3A"/>
                </a:solidFill>
                <a:latin typeface="Calibri"/>
              </a:rPr>
              <a:t>The governed asset: twelve facets, four of them universal</a:t>
            </a:r>
          </a:p>
        </p:txBody>
      </p:sp>
      <p:sp>
        <p:nvSpPr>
          <p:cNvPr id="6" name="TextBox 5"/>
          <p:cNvSpPr txBox="1"/>
          <p:nvPr/>
        </p:nvSpPr>
        <p:spPr>
          <a:xfrm>
            <a:off x="635000" y="1168400"/>
            <a:ext cx="10909300" cy="431800"/>
          </a:xfrm>
          <a:prstGeom prst="rect">
            <a:avLst/>
          </a:prstGeom>
          <a:noFill/>
        </p:spPr>
        <p:txBody>
          <a:bodyPr wrap="square" lIns="0" rIns="0" tIns="0" bIns="0" anchor="t">
            <a:spAutoFit/>
          </a:bodyPr>
          <a:lstStyle/>
          <a:p>
            <a:pPr algn="l">
              <a:lnSpc>
                <a:spcPct val="130000"/>
              </a:lnSpc>
            </a:pPr>
            <a:r>
              <a:rPr sz="1250" b="0" i="0">
                <a:solidFill>
                  <a:srgbClr val="24354F"/>
                </a:solidFill>
                <a:latin typeface="Calibri"/>
              </a:rPr>
              <a:t>The unit of value is a typed record carrying enough metadata that a change to it is reviewable after the fact. Four facets hold for every family.</a:t>
            </a:r>
          </a:p>
        </p:txBody>
      </p:sp>
      <p:sp>
        <p:nvSpPr>
          <p:cNvPr id="7" name="Rounded Rectangle 6"/>
          <p:cNvSpPr/>
          <p:nvPr/>
        </p:nvSpPr>
        <p:spPr>
          <a:xfrm>
            <a:off x="635000" y="1701800"/>
            <a:ext cx="2603500" cy="1128268"/>
          </a:xfrm>
          <a:prstGeom prst="roundRect">
            <a:avLst>
              <a:gd name="adj" fmla="val 10130"/>
            </a:avLst>
          </a:prstGeom>
          <a:solidFill>
            <a:srgbClr val="E8F4F5"/>
          </a:solidFill>
          <a:ln w="9525">
            <a:solidFill>
              <a:srgbClr val="CFE4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76300" y="1892300"/>
            <a:ext cx="2120900" cy="170688"/>
          </a:xfrm>
          <a:prstGeom prst="rect">
            <a:avLst/>
          </a:prstGeom>
          <a:noFill/>
        </p:spPr>
        <p:txBody>
          <a:bodyPr wrap="square" lIns="0" rIns="0" tIns="0" bIns="0" anchor="t">
            <a:spAutoFit/>
          </a:bodyPr>
          <a:lstStyle/>
          <a:p>
            <a:pPr algn="l">
              <a:lnSpc>
                <a:spcPct val="112000"/>
              </a:lnSpc>
            </a:pPr>
            <a:r>
              <a:rPr sz="1200" b="1" i="0">
                <a:solidFill>
                  <a:srgbClr val="1F8A99"/>
                </a:solidFill>
                <a:latin typeface="Calibri"/>
              </a:rPr>
              <a:t>Typed definition</a:t>
            </a:r>
          </a:p>
        </p:txBody>
      </p:sp>
      <p:sp>
        <p:nvSpPr>
          <p:cNvPr id="9" name="TextBox 8"/>
          <p:cNvSpPr txBox="1"/>
          <p:nvPr/>
        </p:nvSpPr>
        <p:spPr>
          <a:xfrm>
            <a:off x="876300" y="2151888"/>
            <a:ext cx="2120900" cy="487680"/>
          </a:xfrm>
          <a:prstGeom prst="rect">
            <a:avLst/>
          </a:prstGeom>
          <a:noFill/>
        </p:spPr>
        <p:txBody>
          <a:bodyPr wrap="square" lIns="0" rIns="0" tIns="0" bIns="0" anchor="t">
            <a:spAutoFit/>
          </a:bodyPr>
          <a:lstStyle/>
          <a:p>
            <a:pPr algn="l">
              <a:lnSpc>
                <a:spcPct val="128000"/>
              </a:lnSpc>
            </a:pPr>
            <a:r>
              <a:rPr sz="1000" b="0" i="0">
                <a:solidFill>
                  <a:srgbClr val="24354F"/>
                </a:solidFill>
                <a:latin typeface="Calibri"/>
              </a:rPr>
              <a:t>A schema-validated specification that is the source of truth for the asset, not a rendering of it.</a:t>
            </a:r>
          </a:p>
        </p:txBody>
      </p:sp>
      <p:sp>
        <p:nvSpPr>
          <p:cNvPr id="10" name="Rounded Rectangle 9"/>
          <p:cNvSpPr/>
          <p:nvPr/>
        </p:nvSpPr>
        <p:spPr>
          <a:xfrm>
            <a:off x="3403600" y="1701800"/>
            <a:ext cx="2603500" cy="1128268"/>
          </a:xfrm>
          <a:prstGeom prst="roundRect">
            <a:avLst>
              <a:gd name="adj" fmla="val 10130"/>
            </a:avLst>
          </a:prstGeom>
          <a:solidFill>
            <a:srgbClr val="E8F4F5"/>
          </a:solidFill>
          <a:ln w="9525">
            <a:solidFill>
              <a:srgbClr val="CFE4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3644900" y="1892300"/>
            <a:ext cx="2120900" cy="170688"/>
          </a:xfrm>
          <a:prstGeom prst="rect">
            <a:avLst/>
          </a:prstGeom>
          <a:noFill/>
        </p:spPr>
        <p:txBody>
          <a:bodyPr wrap="square" lIns="0" rIns="0" tIns="0" bIns="0" anchor="t">
            <a:spAutoFit/>
          </a:bodyPr>
          <a:lstStyle/>
          <a:p>
            <a:pPr algn="l">
              <a:lnSpc>
                <a:spcPct val="112000"/>
              </a:lnSpc>
            </a:pPr>
            <a:r>
              <a:rPr sz="1200" b="1" i="0">
                <a:solidFill>
                  <a:srgbClr val="1F8A99"/>
                </a:solidFill>
                <a:latin typeface="Calibri"/>
              </a:rPr>
              <a:t>Version history</a:t>
            </a:r>
          </a:p>
        </p:txBody>
      </p:sp>
      <p:sp>
        <p:nvSpPr>
          <p:cNvPr id="12" name="TextBox 11"/>
          <p:cNvSpPr txBox="1"/>
          <p:nvPr/>
        </p:nvSpPr>
        <p:spPr>
          <a:xfrm>
            <a:off x="3644900" y="2151888"/>
            <a:ext cx="2120900" cy="325120"/>
          </a:xfrm>
          <a:prstGeom prst="rect">
            <a:avLst/>
          </a:prstGeom>
          <a:noFill/>
        </p:spPr>
        <p:txBody>
          <a:bodyPr wrap="square" lIns="0" rIns="0" tIns="0" bIns="0" anchor="t">
            <a:spAutoFit/>
          </a:bodyPr>
          <a:lstStyle/>
          <a:p>
            <a:pPr algn="l">
              <a:lnSpc>
                <a:spcPct val="128000"/>
              </a:lnSpc>
            </a:pPr>
            <a:r>
              <a:rPr sz="1000" b="0" i="0">
                <a:solidFill>
                  <a:srgbClr val="24354F"/>
                </a:solidFill>
                <a:latin typeface="Calibri"/>
              </a:rPr>
              <a:t>Immutable snapshots, or immutable registry versions held externally.</a:t>
            </a:r>
          </a:p>
        </p:txBody>
      </p:sp>
      <p:sp>
        <p:nvSpPr>
          <p:cNvPr id="13" name="Rounded Rectangle 12"/>
          <p:cNvSpPr/>
          <p:nvPr/>
        </p:nvSpPr>
        <p:spPr>
          <a:xfrm>
            <a:off x="6172200" y="1701800"/>
            <a:ext cx="2603500" cy="1128268"/>
          </a:xfrm>
          <a:prstGeom prst="roundRect">
            <a:avLst>
              <a:gd name="adj" fmla="val 10130"/>
            </a:avLst>
          </a:prstGeom>
          <a:solidFill>
            <a:srgbClr val="E8F4F5"/>
          </a:solidFill>
          <a:ln w="9525">
            <a:solidFill>
              <a:srgbClr val="CFE4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13500" y="1892300"/>
            <a:ext cx="2120900" cy="170688"/>
          </a:xfrm>
          <a:prstGeom prst="rect">
            <a:avLst/>
          </a:prstGeom>
          <a:noFill/>
        </p:spPr>
        <p:txBody>
          <a:bodyPr wrap="square" lIns="0" rIns="0" tIns="0" bIns="0" anchor="t">
            <a:spAutoFit/>
          </a:bodyPr>
          <a:lstStyle/>
          <a:p>
            <a:pPr algn="l">
              <a:lnSpc>
                <a:spcPct val="112000"/>
              </a:lnSpc>
            </a:pPr>
            <a:r>
              <a:rPr sz="1200" b="1" i="0">
                <a:solidFill>
                  <a:srgbClr val="1F8A99"/>
                </a:solidFill>
                <a:latin typeface="Calibri"/>
              </a:rPr>
              <a:t>Authority model</a:t>
            </a:r>
          </a:p>
        </p:txBody>
      </p:sp>
      <p:sp>
        <p:nvSpPr>
          <p:cNvPr id="15" name="TextBox 14"/>
          <p:cNvSpPr txBox="1"/>
          <p:nvPr/>
        </p:nvSpPr>
        <p:spPr>
          <a:xfrm>
            <a:off x="6413500" y="2151888"/>
            <a:ext cx="2120900" cy="325120"/>
          </a:xfrm>
          <a:prstGeom prst="rect">
            <a:avLst/>
          </a:prstGeom>
          <a:noFill/>
        </p:spPr>
        <p:txBody>
          <a:bodyPr wrap="square" lIns="0" rIns="0" tIns="0" bIns="0" anchor="t">
            <a:spAutoFit/>
          </a:bodyPr>
          <a:lstStyle/>
          <a:p>
            <a:pPr algn="l">
              <a:lnSpc>
                <a:spcPct val="128000"/>
              </a:lnSpc>
            </a:pPr>
            <a:r>
              <a:rPr sz="1000" b="0" i="0">
                <a:solidFill>
                  <a:srgbClr val="24354F"/>
                </a:solidFill>
                <a:latin typeface="Calibri"/>
              </a:rPr>
              <a:t>Which of the four RBAC scopes may read, mutate, and release it.</a:t>
            </a:r>
          </a:p>
        </p:txBody>
      </p:sp>
      <p:sp>
        <p:nvSpPr>
          <p:cNvPr id="16" name="Rounded Rectangle 15"/>
          <p:cNvSpPr/>
          <p:nvPr/>
        </p:nvSpPr>
        <p:spPr>
          <a:xfrm>
            <a:off x="8940800" y="1701800"/>
            <a:ext cx="2603500" cy="1128268"/>
          </a:xfrm>
          <a:prstGeom prst="roundRect">
            <a:avLst>
              <a:gd name="adj" fmla="val 10130"/>
            </a:avLst>
          </a:prstGeom>
          <a:solidFill>
            <a:srgbClr val="E8F4F5"/>
          </a:solidFill>
          <a:ln w="9525">
            <a:solidFill>
              <a:srgbClr val="CFE4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182100" y="1892300"/>
            <a:ext cx="2120900" cy="170688"/>
          </a:xfrm>
          <a:prstGeom prst="rect">
            <a:avLst/>
          </a:prstGeom>
          <a:noFill/>
        </p:spPr>
        <p:txBody>
          <a:bodyPr wrap="square" lIns="0" rIns="0" tIns="0" bIns="0" anchor="t">
            <a:spAutoFit/>
          </a:bodyPr>
          <a:lstStyle/>
          <a:p>
            <a:pPr algn="l">
              <a:lnSpc>
                <a:spcPct val="112000"/>
              </a:lnSpc>
            </a:pPr>
            <a:r>
              <a:rPr sz="1200" b="1" i="0">
                <a:solidFill>
                  <a:srgbClr val="1F8A99"/>
                </a:solidFill>
                <a:latin typeface="Calibri"/>
              </a:rPr>
              <a:t>Trace and audit trail</a:t>
            </a:r>
          </a:p>
        </p:txBody>
      </p:sp>
      <p:sp>
        <p:nvSpPr>
          <p:cNvPr id="18" name="TextBox 17"/>
          <p:cNvSpPr txBox="1"/>
          <p:nvPr/>
        </p:nvSpPr>
        <p:spPr>
          <a:xfrm>
            <a:off x="9182100" y="2151888"/>
            <a:ext cx="2120900" cy="325120"/>
          </a:xfrm>
          <a:prstGeom prst="rect">
            <a:avLst/>
          </a:prstGeom>
          <a:noFill/>
        </p:spPr>
        <p:txBody>
          <a:bodyPr wrap="square" lIns="0" rIns="0" tIns="0" bIns="0" anchor="t">
            <a:spAutoFit/>
          </a:bodyPr>
          <a:lstStyle/>
          <a:p>
            <a:pPr algn="l">
              <a:lnSpc>
                <a:spcPct val="128000"/>
              </a:lnSpc>
            </a:pPr>
            <a:r>
              <a:rPr sz="1000" b="0" i="0">
                <a:solidFill>
                  <a:srgbClr val="24354F"/>
                </a:solidFill>
                <a:latin typeface="Calibri"/>
              </a:rPr>
              <a:t>The durable record of what was done to it, and by whom.</a:t>
            </a:r>
          </a:p>
        </p:txBody>
      </p:sp>
      <p:sp>
        <p:nvSpPr>
          <p:cNvPr id="19" name="TextBox 18"/>
          <p:cNvSpPr txBox="1"/>
          <p:nvPr/>
        </p:nvSpPr>
        <p:spPr>
          <a:xfrm>
            <a:off x="635000" y="2982468"/>
            <a:ext cx="10909300" cy="190500"/>
          </a:xfrm>
          <a:prstGeom prst="rect">
            <a:avLst/>
          </a:prstGeom>
          <a:noFill/>
        </p:spPr>
        <p:txBody>
          <a:bodyPr wrap="square" lIns="0" rIns="0" tIns="0" bIns="0" anchor="t">
            <a:spAutoFit/>
          </a:bodyPr>
          <a:lstStyle/>
          <a:p>
            <a:pPr algn="l">
              <a:lnSpc>
                <a:spcPct val="122000"/>
              </a:lnSpc>
            </a:pPr>
            <a:r>
              <a:rPr sz="950" b="1" i="0">
                <a:solidFill>
                  <a:srgbClr val="5A6B84"/>
                </a:solidFill>
                <a:latin typeface="Calibri"/>
              </a:rPr>
              <a:t>The other eight facets are family-specific — and that asymmetry is §5</a:t>
            </a:r>
          </a:p>
        </p:txBody>
      </p:sp>
      <p:sp>
        <p:nvSpPr>
          <p:cNvPr id="20" name="Rounded Rectangle 19"/>
          <p:cNvSpPr/>
          <p:nvPr/>
        </p:nvSpPr>
        <p:spPr>
          <a:xfrm>
            <a:off x="635000" y="3236468"/>
            <a:ext cx="1263650" cy="381000"/>
          </a:xfrm>
          <a:prstGeom prst="roundRect">
            <a:avLst>
              <a:gd name="adj" fmla="val 30000"/>
            </a:avLst>
          </a:prstGeom>
          <a:solidFill>
            <a:srgbClr val="F5F9FC"/>
          </a:solidFill>
          <a:ln w="9525">
            <a:solidFill>
              <a:srgbClr val="E4ED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11200" y="3338068"/>
            <a:ext cx="1111250" cy="203200"/>
          </a:xfrm>
          <a:prstGeom prst="rect">
            <a:avLst/>
          </a:prstGeom>
          <a:noFill/>
        </p:spPr>
        <p:txBody>
          <a:bodyPr wrap="square" lIns="0" rIns="0" tIns="0" bIns="0" anchor="t">
            <a:spAutoFit/>
          </a:bodyPr>
          <a:lstStyle/>
          <a:p>
            <a:pPr algn="ctr">
              <a:lnSpc>
                <a:spcPct val="122000"/>
              </a:lnSpc>
            </a:pPr>
            <a:r>
              <a:rPr sz="950" b="1" i="0">
                <a:solidFill>
                  <a:srgbClr val="24354F"/>
                </a:solidFill>
                <a:latin typeface="Calibri"/>
              </a:rPr>
              <a:t>Live target</a:t>
            </a:r>
          </a:p>
        </p:txBody>
      </p:sp>
      <p:sp>
        <p:nvSpPr>
          <p:cNvPr id="22" name="Rounded Rectangle 21"/>
          <p:cNvSpPr/>
          <p:nvPr/>
        </p:nvSpPr>
        <p:spPr>
          <a:xfrm>
            <a:off x="2012950" y="3236468"/>
            <a:ext cx="1263650" cy="381000"/>
          </a:xfrm>
          <a:prstGeom prst="roundRect">
            <a:avLst>
              <a:gd name="adj" fmla="val 30000"/>
            </a:avLst>
          </a:prstGeom>
          <a:solidFill>
            <a:srgbClr val="F5F9FC"/>
          </a:solidFill>
          <a:ln w="9525">
            <a:solidFill>
              <a:srgbClr val="E4ED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2089150" y="3338068"/>
            <a:ext cx="1111250" cy="203200"/>
          </a:xfrm>
          <a:prstGeom prst="rect">
            <a:avLst/>
          </a:prstGeom>
          <a:noFill/>
        </p:spPr>
        <p:txBody>
          <a:bodyPr wrap="square" lIns="0" rIns="0" tIns="0" bIns="0" anchor="t">
            <a:spAutoFit/>
          </a:bodyPr>
          <a:lstStyle/>
          <a:p>
            <a:pPr algn="ctr">
              <a:lnSpc>
                <a:spcPct val="122000"/>
              </a:lnSpc>
            </a:pPr>
            <a:r>
              <a:rPr sz="950" b="1" i="0">
                <a:solidFill>
                  <a:srgbClr val="24354F"/>
                </a:solidFill>
                <a:latin typeface="Calibri"/>
              </a:rPr>
              <a:t>Test surface</a:t>
            </a:r>
          </a:p>
        </p:txBody>
      </p:sp>
      <p:sp>
        <p:nvSpPr>
          <p:cNvPr id="24" name="Rounded Rectangle 23"/>
          <p:cNvSpPr/>
          <p:nvPr/>
        </p:nvSpPr>
        <p:spPr>
          <a:xfrm>
            <a:off x="3390900" y="3236468"/>
            <a:ext cx="1263650" cy="381000"/>
          </a:xfrm>
          <a:prstGeom prst="roundRect">
            <a:avLst>
              <a:gd name="adj" fmla="val 30000"/>
            </a:avLst>
          </a:prstGeom>
          <a:solidFill>
            <a:srgbClr val="F5F9FC"/>
          </a:solidFill>
          <a:ln w="9525">
            <a:solidFill>
              <a:srgbClr val="E4ED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3467100" y="3338068"/>
            <a:ext cx="1111250" cy="203200"/>
          </a:xfrm>
          <a:prstGeom prst="rect">
            <a:avLst/>
          </a:prstGeom>
          <a:noFill/>
        </p:spPr>
        <p:txBody>
          <a:bodyPr wrap="square" lIns="0" rIns="0" tIns="0" bIns="0" anchor="t">
            <a:spAutoFit/>
          </a:bodyPr>
          <a:lstStyle/>
          <a:p>
            <a:pPr algn="ctr">
              <a:lnSpc>
                <a:spcPct val="122000"/>
              </a:lnSpc>
            </a:pPr>
            <a:r>
              <a:rPr sz="950" b="1" i="0">
                <a:solidFill>
                  <a:srgbClr val="24354F"/>
                </a:solidFill>
                <a:latin typeface="Calibri"/>
              </a:rPr>
              <a:t>Evidence base</a:t>
            </a:r>
          </a:p>
        </p:txBody>
      </p:sp>
      <p:sp>
        <p:nvSpPr>
          <p:cNvPr id="26" name="Rounded Rectangle 25"/>
          <p:cNvSpPr/>
          <p:nvPr/>
        </p:nvSpPr>
        <p:spPr>
          <a:xfrm>
            <a:off x="4768850" y="3236468"/>
            <a:ext cx="1263650" cy="381000"/>
          </a:xfrm>
          <a:prstGeom prst="roundRect">
            <a:avLst>
              <a:gd name="adj" fmla="val 30000"/>
            </a:avLst>
          </a:prstGeom>
          <a:solidFill>
            <a:srgbClr val="F5F9FC"/>
          </a:solidFill>
          <a:ln w="9525">
            <a:solidFill>
              <a:srgbClr val="E4ED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845050" y="3338068"/>
            <a:ext cx="1111250" cy="203200"/>
          </a:xfrm>
          <a:prstGeom prst="rect">
            <a:avLst/>
          </a:prstGeom>
          <a:noFill/>
        </p:spPr>
        <p:txBody>
          <a:bodyPr wrap="square" lIns="0" rIns="0" tIns="0" bIns="0" anchor="t">
            <a:spAutoFit/>
          </a:bodyPr>
          <a:lstStyle/>
          <a:p>
            <a:pPr algn="ctr">
              <a:lnSpc>
                <a:spcPct val="122000"/>
              </a:lnSpc>
            </a:pPr>
            <a:r>
              <a:rPr sz="950" b="1" i="0">
                <a:solidFill>
                  <a:srgbClr val="24354F"/>
                </a:solidFill>
                <a:latin typeface="Calibri"/>
              </a:rPr>
              <a:t>Evaluation</a:t>
            </a:r>
          </a:p>
        </p:txBody>
      </p:sp>
      <p:sp>
        <p:nvSpPr>
          <p:cNvPr id="28" name="Rounded Rectangle 27"/>
          <p:cNvSpPr/>
          <p:nvPr/>
        </p:nvSpPr>
        <p:spPr>
          <a:xfrm>
            <a:off x="6146800" y="3236468"/>
            <a:ext cx="1263650" cy="381000"/>
          </a:xfrm>
          <a:prstGeom prst="roundRect">
            <a:avLst>
              <a:gd name="adj" fmla="val 30000"/>
            </a:avLst>
          </a:prstGeom>
          <a:solidFill>
            <a:srgbClr val="F5F9FC"/>
          </a:solidFill>
          <a:ln w="9525">
            <a:solidFill>
              <a:srgbClr val="E4ED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223000" y="3338068"/>
            <a:ext cx="1111250" cy="203200"/>
          </a:xfrm>
          <a:prstGeom prst="rect">
            <a:avLst/>
          </a:prstGeom>
          <a:noFill/>
        </p:spPr>
        <p:txBody>
          <a:bodyPr wrap="square" lIns="0" rIns="0" tIns="0" bIns="0" anchor="t">
            <a:spAutoFit/>
          </a:bodyPr>
          <a:lstStyle/>
          <a:p>
            <a:pPr algn="ctr">
              <a:lnSpc>
                <a:spcPct val="122000"/>
              </a:lnSpc>
            </a:pPr>
            <a:r>
              <a:rPr sz="950" b="1" i="0">
                <a:solidFill>
                  <a:srgbClr val="24354F"/>
                </a:solidFill>
                <a:latin typeface="Calibri"/>
              </a:rPr>
              <a:t>Gate semantics</a:t>
            </a:r>
          </a:p>
        </p:txBody>
      </p:sp>
      <p:sp>
        <p:nvSpPr>
          <p:cNvPr id="30" name="Rounded Rectangle 29"/>
          <p:cNvSpPr/>
          <p:nvPr/>
        </p:nvSpPr>
        <p:spPr>
          <a:xfrm>
            <a:off x="7524750" y="3236468"/>
            <a:ext cx="1263650" cy="381000"/>
          </a:xfrm>
          <a:prstGeom prst="roundRect">
            <a:avLst>
              <a:gd name="adj" fmla="val 30000"/>
            </a:avLst>
          </a:prstGeom>
          <a:solidFill>
            <a:srgbClr val="F5F9FC"/>
          </a:solidFill>
          <a:ln w="9525">
            <a:solidFill>
              <a:srgbClr val="E4ED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600950" y="3338068"/>
            <a:ext cx="1111250" cy="203200"/>
          </a:xfrm>
          <a:prstGeom prst="rect">
            <a:avLst/>
          </a:prstGeom>
          <a:noFill/>
        </p:spPr>
        <p:txBody>
          <a:bodyPr wrap="square" lIns="0" rIns="0" tIns="0" bIns="0" anchor="t">
            <a:spAutoFit/>
          </a:bodyPr>
          <a:lstStyle/>
          <a:p>
            <a:pPr algn="ctr">
              <a:lnSpc>
                <a:spcPct val="122000"/>
              </a:lnSpc>
            </a:pPr>
            <a:r>
              <a:rPr sz="950" b="1" i="0">
                <a:solidFill>
                  <a:srgbClr val="24354F"/>
                </a:solidFill>
                <a:latin typeface="Calibri"/>
              </a:rPr>
              <a:t>Calibration</a:t>
            </a:r>
          </a:p>
        </p:txBody>
      </p:sp>
      <p:sp>
        <p:nvSpPr>
          <p:cNvPr id="32" name="Rounded Rectangle 31"/>
          <p:cNvSpPr/>
          <p:nvPr/>
        </p:nvSpPr>
        <p:spPr>
          <a:xfrm>
            <a:off x="8902700" y="3236468"/>
            <a:ext cx="1263650" cy="381000"/>
          </a:xfrm>
          <a:prstGeom prst="roundRect">
            <a:avLst>
              <a:gd name="adj" fmla="val 30000"/>
            </a:avLst>
          </a:prstGeom>
          <a:solidFill>
            <a:srgbClr val="F5F9FC"/>
          </a:solidFill>
          <a:ln w="9525">
            <a:solidFill>
              <a:srgbClr val="E4ED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978900" y="3338068"/>
            <a:ext cx="1111250" cy="203200"/>
          </a:xfrm>
          <a:prstGeom prst="rect">
            <a:avLst/>
          </a:prstGeom>
          <a:noFill/>
        </p:spPr>
        <p:txBody>
          <a:bodyPr wrap="square" lIns="0" rIns="0" tIns="0" bIns="0" anchor="t">
            <a:spAutoFit/>
          </a:bodyPr>
          <a:lstStyle/>
          <a:p>
            <a:pPr algn="ctr">
              <a:lnSpc>
                <a:spcPct val="122000"/>
              </a:lnSpc>
            </a:pPr>
            <a:r>
              <a:rPr sz="950" b="1" i="0">
                <a:solidFill>
                  <a:srgbClr val="24354F"/>
                </a:solidFill>
                <a:latin typeface="Calibri"/>
              </a:rPr>
              <a:t>Release path</a:t>
            </a:r>
          </a:p>
        </p:txBody>
      </p:sp>
      <p:sp>
        <p:nvSpPr>
          <p:cNvPr id="34" name="Rounded Rectangle 33"/>
          <p:cNvSpPr/>
          <p:nvPr/>
        </p:nvSpPr>
        <p:spPr>
          <a:xfrm>
            <a:off x="10280650" y="3236468"/>
            <a:ext cx="1263650" cy="381000"/>
          </a:xfrm>
          <a:prstGeom prst="roundRect">
            <a:avLst>
              <a:gd name="adj" fmla="val 30000"/>
            </a:avLst>
          </a:prstGeom>
          <a:solidFill>
            <a:srgbClr val="F5F9FC"/>
          </a:solidFill>
          <a:ln w="9525">
            <a:solidFill>
              <a:srgbClr val="E4ED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10356850" y="3338068"/>
            <a:ext cx="1111250" cy="203200"/>
          </a:xfrm>
          <a:prstGeom prst="rect">
            <a:avLst/>
          </a:prstGeom>
          <a:noFill/>
        </p:spPr>
        <p:txBody>
          <a:bodyPr wrap="square" lIns="0" rIns="0" tIns="0" bIns="0" anchor="t">
            <a:spAutoFit/>
          </a:bodyPr>
          <a:lstStyle/>
          <a:p>
            <a:pPr algn="ctr">
              <a:lnSpc>
                <a:spcPct val="122000"/>
              </a:lnSpc>
            </a:pPr>
            <a:r>
              <a:rPr sz="950" b="1" i="0">
                <a:solidFill>
                  <a:srgbClr val="24354F"/>
                </a:solidFill>
                <a:latin typeface="Calibri"/>
              </a:rPr>
              <a:t>Packaging</a:t>
            </a:r>
          </a:p>
        </p:txBody>
      </p:sp>
      <p:sp>
        <p:nvSpPr>
          <p:cNvPr id="36" name="Rounded Rectangle 35"/>
          <p:cNvSpPr/>
          <p:nvPr/>
        </p:nvSpPr>
        <p:spPr>
          <a:xfrm>
            <a:off x="635000" y="3795268"/>
            <a:ext cx="3517900" cy="1668780"/>
          </a:xfrm>
          <a:prstGeom prst="roundRect">
            <a:avLst>
              <a:gd name="adj" fmla="val 6849"/>
            </a:avLst>
          </a:prstGeom>
          <a:solidFill>
            <a:srgbClr val="FBF0EC"/>
          </a:solidFill>
          <a:ln w="9525">
            <a:solidFill>
              <a:srgbClr val="EFDC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850900" y="3985768"/>
            <a:ext cx="304800" cy="304800"/>
          </a:xfrm>
          <a:prstGeom prst="ellipse">
            <a:avLst/>
          </a:prstGeom>
          <a:solidFill>
            <a:srgbClr val="A93B2B"/>
          </a:solidFill>
          <a:ln w="12700">
            <a:solidFill>
              <a:srgbClr val="A93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0900" y="4051490"/>
            <a:ext cx="304800" cy="186690"/>
          </a:xfrm>
          <a:prstGeom prst="rect">
            <a:avLst/>
          </a:prstGeom>
          <a:noFill/>
        </p:spPr>
        <p:txBody>
          <a:bodyPr wrap="square" lIns="0" rIns="0" tIns="0" bIns="0" anchor="t">
            <a:spAutoFit/>
          </a:bodyPr>
          <a:lstStyle/>
          <a:p>
            <a:pPr algn="ctr">
              <a:lnSpc>
                <a:spcPct val="122000"/>
              </a:lnSpc>
            </a:pPr>
            <a:r>
              <a:rPr sz="1050" b="1" i="0">
                <a:solidFill>
                  <a:srgbClr val="FFFFFF"/>
                </a:solidFill>
                <a:latin typeface="Calibri"/>
              </a:rPr>
              <a:t>✕</a:t>
            </a:r>
          </a:p>
        </p:txBody>
      </p:sp>
      <p:sp>
        <p:nvSpPr>
          <p:cNvPr id="39" name="TextBox 38"/>
          <p:cNvSpPr txBox="1"/>
          <p:nvPr/>
        </p:nvSpPr>
        <p:spPr>
          <a:xfrm>
            <a:off x="1244600" y="3985768"/>
            <a:ext cx="2667000" cy="330200"/>
          </a:xfrm>
          <a:prstGeom prst="rect">
            <a:avLst/>
          </a:prstGeom>
          <a:noFill/>
        </p:spPr>
        <p:txBody>
          <a:bodyPr wrap="square" lIns="0" rIns="0" tIns="0" bIns="0" anchor="t">
            <a:spAutoFit/>
          </a:bodyPr>
          <a:lstStyle/>
          <a:p>
            <a:pPr algn="l">
              <a:lnSpc>
                <a:spcPct val="112000"/>
              </a:lnSpc>
            </a:pPr>
            <a:r>
              <a:rPr sz="1200" b="1" i="0">
                <a:solidFill>
                  <a:srgbClr val="A93B2B"/>
                </a:solidFill>
                <a:latin typeface="Calibri"/>
              </a:rPr>
              <a:t>Not a prompt file in git</a:t>
            </a:r>
          </a:p>
        </p:txBody>
      </p:sp>
      <p:sp>
        <p:nvSpPr>
          <p:cNvPr id="40" name="TextBox 39"/>
          <p:cNvSpPr txBox="1"/>
          <p:nvPr/>
        </p:nvSpPr>
        <p:spPr>
          <a:xfrm>
            <a:off x="876300" y="4404868"/>
            <a:ext cx="3035300" cy="325120"/>
          </a:xfrm>
          <a:prstGeom prst="rect">
            <a:avLst/>
          </a:prstGeom>
          <a:noFill/>
        </p:spPr>
        <p:txBody>
          <a:bodyPr wrap="square" lIns="0" rIns="0" tIns="0" bIns="0" anchor="t">
            <a:spAutoFit/>
          </a:bodyPr>
          <a:lstStyle/>
          <a:p>
            <a:pPr algn="l">
              <a:lnSpc>
                <a:spcPct val="128000"/>
              </a:lnSpc>
            </a:pPr>
            <a:r>
              <a:rPr sz="1000" b="0" i="0">
                <a:solidFill>
                  <a:srgbClr val="5C4034"/>
                </a:solidFill>
                <a:latin typeface="Calibri"/>
              </a:rPr>
              <a:t>Version control gives history but no live target, no bound evidence, and no authority model.</a:t>
            </a:r>
          </a:p>
        </p:txBody>
      </p:sp>
      <p:sp>
        <p:nvSpPr>
          <p:cNvPr id="41" name="Rounded Rectangle 40"/>
          <p:cNvSpPr/>
          <p:nvPr/>
        </p:nvSpPr>
        <p:spPr>
          <a:xfrm>
            <a:off x="4330700" y="3795268"/>
            <a:ext cx="3517900" cy="1668780"/>
          </a:xfrm>
          <a:prstGeom prst="roundRect">
            <a:avLst>
              <a:gd name="adj" fmla="val 6849"/>
            </a:avLst>
          </a:prstGeom>
          <a:solidFill>
            <a:srgbClr val="FBF0EC"/>
          </a:solidFill>
          <a:ln w="9525">
            <a:solidFill>
              <a:srgbClr val="EFDC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Oval 41"/>
          <p:cNvSpPr/>
          <p:nvPr/>
        </p:nvSpPr>
        <p:spPr>
          <a:xfrm>
            <a:off x="4546600" y="3985768"/>
            <a:ext cx="304800" cy="304800"/>
          </a:xfrm>
          <a:prstGeom prst="ellipse">
            <a:avLst/>
          </a:prstGeom>
          <a:solidFill>
            <a:srgbClr val="A93B2B"/>
          </a:solidFill>
          <a:ln w="12700">
            <a:solidFill>
              <a:srgbClr val="A93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546600" y="4051490"/>
            <a:ext cx="304800" cy="186690"/>
          </a:xfrm>
          <a:prstGeom prst="rect">
            <a:avLst/>
          </a:prstGeom>
          <a:noFill/>
        </p:spPr>
        <p:txBody>
          <a:bodyPr wrap="square" lIns="0" rIns="0" tIns="0" bIns="0" anchor="t">
            <a:spAutoFit/>
          </a:bodyPr>
          <a:lstStyle/>
          <a:p>
            <a:pPr algn="ctr">
              <a:lnSpc>
                <a:spcPct val="122000"/>
              </a:lnSpc>
            </a:pPr>
            <a:r>
              <a:rPr sz="1050" b="1" i="0">
                <a:solidFill>
                  <a:srgbClr val="FFFFFF"/>
                </a:solidFill>
                <a:latin typeface="Calibri"/>
              </a:rPr>
              <a:t>✕</a:t>
            </a:r>
          </a:p>
        </p:txBody>
      </p:sp>
      <p:sp>
        <p:nvSpPr>
          <p:cNvPr id="44" name="TextBox 43"/>
          <p:cNvSpPr txBox="1"/>
          <p:nvPr/>
        </p:nvSpPr>
        <p:spPr>
          <a:xfrm>
            <a:off x="4940300" y="3985768"/>
            <a:ext cx="2667000" cy="330200"/>
          </a:xfrm>
          <a:prstGeom prst="rect">
            <a:avLst/>
          </a:prstGeom>
          <a:noFill/>
        </p:spPr>
        <p:txBody>
          <a:bodyPr wrap="square" lIns="0" rIns="0" tIns="0" bIns="0" anchor="t">
            <a:spAutoFit/>
          </a:bodyPr>
          <a:lstStyle/>
          <a:p>
            <a:pPr algn="l">
              <a:lnSpc>
                <a:spcPct val="112000"/>
              </a:lnSpc>
            </a:pPr>
            <a:r>
              <a:rPr sz="1200" b="1" i="0">
                <a:solidFill>
                  <a:srgbClr val="A93B2B"/>
                </a:solidFill>
                <a:latin typeface="Calibri"/>
              </a:rPr>
              <a:t>Not a dashboard over traces</a:t>
            </a:r>
          </a:p>
        </p:txBody>
      </p:sp>
      <p:sp>
        <p:nvSpPr>
          <p:cNvPr id="45" name="TextBox 44"/>
          <p:cNvSpPr txBox="1"/>
          <p:nvPr/>
        </p:nvSpPr>
        <p:spPr>
          <a:xfrm>
            <a:off x="4572000" y="4404868"/>
            <a:ext cx="3035300" cy="487680"/>
          </a:xfrm>
          <a:prstGeom prst="rect">
            <a:avLst/>
          </a:prstGeom>
          <a:noFill/>
        </p:spPr>
        <p:txBody>
          <a:bodyPr wrap="square" lIns="0" rIns="0" tIns="0" bIns="0" anchor="t">
            <a:spAutoFit/>
          </a:bodyPr>
          <a:lstStyle/>
          <a:p>
            <a:pPr algn="l">
              <a:lnSpc>
                <a:spcPct val="128000"/>
              </a:lnSpc>
            </a:pPr>
            <a:r>
              <a:rPr sz="1000" b="0" i="0">
                <a:solidFill>
                  <a:srgbClr val="5C4034"/>
                </a:solidFill>
                <a:latin typeface="Calibri"/>
              </a:rPr>
              <a:t>A dashboard describes behaviour but owns no artifact, and cannot make a change to one reviewable.</a:t>
            </a:r>
          </a:p>
        </p:txBody>
      </p:sp>
      <p:sp>
        <p:nvSpPr>
          <p:cNvPr id="46" name="Rounded Rectangle 45"/>
          <p:cNvSpPr/>
          <p:nvPr/>
        </p:nvSpPr>
        <p:spPr>
          <a:xfrm>
            <a:off x="8026400" y="3795268"/>
            <a:ext cx="3517900" cy="1668780"/>
          </a:xfrm>
          <a:prstGeom prst="roundRect">
            <a:avLst>
              <a:gd name="adj" fmla="val 6849"/>
            </a:avLst>
          </a:prstGeom>
          <a:solidFill>
            <a:srgbClr val="FBF0EC"/>
          </a:solidFill>
          <a:ln w="9525">
            <a:solidFill>
              <a:srgbClr val="EFDC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Oval 46"/>
          <p:cNvSpPr/>
          <p:nvPr/>
        </p:nvSpPr>
        <p:spPr>
          <a:xfrm>
            <a:off x="8242300" y="3985768"/>
            <a:ext cx="304800" cy="304800"/>
          </a:xfrm>
          <a:prstGeom prst="ellipse">
            <a:avLst/>
          </a:prstGeom>
          <a:solidFill>
            <a:srgbClr val="A93B2B"/>
          </a:solidFill>
          <a:ln w="12700">
            <a:solidFill>
              <a:srgbClr val="A93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242300" y="4051490"/>
            <a:ext cx="304800" cy="186690"/>
          </a:xfrm>
          <a:prstGeom prst="rect">
            <a:avLst/>
          </a:prstGeom>
          <a:noFill/>
        </p:spPr>
        <p:txBody>
          <a:bodyPr wrap="square" lIns="0" rIns="0" tIns="0" bIns="0" anchor="t">
            <a:spAutoFit/>
          </a:bodyPr>
          <a:lstStyle/>
          <a:p>
            <a:pPr algn="ctr">
              <a:lnSpc>
                <a:spcPct val="122000"/>
              </a:lnSpc>
            </a:pPr>
            <a:r>
              <a:rPr sz="1050" b="1" i="0">
                <a:solidFill>
                  <a:srgbClr val="FFFFFF"/>
                </a:solidFill>
                <a:latin typeface="Calibri"/>
              </a:rPr>
              <a:t>✕</a:t>
            </a:r>
          </a:p>
        </p:txBody>
      </p:sp>
      <p:sp>
        <p:nvSpPr>
          <p:cNvPr id="49" name="TextBox 48"/>
          <p:cNvSpPr txBox="1"/>
          <p:nvPr/>
        </p:nvSpPr>
        <p:spPr>
          <a:xfrm>
            <a:off x="8636000" y="3985768"/>
            <a:ext cx="2667000" cy="330200"/>
          </a:xfrm>
          <a:prstGeom prst="rect">
            <a:avLst/>
          </a:prstGeom>
          <a:noFill/>
        </p:spPr>
        <p:txBody>
          <a:bodyPr wrap="square" lIns="0" rIns="0" tIns="0" bIns="0" anchor="t">
            <a:spAutoFit/>
          </a:bodyPr>
          <a:lstStyle/>
          <a:p>
            <a:pPr algn="l">
              <a:lnSpc>
                <a:spcPct val="112000"/>
              </a:lnSpc>
            </a:pPr>
            <a:r>
              <a:rPr sz="1200" b="1" i="0">
                <a:solidFill>
                  <a:srgbClr val="A93B2B"/>
                </a:solidFill>
                <a:latin typeface="Calibri"/>
              </a:rPr>
              <a:t>Not an agent</a:t>
            </a:r>
          </a:p>
        </p:txBody>
      </p:sp>
      <p:sp>
        <p:nvSpPr>
          <p:cNvPr id="50" name="TextBox 49"/>
          <p:cNvSpPr txBox="1"/>
          <p:nvPr/>
        </p:nvSpPr>
        <p:spPr>
          <a:xfrm>
            <a:off x="8267700" y="4404868"/>
            <a:ext cx="3035300" cy="325120"/>
          </a:xfrm>
          <a:prstGeom prst="rect">
            <a:avLst/>
          </a:prstGeom>
          <a:noFill/>
        </p:spPr>
        <p:txBody>
          <a:bodyPr wrap="square" lIns="0" rIns="0" tIns="0" bIns="0" anchor="t">
            <a:spAutoFit/>
          </a:bodyPr>
          <a:lstStyle/>
          <a:p>
            <a:pPr algn="l">
              <a:lnSpc>
                <a:spcPct val="128000"/>
              </a:lnSpc>
            </a:pPr>
            <a:r>
              <a:rPr sz="1000" b="0" i="0">
                <a:solidFill>
                  <a:srgbClr val="5C4034"/>
                </a:solidFill>
                <a:latin typeface="Calibri"/>
              </a:rPr>
              <a:t>Agents are composed in a framework of the team's choosing and are clients of governed assets.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35000" y="6337300"/>
            <a:ext cx="6096000" cy="254000"/>
          </a:xfrm>
          <a:prstGeom prst="rect">
            <a:avLst/>
          </a:prstGeom>
          <a:noFill/>
        </p:spPr>
        <p:txBody>
          <a:bodyPr wrap="square" lIns="0" rIns="0" tIns="0" bIns="0" anchor="t">
            <a:spAutoFit/>
          </a:bodyPr>
          <a:lstStyle/>
          <a:p>
            <a:pPr algn="l">
              <a:lnSpc>
                <a:spcPct val="122000"/>
              </a:lnSpc>
            </a:pPr>
            <a:r>
              <a:rPr sz="900" b="0" i="0">
                <a:solidFill>
                  <a:srgbClr val="A3B2C4"/>
                </a:solidFill>
                <a:latin typeface="Calibri"/>
              </a:rPr>
              <a:t>CALIBER  ·  A Layered Control Plane for Governed Releases of AI-Agent Resources</a:t>
            </a:r>
          </a:p>
        </p:txBody>
      </p:sp>
      <p:sp>
        <p:nvSpPr>
          <p:cNvPr id="3" name="TextBox 2"/>
          <p:cNvSpPr txBox="1"/>
          <p:nvPr/>
        </p:nvSpPr>
        <p:spPr>
          <a:xfrm>
            <a:off x="10629900" y="6337300"/>
            <a:ext cx="914400" cy="254000"/>
          </a:xfrm>
          <a:prstGeom prst="rect">
            <a:avLst/>
          </a:prstGeom>
          <a:noFill/>
        </p:spPr>
        <p:txBody>
          <a:bodyPr wrap="square" lIns="0" rIns="0" tIns="0" bIns="0" anchor="t">
            <a:spAutoFit/>
          </a:bodyPr>
          <a:lstStyle/>
          <a:p>
            <a:pPr algn="r">
              <a:lnSpc>
                <a:spcPct val="122000"/>
              </a:lnSpc>
            </a:pPr>
            <a:r>
              <a:rPr sz="900" b="0" i="0">
                <a:solidFill>
                  <a:srgbClr val="A3B2C4"/>
                </a:solidFill>
                <a:latin typeface="Calibri"/>
              </a:rPr>
              <a:t>7</a:t>
            </a:r>
          </a:p>
        </p:txBody>
      </p:sp>
      <p:sp>
        <p:nvSpPr>
          <p:cNvPr id="4" name="TextBox 3"/>
          <p:cNvSpPr txBox="1"/>
          <p:nvPr/>
        </p:nvSpPr>
        <p:spPr>
          <a:xfrm>
            <a:off x="635000" y="381000"/>
            <a:ext cx="10909300" cy="228600"/>
          </a:xfrm>
          <a:prstGeom prst="rect">
            <a:avLst/>
          </a:prstGeom>
          <a:noFill/>
        </p:spPr>
        <p:txBody>
          <a:bodyPr wrap="square" lIns="0" rIns="0" tIns="0" bIns="0" anchor="t">
            <a:spAutoFit/>
          </a:bodyPr>
          <a:lstStyle/>
          <a:p>
            <a:pPr algn="l">
              <a:lnSpc>
                <a:spcPct val="122000"/>
              </a:lnSpc>
            </a:pPr>
            <a:r>
              <a:rPr sz="1050" b="1" i="0">
                <a:solidFill>
                  <a:srgbClr val="1F8A99"/>
                </a:solidFill>
                <a:latin typeface="Calibri"/>
              </a:rPr>
              <a:t>Lifecycle modes  ·  §4.2  ·  L5</a:t>
            </a:r>
          </a:p>
        </p:txBody>
      </p:sp>
      <p:sp>
        <p:nvSpPr>
          <p:cNvPr id="5" name="TextBox 4"/>
          <p:cNvSpPr txBox="1"/>
          <p:nvPr/>
        </p:nvSpPr>
        <p:spPr>
          <a:xfrm>
            <a:off x="635000" y="647700"/>
            <a:ext cx="10909300" cy="495300"/>
          </a:xfrm>
          <a:prstGeom prst="rect">
            <a:avLst/>
          </a:prstGeom>
          <a:noFill/>
        </p:spPr>
        <p:txBody>
          <a:bodyPr wrap="square" lIns="0" rIns="0" tIns="0" bIns="0" anchor="t">
            <a:spAutoFit/>
          </a:bodyPr>
          <a:lstStyle/>
          <a:p>
            <a:pPr algn="l">
              <a:lnSpc>
                <a:spcPct val="108000"/>
              </a:lnSpc>
            </a:pPr>
            <a:r>
              <a:rPr sz="2600" b="1" i="0">
                <a:solidFill>
                  <a:srgbClr val="0E1E3A"/>
                </a:solidFill>
                <a:latin typeface="Calibri"/>
              </a:rPr>
              <a:t>Six lifecycle modes, deliberately few</a:t>
            </a:r>
          </a:p>
        </p:txBody>
      </p:sp>
      <p:sp>
        <p:nvSpPr>
          <p:cNvPr id="6" name="TextBox 5"/>
          <p:cNvSpPr txBox="1"/>
          <p:nvPr/>
        </p:nvSpPr>
        <p:spPr>
          <a:xfrm>
            <a:off x="635000" y="1168400"/>
            <a:ext cx="10909300" cy="431800"/>
          </a:xfrm>
          <a:prstGeom prst="rect">
            <a:avLst/>
          </a:prstGeom>
          <a:noFill/>
        </p:spPr>
        <p:txBody>
          <a:bodyPr wrap="square" lIns="0" rIns="0" tIns="0" bIns="0" anchor="t">
            <a:spAutoFit/>
          </a:bodyPr>
          <a:lstStyle/>
          <a:p>
            <a:pPr algn="l">
              <a:lnSpc>
                <a:spcPct val="130000"/>
              </a:lnSpc>
            </a:pPr>
            <a:r>
              <a:rPr sz="1250" b="0" i="0">
                <a:solidFill>
                  <a:srgbClr val="24354F"/>
                </a:solidFill>
                <a:latin typeface="Calibri"/>
              </a:rPr>
              <a:t>The modes are the verbs that act on the governed nouns. They are reusable concepts, not a state machine every asset traverses.</a:t>
            </a:r>
          </a:p>
        </p:txBody>
      </p:sp>
      <p:sp>
        <p:nvSpPr>
          <p:cNvPr id="7" name="Rounded Rectangle 6"/>
          <p:cNvSpPr/>
          <p:nvPr/>
        </p:nvSpPr>
        <p:spPr>
          <a:xfrm>
            <a:off x="635000" y="1701800"/>
            <a:ext cx="3517900" cy="1287780"/>
          </a:xfrm>
          <a:prstGeom prst="roundRect">
            <a:avLst>
              <a:gd name="adj" fmla="val 8875"/>
            </a:avLst>
          </a:prstGeom>
          <a:solidFill>
            <a:srgbClr val="E8F4F5"/>
          </a:solidFill>
          <a:ln w="9525">
            <a:solidFill>
              <a:srgbClr val="CFE4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50900" y="1892300"/>
            <a:ext cx="304800" cy="304800"/>
          </a:xfrm>
          <a:prstGeom prst="ellipse">
            <a:avLst/>
          </a:prstGeom>
          <a:solidFill>
            <a:srgbClr val="1F8A99"/>
          </a:solidFill>
          <a:ln w="12700">
            <a:solidFill>
              <a:srgbClr val="1F8A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900" y="1958022"/>
            <a:ext cx="304800" cy="186690"/>
          </a:xfrm>
          <a:prstGeom prst="rect">
            <a:avLst/>
          </a:prstGeom>
          <a:noFill/>
        </p:spPr>
        <p:txBody>
          <a:bodyPr wrap="square" lIns="0" rIns="0" tIns="0" bIns="0" anchor="t">
            <a:spAutoFit/>
          </a:bodyPr>
          <a:lstStyle/>
          <a:p>
            <a:pPr algn="ctr">
              <a:lnSpc>
                <a:spcPct val="122000"/>
              </a:lnSpc>
            </a:pPr>
            <a:r>
              <a:rPr sz="1050" b="1" i="0">
                <a:solidFill>
                  <a:srgbClr val="FFFFFF"/>
                </a:solidFill>
                <a:latin typeface="Calibri"/>
              </a:rPr>
              <a:t>1</a:t>
            </a:r>
          </a:p>
        </p:txBody>
      </p:sp>
      <p:sp>
        <p:nvSpPr>
          <p:cNvPr id="10" name="TextBox 9"/>
          <p:cNvSpPr txBox="1"/>
          <p:nvPr/>
        </p:nvSpPr>
        <p:spPr>
          <a:xfrm>
            <a:off x="1244600" y="1892300"/>
            <a:ext cx="2667000" cy="330200"/>
          </a:xfrm>
          <a:prstGeom prst="rect">
            <a:avLst/>
          </a:prstGeom>
          <a:noFill/>
        </p:spPr>
        <p:txBody>
          <a:bodyPr wrap="square" lIns="0" rIns="0" tIns="0" bIns="0" anchor="t">
            <a:spAutoFit/>
          </a:bodyPr>
          <a:lstStyle/>
          <a:p>
            <a:pPr algn="l">
              <a:lnSpc>
                <a:spcPct val="112000"/>
              </a:lnSpc>
            </a:pPr>
            <a:r>
              <a:rPr sz="1200" b="1" i="0">
                <a:solidFill>
                  <a:srgbClr val="1F8A99"/>
                </a:solidFill>
                <a:latin typeface="Calibri"/>
              </a:rPr>
              <a:t>Author</a:t>
            </a:r>
          </a:p>
        </p:txBody>
      </p:sp>
      <p:sp>
        <p:nvSpPr>
          <p:cNvPr id="11" name="TextBox 10"/>
          <p:cNvSpPr txBox="1"/>
          <p:nvPr/>
        </p:nvSpPr>
        <p:spPr>
          <a:xfrm>
            <a:off x="876300" y="2311400"/>
            <a:ext cx="3035300" cy="487680"/>
          </a:xfrm>
          <a:prstGeom prst="rect">
            <a:avLst/>
          </a:prstGeom>
          <a:noFill/>
        </p:spPr>
        <p:txBody>
          <a:bodyPr wrap="square" lIns="0" rIns="0" tIns="0" bIns="0" anchor="t">
            <a:spAutoFit/>
          </a:bodyPr>
          <a:lstStyle/>
          <a:p>
            <a:pPr algn="l">
              <a:lnSpc>
                <a:spcPct val="128000"/>
              </a:lnSpc>
            </a:pPr>
            <a:r>
              <a:rPr sz="1000" b="0" i="0">
                <a:solidFill>
                  <a:srgbClr val="24354F"/>
                </a:solidFill>
                <a:latin typeface="Calibri"/>
              </a:rPr>
              <a:t>Draft, render, compile, validate. Authoring is deliberately non-live: registering a version cannot move a pointer.</a:t>
            </a:r>
          </a:p>
        </p:txBody>
      </p:sp>
      <p:sp>
        <p:nvSpPr>
          <p:cNvPr id="12" name="Rounded Rectangle 11"/>
          <p:cNvSpPr/>
          <p:nvPr/>
        </p:nvSpPr>
        <p:spPr>
          <a:xfrm>
            <a:off x="4330700" y="1701800"/>
            <a:ext cx="3517900" cy="1287780"/>
          </a:xfrm>
          <a:prstGeom prst="roundRect">
            <a:avLst>
              <a:gd name="adj" fmla="val 8875"/>
            </a:avLst>
          </a:prstGeom>
          <a:solidFill>
            <a:srgbClr val="E8F4F5"/>
          </a:solidFill>
          <a:ln w="9525">
            <a:solidFill>
              <a:srgbClr val="CFE4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4546600" y="1892300"/>
            <a:ext cx="304800" cy="304800"/>
          </a:xfrm>
          <a:prstGeom prst="ellipse">
            <a:avLst/>
          </a:prstGeom>
          <a:solidFill>
            <a:srgbClr val="1F8A99"/>
          </a:solidFill>
          <a:ln w="12700">
            <a:solidFill>
              <a:srgbClr val="1F8A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6600" y="1958022"/>
            <a:ext cx="304800" cy="186690"/>
          </a:xfrm>
          <a:prstGeom prst="rect">
            <a:avLst/>
          </a:prstGeom>
          <a:noFill/>
        </p:spPr>
        <p:txBody>
          <a:bodyPr wrap="square" lIns="0" rIns="0" tIns="0" bIns="0" anchor="t">
            <a:spAutoFit/>
          </a:bodyPr>
          <a:lstStyle/>
          <a:p>
            <a:pPr algn="ctr">
              <a:lnSpc>
                <a:spcPct val="122000"/>
              </a:lnSpc>
            </a:pPr>
            <a:r>
              <a:rPr sz="1050" b="1" i="0">
                <a:solidFill>
                  <a:srgbClr val="FFFFFF"/>
                </a:solidFill>
                <a:latin typeface="Calibri"/>
              </a:rPr>
              <a:t>2</a:t>
            </a:r>
          </a:p>
        </p:txBody>
      </p:sp>
      <p:sp>
        <p:nvSpPr>
          <p:cNvPr id="15" name="TextBox 14"/>
          <p:cNvSpPr txBox="1"/>
          <p:nvPr/>
        </p:nvSpPr>
        <p:spPr>
          <a:xfrm>
            <a:off x="4940300" y="1892300"/>
            <a:ext cx="2667000" cy="330200"/>
          </a:xfrm>
          <a:prstGeom prst="rect">
            <a:avLst/>
          </a:prstGeom>
          <a:noFill/>
        </p:spPr>
        <p:txBody>
          <a:bodyPr wrap="square" lIns="0" rIns="0" tIns="0" bIns="0" anchor="t">
            <a:spAutoFit/>
          </a:bodyPr>
          <a:lstStyle/>
          <a:p>
            <a:pPr algn="l">
              <a:lnSpc>
                <a:spcPct val="112000"/>
              </a:lnSpc>
            </a:pPr>
            <a:r>
              <a:rPr sz="1200" b="1" i="0">
                <a:solidFill>
                  <a:srgbClr val="1F8A99"/>
                </a:solidFill>
                <a:latin typeface="Calibri"/>
              </a:rPr>
              <a:t>Test</a:t>
            </a:r>
          </a:p>
        </p:txBody>
      </p:sp>
      <p:sp>
        <p:nvSpPr>
          <p:cNvPr id="16" name="TextBox 15"/>
          <p:cNvSpPr txBox="1"/>
          <p:nvPr/>
        </p:nvSpPr>
        <p:spPr>
          <a:xfrm>
            <a:off x="4572000" y="2311400"/>
            <a:ext cx="3035300" cy="325120"/>
          </a:xfrm>
          <a:prstGeom prst="rect">
            <a:avLst/>
          </a:prstGeom>
          <a:noFill/>
        </p:spPr>
        <p:txBody>
          <a:bodyPr wrap="square" lIns="0" rIns="0" tIns="0" bIns="0" anchor="t">
            <a:spAutoFit/>
          </a:bodyPr>
          <a:lstStyle/>
          <a:p>
            <a:pPr algn="l">
              <a:lnSpc>
                <a:spcPct val="128000"/>
              </a:lnSpc>
            </a:pPr>
            <a:r>
              <a:rPr sz="1000" b="0" i="0">
                <a:solidFill>
                  <a:srgbClr val="24354F"/>
                </a:solidFill>
                <a:latin typeface="Calibri"/>
              </a:rPr>
              <a:t>Bounded runs against fixtures, before anything is scored or proposed for advancement.</a:t>
            </a:r>
          </a:p>
        </p:txBody>
      </p:sp>
      <p:sp>
        <p:nvSpPr>
          <p:cNvPr id="17" name="Rounded Rectangle 16"/>
          <p:cNvSpPr/>
          <p:nvPr/>
        </p:nvSpPr>
        <p:spPr>
          <a:xfrm>
            <a:off x="8026400" y="1701800"/>
            <a:ext cx="3517900" cy="1287780"/>
          </a:xfrm>
          <a:prstGeom prst="roundRect">
            <a:avLst>
              <a:gd name="adj" fmla="val 8875"/>
            </a:avLst>
          </a:prstGeom>
          <a:solidFill>
            <a:srgbClr val="E8F4F5"/>
          </a:solidFill>
          <a:ln w="9525">
            <a:solidFill>
              <a:srgbClr val="CFE4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8242300" y="1892300"/>
            <a:ext cx="304800" cy="304800"/>
          </a:xfrm>
          <a:prstGeom prst="ellipse">
            <a:avLst/>
          </a:prstGeom>
          <a:solidFill>
            <a:srgbClr val="1F8A99"/>
          </a:solidFill>
          <a:ln w="12700">
            <a:solidFill>
              <a:srgbClr val="1F8A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42300" y="1958022"/>
            <a:ext cx="304800" cy="186690"/>
          </a:xfrm>
          <a:prstGeom prst="rect">
            <a:avLst/>
          </a:prstGeom>
          <a:noFill/>
        </p:spPr>
        <p:txBody>
          <a:bodyPr wrap="square" lIns="0" rIns="0" tIns="0" bIns="0" anchor="t">
            <a:spAutoFit/>
          </a:bodyPr>
          <a:lstStyle/>
          <a:p>
            <a:pPr algn="ctr">
              <a:lnSpc>
                <a:spcPct val="122000"/>
              </a:lnSpc>
            </a:pPr>
            <a:r>
              <a:rPr sz="1050" b="1" i="0">
                <a:solidFill>
                  <a:srgbClr val="FFFFFF"/>
                </a:solidFill>
                <a:latin typeface="Calibri"/>
              </a:rPr>
              <a:t>3</a:t>
            </a:r>
          </a:p>
        </p:txBody>
      </p:sp>
      <p:sp>
        <p:nvSpPr>
          <p:cNvPr id="20" name="TextBox 19"/>
          <p:cNvSpPr txBox="1"/>
          <p:nvPr/>
        </p:nvSpPr>
        <p:spPr>
          <a:xfrm>
            <a:off x="8636000" y="1892300"/>
            <a:ext cx="2667000" cy="330200"/>
          </a:xfrm>
          <a:prstGeom prst="rect">
            <a:avLst/>
          </a:prstGeom>
          <a:noFill/>
        </p:spPr>
        <p:txBody>
          <a:bodyPr wrap="square" lIns="0" rIns="0" tIns="0" bIns="0" anchor="t">
            <a:spAutoFit/>
          </a:bodyPr>
          <a:lstStyle/>
          <a:p>
            <a:pPr algn="l">
              <a:lnSpc>
                <a:spcPct val="112000"/>
              </a:lnSpc>
            </a:pPr>
            <a:r>
              <a:rPr sz="1200" b="1" i="0">
                <a:solidFill>
                  <a:srgbClr val="1F8A99"/>
                </a:solidFill>
                <a:latin typeface="Calibri"/>
              </a:rPr>
              <a:t>Evaluate</a:t>
            </a:r>
          </a:p>
        </p:txBody>
      </p:sp>
      <p:sp>
        <p:nvSpPr>
          <p:cNvPr id="21" name="TextBox 20"/>
          <p:cNvSpPr txBox="1"/>
          <p:nvPr/>
        </p:nvSpPr>
        <p:spPr>
          <a:xfrm>
            <a:off x="8267700" y="2311400"/>
            <a:ext cx="3035300" cy="325120"/>
          </a:xfrm>
          <a:prstGeom prst="rect">
            <a:avLst/>
          </a:prstGeom>
          <a:noFill/>
        </p:spPr>
        <p:txBody>
          <a:bodyPr wrap="square" lIns="0" rIns="0" tIns="0" bIns="0" anchor="t">
            <a:spAutoFit/>
          </a:bodyPr>
          <a:lstStyle/>
          <a:p>
            <a:pPr algn="l">
              <a:lnSpc>
                <a:spcPct val="128000"/>
              </a:lnSpc>
            </a:pPr>
            <a:r>
              <a:rPr sz="1000" b="0" i="0">
                <a:solidFill>
                  <a:srgbClr val="24354F"/>
                </a:solidFill>
                <a:latin typeface="Calibri"/>
              </a:rPr>
              <a:t>Scorecards, deterministic scorers, authored LLM judges, and review queues.</a:t>
            </a:r>
          </a:p>
        </p:txBody>
      </p:sp>
      <p:sp>
        <p:nvSpPr>
          <p:cNvPr id="22" name="Rounded Rectangle 21"/>
          <p:cNvSpPr/>
          <p:nvPr/>
        </p:nvSpPr>
        <p:spPr>
          <a:xfrm>
            <a:off x="635000" y="3167380"/>
            <a:ext cx="3517900" cy="1287780"/>
          </a:xfrm>
          <a:prstGeom prst="roundRect">
            <a:avLst>
              <a:gd name="adj" fmla="val 8875"/>
            </a:avLst>
          </a:prstGeom>
          <a:solidFill>
            <a:srgbClr val="E8F4F5"/>
          </a:solidFill>
          <a:ln w="9525">
            <a:solidFill>
              <a:srgbClr val="CFE4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850900" y="3357879"/>
            <a:ext cx="304800" cy="304800"/>
          </a:xfrm>
          <a:prstGeom prst="ellipse">
            <a:avLst/>
          </a:prstGeom>
          <a:solidFill>
            <a:srgbClr val="1F8A99"/>
          </a:solidFill>
          <a:ln w="12700">
            <a:solidFill>
              <a:srgbClr val="1F8A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50900" y="3423602"/>
            <a:ext cx="304800" cy="186690"/>
          </a:xfrm>
          <a:prstGeom prst="rect">
            <a:avLst/>
          </a:prstGeom>
          <a:noFill/>
        </p:spPr>
        <p:txBody>
          <a:bodyPr wrap="square" lIns="0" rIns="0" tIns="0" bIns="0" anchor="t">
            <a:spAutoFit/>
          </a:bodyPr>
          <a:lstStyle/>
          <a:p>
            <a:pPr algn="ctr">
              <a:lnSpc>
                <a:spcPct val="122000"/>
              </a:lnSpc>
            </a:pPr>
            <a:r>
              <a:rPr sz="1050" b="1" i="0">
                <a:solidFill>
                  <a:srgbClr val="FFFFFF"/>
                </a:solidFill>
                <a:latin typeface="Calibri"/>
              </a:rPr>
              <a:t>4</a:t>
            </a:r>
          </a:p>
        </p:txBody>
      </p:sp>
      <p:sp>
        <p:nvSpPr>
          <p:cNvPr id="25" name="TextBox 24"/>
          <p:cNvSpPr txBox="1"/>
          <p:nvPr/>
        </p:nvSpPr>
        <p:spPr>
          <a:xfrm>
            <a:off x="1244600" y="3357879"/>
            <a:ext cx="2667000" cy="330200"/>
          </a:xfrm>
          <a:prstGeom prst="rect">
            <a:avLst/>
          </a:prstGeom>
          <a:noFill/>
        </p:spPr>
        <p:txBody>
          <a:bodyPr wrap="square" lIns="0" rIns="0" tIns="0" bIns="0" anchor="t">
            <a:spAutoFit/>
          </a:bodyPr>
          <a:lstStyle/>
          <a:p>
            <a:pPr algn="l">
              <a:lnSpc>
                <a:spcPct val="112000"/>
              </a:lnSpc>
            </a:pPr>
            <a:r>
              <a:rPr sz="1200" b="1" i="0">
                <a:solidFill>
                  <a:srgbClr val="1F8A99"/>
                </a:solidFill>
                <a:latin typeface="Calibri"/>
              </a:rPr>
              <a:t>Calibrate</a:t>
            </a:r>
          </a:p>
        </p:txBody>
      </p:sp>
      <p:sp>
        <p:nvSpPr>
          <p:cNvPr id="26" name="TextBox 25"/>
          <p:cNvSpPr txBox="1"/>
          <p:nvPr/>
        </p:nvSpPr>
        <p:spPr>
          <a:xfrm>
            <a:off x="876300" y="3776979"/>
            <a:ext cx="3035300" cy="487680"/>
          </a:xfrm>
          <a:prstGeom prst="rect">
            <a:avLst/>
          </a:prstGeom>
          <a:noFill/>
        </p:spPr>
        <p:txBody>
          <a:bodyPr wrap="square" lIns="0" rIns="0" tIns="0" bIns="0" anchor="t">
            <a:spAutoFit/>
          </a:bodyPr>
          <a:lstStyle/>
          <a:p>
            <a:pPr algn="l">
              <a:lnSpc>
                <a:spcPct val="128000"/>
              </a:lnSpc>
            </a:pPr>
            <a:r>
              <a:rPr sz="1000" b="0" i="0">
                <a:solidFill>
                  <a:srgbClr val="24354F"/>
                </a:solidFill>
                <a:latin typeface="Calibri"/>
              </a:rPr>
              <a:t>Propose a measurably better version — the optimizer's output is a candidate, never a release.</a:t>
            </a:r>
          </a:p>
        </p:txBody>
      </p:sp>
      <p:sp>
        <p:nvSpPr>
          <p:cNvPr id="27" name="Rounded Rectangle 26"/>
          <p:cNvSpPr/>
          <p:nvPr/>
        </p:nvSpPr>
        <p:spPr>
          <a:xfrm>
            <a:off x="4330700" y="3167380"/>
            <a:ext cx="3517900" cy="1287780"/>
          </a:xfrm>
          <a:prstGeom prst="roundRect">
            <a:avLst>
              <a:gd name="adj" fmla="val 8875"/>
            </a:avLst>
          </a:prstGeom>
          <a:solidFill>
            <a:srgbClr val="E8F4F5"/>
          </a:solidFill>
          <a:ln w="9525">
            <a:solidFill>
              <a:srgbClr val="CFE4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4546600" y="3357879"/>
            <a:ext cx="304800" cy="304800"/>
          </a:xfrm>
          <a:prstGeom prst="ellipse">
            <a:avLst/>
          </a:prstGeom>
          <a:solidFill>
            <a:srgbClr val="1F8A99"/>
          </a:solidFill>
          <a:ln w="12700">
            <a:solidFill>
              <a:srgbClr val="1F8A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46600" y="3423602"/>
            <a:ext cx="304800" cy="186690"/>
          </a:xfrm>
          <a:prstGeom prst="rect">
            <a:avLst/>
          </a:prstGeom>
          <a:noFill/>
        </p:spPr>
        <p:txBody>
          <a:bodyPr wrap="square" lIns="0" rIns="0" tIns="0" bIns="0" anchor="t">
            <a:spAutoFit/>
          </a:bodyPr>
          <a:lstStyle/>
          <a:p>
            <a:pPr algn="ctr">
              <a:lnSpc>
                <a:spcPct val="122000"/>
              </a:lnSpc>
            </a:pPr>
            <a:r>
              <a:rPr sz="1050" b="1" i="0">
                <a:solidFill>
                  <a:srgbClr val="FFFFFF"/>
                </a:solidFill>
                <a:latin typeface="Calibri"/>
              </a:rPr>
              <a:t>5</a:t>
            </a:r>
          </a:p>
        </p:txBody>
      </p:sp>
      <p:sp>
        <p:nvSpPr>
          <p:cNvPr id="30" name="TextBox 29"/>
          <p:cNvSpPr txBox="1"/>
          <p:nvPr/>
        </p:nvSpPr>
        <p:spPr>
          <a:xfrm>
            <a:off x="4940300" y="3357879"/>
            <a:ext cx="2667000" cy="330200"/>
          </a:xfrm>
          <a:prstGeom prst="rect">
            <a:avLst/>
          </a:prstGeom>
          <a:noFill/>
        </p:spPr>
        <p:txBody>
          <a:bodyPr wrap="square" lIns="0" rIns="0" tIns="0" bIns="0" anchor="t">
            <a:spAutoFit/>
          </a:bodyPr>
          <a:lstStyle/>
          <a:p>
            <a:pPr algn="l">
              <a:lnSpc>
                <a:spcPct val="112000"/>
              </a:lnSpc>
            </a:pPr>
            <a:r>
              <a:rPr sz="1200" b="1" i="0">
                <a:solidFill>
                  <a:srgbClr val="1F8A99"/>
                </a:solidFill>
                <a:latin typeface="Calibri"/>
              </a:rPr>
              <a:t>Release</a:t>
            </a:r>
          </a:p>
        </p:txBody>
      </p:sp>
      <p:sp>
        <p:nvSpPr>
          <p:cNvPr id="31" name="TextBox 30"/>
          <p:cNvSpPr txBox="1"/>
          <p:nvPr/>
        </p:nvSpPr>
        <p:spPr>
          <a:xfrm>
            <a:off x="4572000" y="3776979"/>
            <a:ext cx="3035300" cy="325120"/>
          </a:xfrm>
          <a:prstGeom prst="rect">
            <a:avLst/>
          </a:prstGeom>
          <a:noFill/>
        </p:spPr>
        <p:txBody>
          <a:bodyPr wrap="square" lIns="0" rIns="0" tIns="0" bIns="0" anchor="t">
            <a:spAutoFit/>
          </a:bodyPr>
          <a:lstStyle/>
          <a:p>
            <a:pPr algn="l">
              <a:lnSpc>
                <a:spcPct val="128000"/>
              </a:lnSpc>
            </a:pPr>
            <a:r>
              <a:rPr sz="1000" b="0" i="0">
                <a:solidFill>
                  <a:srgbClr val="24354F"/>
                </a:solidFill>
                <a:latin typeface="Calibri"/>
              </a:rPr>
              <a:t>Gate, promote, roll back. The outgoing live target is recorded, so undo is a restore.</a:t>
            </a:r>
          </a:p>
        </p:txBody>
      </p:sp>
      <p:sp>
        <p:nvSpPr>
          <p:cNvPr id="32" name="Rounded Rectangle 31"/>
          <p:cNvSpPr/>
          <p:nvPr/>
        </p:nvSpPr>
        <p:spPr>
          <a:xfrm>
            <a:off x="8026400" y="3167380"/>
            <a:ext cx="3517900" cy="1287780"/>
          </a:xfrm>
          <a:prstGeom prst="roundRect">
            <a:avLst>
              <a:gd name="adj" fmla="val 8875"/>
            </a:avLst>
          </a:prstGeom>
          <a:solidFill>
            <a:srgbClr val="E8F4F5"/>
          </a:solidFill>
          <a:ln w="9525">
            <a:solidFill>
              <a:srgbClr val="CFE4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8242300" y="3357879"/>
            <a:ext cx="304800" cy="304800"/>
          </a:xfrm>
          <a:prstGeom prst="ellipse">
            <a:avLst/>
          </a:prstGeom>
          <a:solidFill>
            <a:srgbClr val="1F8A99"/>
          </a:solidFill>
          <a:ln w="12700">
            <a:solidFill>
              <a:srgbClr val="1F8A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42300" y="3423602"/>
            <a:ext cx="304800" cy="186690"/>
          </a:xfrm>
          <a:prstGeom prst="rect">
            <a:avLst/>
          </a:prstGeom>
          <a:noFill/>
        </p:spPr>
        <p:txBody>
          <a:bodyPr wrap="square" lIns="0" rIns="0" tIns="0" bIns="0" anchor="t">
            <a:spAutoFit/>
          </a:bodyPr>
          <a:lstStyle/>
          <a:p>
            <a:pPr algn="ctr">
              <a:lnSpc>
                <a:spcPct val="122000"/>
              </a:lnSpc>
            </a:pPr>
            <a:r>
              <a:rPr sz="1050" b="1" i="0">
                <a:solidFill>
                  <a:srgbClr val="FFFFFF"/>
                </a:solidFill>
                <a:latin typeface="Calibri"/>
              </a:rPr>
              <a:t>6</a:t>
            </a:r>
          </a:p>
        </p:txBody>
      </p:sp>
      <p:sp>
        <p:nvSpPr>
          <p:cNvPr id="35" name="TextBox 34"/>
          <p:cNvSpPr txBox="1"/>
          <p:nvPr/>
        </p:nvSpPr>
        <p:spPr>
          <a:xfrm>
            <a:off x="8636000" y="3357879"/>
            <a:ext cx="2667000" cy="330200"/>
          </a:xfrm>
          <a:prstGeom prst="rect">
            <a:avLst/>
          </a:prstGeom>
          <a:noFill/>
        </p:spPr>
        <p:txBody>
          <a:bodyPr wrap="square" lIns="0" rIns="0" tIns="0" bIns="0" anchor="t">
            <a:spAutoFit/>
          </a:bodyPr>
          <a:lstStyle/>
          <a:p>
            <a:pPr algn="l">
              <a:lnSpc>
                <a:spcPct val="112000"/>
              </a:lnSpc>
            </a:pPr>
            <a:r>
              <a:rPr sz="1200" b="1" i="0">
                <a:solidFill>
                  <a:srgbClr val="1F8A99"/>
                </a:solidFill>
                <a:latin typeface="Calibri"/>
              </a:rPr>
              <a:t>Observe</a:t>
            </a:r>
          </a:p>
        </p:txBody>
      </p:sp>
      <p:sp>
        <p:nvSpPr>
          <p:cNvPr id="36" name="TextBox 35"/>
          <p:cNvSpPr txBox="1"/>
          <p:nvPr/>
        </p:nvSpPr>
        <p:spPr>
          <a:xfrm>
            <a:off x="8267700" y="3776979"/>
            <a:ext cx="3035300" cy="325120"/>
          </a:xfrm>
          <a:prstGeom prst="rect">
            <a:avLst/>
          </a:prstGeom>
          <a:noFill/>
        </p:spPr>
        <p:txBody>
          <a:bodyPr wrap="square" lIns="0" rIns="0" tIns="0" bIns="0" anchor="t">
            <a:spAutoFit/>
          </a:bodyPr>
          <a:lstStyle/>
          <a:p>
            <a:pPr algn="l">
              <a:lnSpc>
                <a:spcPct val="128000"/>
              </a:lnSpc>
            </a:pPr>
            <a:r>
              <a:rPr sz="1000" b="0" i="0">
                <a:solidFill>
                  <a:srgbClr val="24354F"/>
                </a:solidFill>
                <a:latin typeface="Calibri"/>
              </a:rPr>
              <a:t>Trace, meter, incident, replay — and the source of the next signal.</a:t>
            </a:r>
          </a:p>
        </p:txBody>
      </p:sp>
      <p:sp>
        <p:nvSpPr>
          <p:cNvPr id="37" name="Rounded Rectangle 36"/>
          <p:cNvSpPr/>
          <p:nvPr/>
        </p:nvSpPr>
        <p:spPr>
          <a:xfrm>
            <a:off x="635000" y="4607560"/>
            <a:ext cx="10909300" cy="1071880"/>
          </a:xfrm>
          <a:prstGeom prst="roundRect">
            <a:avLst>
              <a:gd name="adj" fmla="val 10663"/>
            </a:avLst>
          </a:prstGeom>
          <a:solidFill>
            <a:srgbClr val="EAF1F7"/>
          </a:solidFill>
          <a:ln w="9525">
            <a:solidFill>
              <a:srgbClr val="D5E0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889000" y="4747260"/>
            <a:ext cx="10401300" cy="177800"/>
          </a:xfrm>
          <a:prstGeom prst="rect">
            <a:avLst/>
          </a:prstGeom>
          <a:noFill/>
        </p:spPr>
        <p:txBody>
          <a:bodyPr wrap="square" lIns="0" rIns="0" tIns="0" bIns="0" anchor="t">
            <a:spAutoFit/>
          </a:bodyPr>
          <a:lstStyle/>
          <a:p>
            <a:pPr algn="l">
              <a:lnSpc>
                <a:spcPct val="122000"/>
              </a:lnSpc>
            </a:pPr>
            <a:r>
              <a:rPr sz="950" b="1" i="0">
                <a:solidFill>
                  <a:srgbClr val="0E1E3A"/>
                </a:solidFill>
                <a:latin typeface="Calibri"/>
              </a:rPr>
              <a:t>Why the modes are named separately from the families</a:t>
            </a:r>
          </a:p>
        </p:txBody>
      </p:sp>
      <p:sp>
        <p:nvSpPr>
          <p:cNvPr id="39" name="TextBox 38"/>
          <p:cNvSpPr txBox="1"/>
          <p:nvPr/>
        </p:nvSpPr>
        <p:spPr>
          <a:xfrm>
            <a:off x="889000" y="4975860"/>
            <a:ext cx="10401300" cy="487680"/>
          </a:xfrm>
          <a:prstGeom prst="rect">
            <a:avLst/>
          </a:prstGeom>
          <a:noFill/>
        </p:spPr>
        <p:txBody>
          <a:bodyPr wrap="square" lIns="0" rIns="0" tIns="0" bIns="0" anchor="t">
            <a:spAutoFit/>
          </a:bodyPr>
          <a:lstStyle/>
          <a:p>
            <a:pPr algn="l">
              <a:lnSpc>
                <a:spcPct val="128000"/>
              </a:lnSpc>
            </a:pPr>
            <a:r>
              <a:rPr sz="1000" b="0" i="0">
                <a:solidFill>
                  <a:srgbClr val="24354F"/>
                </a:solidFill>
                <a:latin typeface="Calibri"/>
              </a:rPr>
              <a:t>A test set is authored, tested against, and observed, but is never released — it is the evidence others are released against. A judge is authored and evaluated for human agreement, but has no live target. Enumerating the modes separately from the families is what makes a coverage matrix expressible; without that separation there is only a single undifferentiated notion of “supported.”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35000" y="6337300"/>
            <a:ext cx="6096000" cy="254000"/>
          </a:xfrm>
          <a:prstGeom prst="rect">
            <a:avLst/>
          </a:prstGeom>
          <a:noFill/>
        </p:spPr>
        <p:txBody>
          <a:bodyPr wrap="square" lIns="0" rIns="0" tIns="0" bIns="0" anchor="t">
            <a:spAutoFit/>
          </a:bodyPr>
          <a:lstStyle/>
          <a:p>
            <a:pPr algn="l">
              <a:lnSpc>
                <a:spcPct val="122000"/>
              </a:lnSpc>
            </a:pPr>
            <a:r>
              <a:rPr sz="900" b="0" i="0">
                <a:solidFill>
                  <a:srgbClr val="A3B2C4"/>
                </a:solidFill>
                <a:latin typeface="Calibri"/>
              </a:rPr>
              <a:t>CALIBER  ·  A Layered Control Plane for Governed Releases of AI-Agent Resources</a:t>
            </a:r>
          </a:p>
        </p:txBody>
      </p:sp>
      <p:sp>
        <p:nvSpPr>
          <p:cNvPr id="3" name="TextBox 2"/>
          <p:cNvSpPr txBox="1"/>
          <p:nvPr/>
        </p:nvSpPr>
        <p:spPr>
          <a:xfrm>
            <a:off x="10629900" y="6337300"/>
            <a:ext cx="914400" cy="254000"/>
          </a:xfrm>
          <a:prstGeom prst="rect">
            <a:avLst/>
          </a:prstGeom>
          <a:noFill/>
        </p:spPr>
        <p:txBody>
          <a:bodyPr wrap="square" lIns="0" rIns="0" tIns="0" bIns="0" anchor="t">
            <a:spAutoFit/>
          </a:bodyPr>
          <a:lstStyle/>
          <a:p>
            <a:pPr algn="r">
              <a:lnSpc>
                <a:spcPct val="122000"/>
              </a:lnSpc>
            </a:pPr>
            <a:r>
              <a:rPr sz="900" b="0" i="0">
                <a:solidFill>
                  <a:srgbClr val="A3B2C4"/>
                </a:solidFill>
                <a:latin typeface="Calibri"/>
              </a:rPr>
              <a:t>8</a:t>
            </a:r>
          </a:p>
        </p:txBody>
      </p:sp>
      <p:sp>
        <p:nvSpPr>
          <p:cNvPr id="4" name="TextBox 3"/>
          <p:cNvSpPr txBox="1"/>
          <p:nvPr/>
        </p:nvSpPr>
        <p:spPr>
          <a:xfrm>
            <a:off x="635000" y="381000"/>
            <a:ext cx="10909300" cy="228600"/>
          </a:xfrm>
          <a:prstGeom prst="rect">
            <a:avLst/>
          </a:prstGeom>
          <a:noFill/>
        </p:spPr>
        <p:txBody>
          <a:bodyPr wrap="square" lIns="0" rIns="0" tIns="0" bIns="0" anchor="t">
            <a:spAutoFit/>
          </a:bodyPr>
          <a:lstStyle/>
          <a:p>
            <a:pPr algn="l">
              <a:lnSpc>
                <a:spcPct val="122000"/>
              </a:lnSpc>
            </a:pPr>
            <a:r>
              <a:rPr sz="1050" b="1" i="0">
                <a:solidFill>
                  <a:srgbClr val="1F8A99"/>
                </a:solidFill>
                <a:latin typeface="Calibri"/>
              </a:rPr>
              <a:t>The governance chain  ·  §4.3  ·  Figure 3</a:t>
            </a:r>
          </a:p>
        </p:txBody>
      </p:sp>
      <p:sp>
        <p:nvSpPr>
          <p:cNvPr id="5" name="TextBox 4"/>
          <p:cNvSpPr txBox="1"/>
          <p:nvPr/>
        </p:nvSpPr>
        <p:spPr>
          <a:xfrm>
            <a:off x="635000" y="647700"/>
            <a:ext cx="10909300" cy="495300"/>
          </a:xfrm>
          <a:prstGeom prst="rect">
            <a:avLst/>
          </a:prstGeom>
          <a:noFill/>
        </p:spPr>
        <p:txBody>
          <a:bodyPr wrap="square" lIns="0" rIns="0" tIns="0" bIns="0" anchor="t">
            <a:spAutoFit/>
          </a:bodyPr>
          <a:lstStyle/>
          <a:p>
            <a:pPr algn="l">
              <a:lnSpc>
                <a:spcPct val="108000"/>
              </a:lnSpc>
            </a:pPr>
            <a:r>
              <a:rPr sz="2600" b="1" i="0">
                <a:solidFill>
                  <a:srgbClr val="0E1E3A"/>
                </a:solidFill>
                <a:latin typeface="Calibri"/>
              </a:rPr>
              <a:t>Seven terms, and the durable residue each one leaves</a:t>
            </a:r>
          </a:p>
        </p:txBody>
      </p:sp>
      <p:sp>
        <p:nvSpPr>
          <p:cNvPr id="6" name="TextBox 5"/>
          <p:cNvSpPr txBox="1"/>
          <p:nvPr/>
        </p:nvSpPr>
        <p:spPr>
          <a:xfrm>
            <a:off x="635000" y="1168400"/>
            <a:ext cx="10909300" cy="431800"/>
          </a:xfrm>
          <a:prstGeom prst="rect">
            <a:avLst/>
          </a:prstGeom>
          <a:noFill/>
        </p:spPr>
        <p:txBody>
          <a:bodyPr wrap="square" lIns="0" rIns="0" tIns="0" bIns="0" anchor="t">
            <a:spAutoFit/>
          </a:bodyPr>
          <a:lstStyle/>
          <a:p>
            <a:pPr algn="l">
              <a:lnSpc>
                <a:spcPct val="130000"/>
              </a:lnSpc>
            </a:pPr>
            <a:r>
              <a:rPr sz="1250" b="0" i="0">
                <a:solidFill>
                  <a:srgbClr val="24354F"/>
                </a:solidFill>
                <a:latin typeface="Calibri"/>
              </a:rPr>
              <a:t>The chain is what makes a change reviewable. Each term deposits state, so six weeks later “why is the prompt like this, and what did we know when we changed it” is answerable from records rather than from recollection.</a:t>
            </a:r>
          </a:p>
        </p:txBody>
      </p:sp>
      <p:sp>
        <p:nvSpPr>
          <p:cNvPr id="7" name="Rounded Rectangle 6"/>
          <p:cNvSpPr/>
          <p:nvPr/>
        </p:nvSpPr>
        <p:spPr>
          <a:xfrm>
            <a:off x="635000" y="1701800"/>
            <a:ext cx="1460500" cy="1346200"/>
          </a:xfrm>
          <a:prstGeom prst="roundRect">
            <a:avLst>
              <a:gd name="adj" fmla="val 8490"/>
            </a:avLst>
          </a:prstGeom>
          <a:solidFill>
            <a:srgbClr val="E8F4F5"/>
          </a:solidFill>
          <a:ln w="9525">
            <a:solidFill>
              <a:srgbClr val="CFE4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62000" y="1866900"/>
            <a:ext cx="1206500" cy="203200"/>
          </a:xfrm>
          <a:prstGeom prst="rect">
            <a:avLst/>
          </a:prstGeom>
          <a:noFill/>
        </p:spPr>
        <p:txBody>
          <a:bodyPr wrap="square" lIns="0" rIns="0" tIns="0" bIns="0" anchor="t">
            <a:spAutoFit/>
          </a:bodyPr>
          <a:lstStyle/>
          <a:p>
            <a:pPr algn="l">
              <a:lnSpc>
                <a:spcPct val="122000"/>
              </a:lnSpc>
            </a:pPr>
            <a:r>
              <a:rPr sz="1100" b="1" i="0">
                <a:solidFill>
                  <a:srgbClr val="1F8A99"/>
                </a:solidFill>
                <a:latin typeface="Calibri"/>
              </a:rPr>
              <a:t>Signal</a:t>
            </a:r>
          </a:p>
        </p:txBody>
      </p:sp>
      <p:sp>
        <p:nvSpPr>
          <p:cNvPr id="9" name="TextBox 8"/>
          <p:cNvSpPr txBox="1"/>
          <p:nvPr/>
        </p:nvSpPr>
        <p:spPr>
          <a:xfrm>
            <a:off x="762000" y="2146300"/>
            <a:ext cx="1206500" cy="736600"/>
          </a:xfrm>
          <a:prstGeom prst="rect">
            <a:avLst/>
          </a:prstGeom>
          <a:noFill/>
        </p:spPr>
        <p:txBody>
          <a:bodyPr wrap="square" lIns="0" rIns="0" tIns="0" bIns="0" anchor="t">
            <a:spAutoFit/>
          </a:bodyPr>
          <a:lstStyle/>
          <a:p>
            <a:pPr algn="l">
              <a:lnSpc>
                <a:spcPct val="122000"/>
              </a:lnSpc>
            </a:pPr>
            <a:r>
              <a:rPr sz="850" b="0" i="0">
                <a:solidFill>
                  <a:srgbClr val="24354F"/>
                </a:solidFill>
                <a:latin typeface="Calibri"/>
              </a:rPr>
              <a:t>a failure worth acting on</a:t>
            </a:r>
          </a:p>
        </p:txBody>
      </p:sp>
      <p:sp>
        <p:nvSpPr>
          <p:cNvPr id="10" name="TextBox 9"/>
          <p:cNvSpPr txBox="1"/>
          <p:nvPr/>
        </p:nvSpPr>
        <p:spPr>
          <a:xfrm>
            <a:off x="2082800" y="2260600"/>
            <a:ext cx="177800" cy="228600"/>
          </a:xfrm>
          <a:prstGeom prst="rect">
            <a:avLst/>
          </a:prstGeom>
          <a:noFill/>
        </p:spPr>
        <p:txBody>
          <a:bodyPr wrap="square" lIns="0" rIns="0" tIns="0" bIns="0" anchor="t">
            <a:spAutoFit/>
          </a:bodyPr>
          <a:lstStyle/>
          <a:p>
            <a:pPr algn="ctr">
              <a:lnSpc>
                <a:spcPct val="122000"/>
              </a:lnSpc>
            </a:pPr>
            <a:r>
              <a:rPr sz="1300" b="1" i="0">
                <a:solidFill>
                  <a:srgbClr val="56B3BE"/>
                </a:solidFill>
                <a:latin typeface="Calibri"/>
              </a:rPr>
              <a:t>›</a:t>
            </a:r>
          </a:p>
        </p:txBody>
      </p:sp>
      <p:sp>
        <p:nvSpPr>
          <p:cNvPr id="11" name="Rounded Rectangle 10"/>
          <p:cNvSpPr/>
          <p:nvPr/>
        </p:nvSpPr>
        <p:spPr>
          <a:xfrm>
            <a:off x="2209800" y="1701800"/>
            <a:ext cx="1460500" cy="1346200"/>
          </a:xfrm>
          <a:prstGeom prst="roundRect">
            <a:avLst>
              <a:gd name="adj" fmla="val 8490"/>
            </a:avLst>
          </a:prstGeom>
          <a:solidFill>
            <a:srgbClr val="E8F4F5"/>
          </a:solidFill>
          <a:ln w="9525">
            <a:solidFill>
              <a:srgbClr val="CFE4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336800" y="1866900"/>
            <a:ext cx="1206500" cy="203200"/>
          </a:xfrm>
          <a:prstGeom prst="rect">
            <a:avLst/>
          </a:prstGeom>
          <a:noFill/>
        </p:spPr>
        <p:txBody>
          <a:bodyPr wrap="square" lIns="0" rIns="0" tIns="0" bIns="0" anchor="t">
            <a:spAutoFit/>
          </a:bodyPr>
          <a:lstStyle/>
          <a:p>
            <a:pPr algn="l">
              <a:lnSpc>
                <a:spcPct val="122000"/>
              </a:lnSpc>
            </a:pPr>
            <a:r>
              <a:rPr sz="1100" b="1" i="0">
                <a:solidFill>
                  <a:srgbClr val="1F8A99"/>
                </a:solidFill>
                <a:latin typeface="Calibri"/>
              </a:rPr>
              <a:t>Evidence</a:t>
            </a:r>
          </a:p>
        </p:txBody>
      </p:sp>
      <p:sp>
        <p:nvSpPr>
          <p:cNvPr id="13" name="TextBox 12"/>
          <p:cNvSpPr txBox="1"/>
          <p:nvPr/>
        </p:nvSpPr>
        <p:spPr>
          <a:xfrm>
            <a:off x="2336800" y="2146300"/>
            <a:ext cx="1206500" cy="736600"/>
          </a:xfrm>
          <a:prstGeom prst="rect">
            <a:avLst/>
          </a:prstGeom>
          <a:noFill/>
        </p:spPr>
        <p:txBody>
          <a:bodyPr wrap="square" lIns="0" rIns="0" tIns="0" bIns="0" anchor="t">
            <a:spAutoFit/>
          </a:bodyPr>
          <a:lstStyle/>
          <a:p>
            <a:pPr algn="l">
              <a:lnSpc>
                <a:spcPct val="122000"/>
              </a:lnSpc>
            </a:pPr>
            <a:r>
              <a:rPr sz="850" b="0" i="0">
                <a:solidFill>
                  <a:srgbClr val="24354F"/>
                </a:solidFill>
                <a:latin typeface="Calibri"/>
              </a:rPr>
              <a:t>traces and examples assembled into a corpus</a:t>
            </a:r>
          </a:p>
        </p:txBody>
      </p:sp>
      <p:sp>
        <p:nvSpPr>
          <p:cNvPr id="14" name="TextBox 13"/>
          <p:cNvSpPr txBox="1"/>
          <p:nvPr/>
        </p:nvSpPr>
        <p:spPr>
          <a:xfrm>
            <a:off x="3657600" y="2260600"/>
            <a:ext cx="177800" cy="228600"/>
          </a:xfrm>
          <a:prstGeom prst="rect">
            <a:avLst/>
          </a:prstGeom>
          <a:noFill/>
        </p:spPr>
        <p:txBody>
          <a:bodyPr wrap="square" lIns="0" rIns="0" tIns="0" bIns="0" anchor="t">
            <a:spAutoFit/>
          </a:bodyPr>
          <a:lstStyle/>
          <a:p>
            <a:pPr algn="ctr">
              <a:lnSpc>
                <a:spcPct val="122000"/>
              </a:lnSpc>
            </a:pPr>
            <a:r>
              <a:rPr sz="1300" b="1" i="0">
                <a:solidFill>
                  <a:srgbClr val="56B3BE"/>
                </a:solidFill>
                <a:latin typeface="Calibri"/>
              </a:rPr>
              <a:t>›</a:t>
            </a:r>
          </a:p>
        </p:txBody>
      </p:sp>
      <p:sp>
        <p:nvSpPr>
          <p:cNvPr id="15" name="Rounded Rectangle 14"/>
          <p:cNvSpPr/>
          <p:nvPr/>
        </p:nvSpPr>
        <p:spPr>
          <a:xfrm>
            <a:off x="3784600" y="1701800"/>
            <a:ext cx="1460500" cy="1346200"/>
          </a:xfrm>
          <a:prstGeom prst="roundRect">
            <a:avLst>
              <a:gd name="adj" fmla="val 8490"/>
            </a:avLst>
          </a:prstGeom>
          <a:solidFill>
            <a:srgbClr val="E8F4F5"/>
          </a:solidFill>
          <a:ln w="9525">
            <a:solidFill>
              <a:srgbClr val="CFE4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911600" y="1866900"/>
            <a:ext cx="1206500" cy="203200"/>
          </a:xfrm>
          <a:prstGeom prst="rect">
            <a:avLst/>
          </a:prstGeom>
          <a:noFill/>
        </p:spPr>
        <p:txBody>
          <a:bodyPr wrap="square" lIns="0" rIns="0" tIns="0" bIns="0" anchor="t">
            <a:spAutoFit/>
          </a:bodyPr>
          <a:lstStyle/>
          <a:p>
            <a:pPr algn="l">
              <a:lnSpc>
                <a:spcPct val="122000"/>
              </a:lnSpc>
            </a:pPr>
            <a:r>
              <a:rPr sz="1100" b="1" i="0">
                <a:solidFill>
                  <a:srgbClr val="1F8A99"/>
                </a:solidFill>
                <a:latin typeface="Calibri"/>
              </a:rPr>
              <a:t>Candidate</a:t>
            </a:r>
          </a:p>
        </p:txBody>
      </p:sp>
      <p:sp>
        <p:nvSpPr>
          <p:cNvPr id="17" name="TextBox 16"/>
          <p:cNvSpPr txBox="1"/>
          <p:nvPr/>
        </p:nvSpPr>
        <p:spPr>
          <a:xfrm>
            <a:off x="3911600" y="2146300"/>
            <a:ext cx="1206500" cy="736600"/>
          </a:xfrm>
          <a:prstGeom prst="rect">
            <a:avLst/>
          </a:prstGeom>
          <a:noFill/>
        </p:spPr>
        <p:txBody>
          <a:bodyPr wrap="square" lIns="0" rIns="0" tIns="0" bIns="0" anchor="t">
            <a:spAutoFit/>
          </a:bodyPr>
          <a:lstStyle/>
          <a:p>
            <a:pPr algn="l">
              <a:lnSpc>
                <a:spcPct val="122000"/>
              </a:lnSpc>
            </a:pPr>
            <a:r>
              <a:rPr sz="850" b="0" i="0">
                <a:solidFill>
                  <a:srgbClr val="24354F"/>
                </a:solidFill>
                <a:latin typeface="Calibri"/>
              </a:rPr>
              <a:t>a proposed better version</a:t>
            </a:r>
          </a:p>
        </p:txBody>
      </p:sp>
      <p:sp>
        <p:nvSpPr>
          <p:cNvPr id="18" name="TextBox 17"/>
          <p:cNvSpPr txBox="1"/>
          <p:nvPr/>
        </p:nvSpPr>
        <p:spPr>
          <a:xfrm>
            <a:off x="5232400" y="2260600"/>
            <a:ext cx="177800" cy="228600"/>
          </a:xfrm>
          <a:prstGeom prst="rect">
            <a:avLst/>
          </a:prstGeom>
          <a:noFill/>
        </p:spPr>
        <p:txBody>
          <a:bodyPr wrap="square" lIns="0" rIns="0" tIns="0" bIns="0" anchor="t">
            <a:spAutoFit/>
          </a:bodyPr>
          <a:lstStyle/>
          <a:p>
            <a:pPr algn="ctr">
              <a:lnSpc>
                <a:spcPct val="122000"/>
              </a:lnSpc>
            </a:pPr>
            <a:r>
              <a:rPr sz="1300" b="1" i="0">
                <a:solidFill>
                  <a:srgbClr val="56B3BE"/>
                </a:solidFill>
                <a:latin typeface="Calibri"/>
              </a:rPr>
              <a:t>›</a:t>
            </a:r>
          </a:p>
        </p:txBody>
      </p:sp>
      <p:sp>
        <p:nvSpPr>
          <p:cNvPr id="19" name="Rounded Rectangle 18"/>
          <p:cNvSpPr/>
          <p:nvPr/>
        </p:nvSpPr>
        <p:spPr>
          <a:xfrm>
            <a:off x="5359400" y="1701800"/>
            <a:ext cx="1460500" cy="1346200"/>
          </a:xfrm>
          <a:prstGeom prst="roundRect">
            <a:avLst>
              <a:gd name="adj" fmla="val 8490"/>
            </a:avLst>
          </a:prstGeom>
          <a:solidFill>
            <a:srgbClr val="E8F4F5"/>
          </a:solidFill>
          <a:ln w="9525">
            <a:solidFill>
              <a:srgbClr val="CFE4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486400" y="1866900"/>
            <a:ext cx="1206500" cy="203200"/>
          </a:xfrm>
          <a:prstGeom prst="rect">
            <a:avLst/>
          </a:prstGeom>
          <a:noFill/>
        </p:spPr>
        <p:txBody>
          <a:bodyPr wrap="square" lIns="0" rIns="0" tIns="0" bIns="0" anchor="t">
            <a:spAutoFit/>
          </a:bodyPr>
          <a:lstStyle/>
          <a:p>
            <a:pPr algn="l">
              <a:lnSpc>
                <a:spcPct val="122000"/>
              </a:lnSpc>
            </a:pPr>
            <a:r>
              <a:rPr sz="1100" b="1" i="0">
                <a:solidFill>
                  <a:srgbClr val="1F8A99"/>
                </a:solidFill>
                <a:latin typeface="Calibri"/>
              </a:rPr>
              <a:t>Measurement</a:t>
            </a:r>
          </a:p>
        </p:txBody>
      </p:sp>
      <p:sp>
        <p:nvSpPr>
          <p:cNvPr id="21" name="TextBox 20"/>
          <p:cNvSpPr txBox="1"/>
          <p:nvPr/>
        </p:nvSpPr>
        <p:spPr>
          <a:xfrm>
            <a:off x="5486400" y="2146300"/>
            <a:ext cx="1206500" cy="736600"/>
          </a:xfrm>
          <a:prstGeom prst="rect">
            <a:avLst/>
          </a:prstGeom>
          <a:noFill/>
        </p:spPr>
        <p:txBody>
          <a:bodyPr wrap="square" lIns="0" rIns="0" tIns="0" bIns="0" anchor="t">
            <a:spAutoFit/>
          </a:bodyPr>
          <a:lstStyle/>
          <a:p>
            <a:pPr algn="l">
              <a:lnSpc>
                <a:spcPct val="122000"/>
              </a:lnSpc>
            </a:pPr>
            <a:r>
              <a:rPr sz="850" b="0" i="0">
                <a:solidFill>
                  <a:srgbClr val="24354F"/>
                </a:solidFill>
                <a:latin typeface="Calibri"/>
              </a:rPr>
              <a:t>scored against that corpus</a:t>
            </a:r>
          </a:p>
        </p:txBody>
      </p:sp>
      <p:sp>
        <p:nvSpPr>
          <p:cNvPr id="22" name="TextBox 21"/>
          <p:cNvSpPr txBox="1"/>
          <p:nvPr/>
        </p:nvSpPr>
        <p:spPr>
          <a:xfrm>
            <a:off x="6807200" y="2260600"/>
            <a:ext cx="177800" cy="228600"/>
          </a:xfrm>
          <a:prstGeom prst="rect">
            <a:avLst/>
          </a:prstGeom>
          <a:noFill/>
        </p:spPr>
        <p:txBody>
          <a:bodyPr wrap="square" lIns="0" rIns="0" tIns="0" bIns="0" anchor="t">
            <a:spAutoFit/>
          </a:bodyPr>
          <a:lstStyle/>
          <a:p>
            <a:pPr algn="ctr">
              <a:lnSpc>
                <a:spcPct val="122000"/>
              </a:lnSpc>
            </a:pPr>
            <a:r>
              <a:rPr sz="1300" b="1" i="0">
                <a:solidFill>
                  <a:srgbClr val="56B3BE"/>
                </a:solidFill>
                <a:latin typeface="Calibri"/>
              </a:rPr>
              <a:t>›</a:t>
            </a:r>
          </a:p>
        </p:txBody>
      </p:sp>
      <p:sp>
        <p:nvSpPr>
          <p:cNvPr id="23" name="Rounded Rectangle 22"/>
          <p:cNvSpPr/>
          <p:nvPr/>
        </p:nvSpPr>
        <p:spPr>
          <a:xfrm>
            <a:off x="6934200" y="1701800"/>
            <a:ext cx="1460500" cy="1346200"/>
          </a:xfrm>
          <a:prstGeom prst="roundRect">
            <a:avLst>
              <a:gd name="adj" fmla="val 8490"/>
            </a:avLst>
          </a:prstGeom>
          <a:solidFill>
            <a:srgbClr val="E8F4F5"/>
          </a:solidFill>
          <a:ln w="9525">
            <a:solidFill>
              <a:srgbClr val="CFE4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061200" y="1866900"/>
            <a:ext cx="1206500" cy="203200"/>
          </a:xfrm>
          <a:prstGeom prst="rect">
            <a:avLst/>
          </a:prstGeom>
          <a:noFill/>
        </p:spPr>
        <p:txBody>
          <a:bodyPr wrap="square" lIns="0" rIns="0" tIns="0" bIns="0" anchor="t">
            <a:spAutoFit/>
          </a:bodyPr>
          <a:lstStyle/>
          <a:p>
            <a:pPr algn="l">
              <a:lnSpc>
                <a:spcPct val="122000"/>
              </a:lnSpc>
            </a:pPr>
            <a:r>
              <a:rPr sz="1100" b="1" i="0">
                <a:solidFill>
                  <a:srgbClr val="1F8A99"/>
                </a:solidFill>
                <a:latin typeface="Calibri"/>
              </a:rPr>
              <a:t>Decision</a:t>
            </a:r>
          </a:p>
        </p:txBody>
      </p:sp>
      <p:sp>
        <p:nvSpPr>
          <p:cNvPr id="25" name="TextBox 24"/>
          <p:cNvSpPr txBox="1"/>
          <p:nvPr/>
        </p:nvSpPr>
        <p:spPr>
          <a:xfrm>
            <a:off x="7061200" y="2146300"/>
            <a:ext cx="1206500" cy="736600"/>
          </a:xfrm>
          <a:prstGeom prst="rect">
            <a:avLst/>
          </a:prstGeom>
          <a:noFill/>
        </p:spPr>
        <p:txBody>
          <a:bodyPr wrap="square" lIns="0" rIns="0" tIns="0" bIns="0" anchor="t">
            <a:spAutoFit/>
          </a:bodyPr>
          <a:lstStyle/>
          <a:p>
            <a:pPr algn="l">
              <a:lnSpc>
                <a:spcPct val="122000"/>
              </a:lnSpc>
            </a:pPr>
            <a:r>
              <a:rPr sz="850" b="0" i="0">
                <a:solidFill>
                  <a:srgbClr val="24354F"/>
                </a:solidFill>
                <a:latin typeface="Calibri"/>
              </a:rPr>
              <a:t>an operator applies, or does not</a:t>
            </a:r>
          </a:p>
        </p:txBody>
      </p:sp>
      <p:sp>
        <p:nvSpPr>
          <p:cNvPr id="26" name="TextBox 25"/>
          <p:cNvSpPr txBox="1"/>
          <p:nvPr/>
        </p:nvSpPr>
        <p:spPr>
          <a:xfrm>
            <a:off x="8382000" y="2260600"/>
            <a:ext cx="177800" cy="228600"/>
          </a:xfrm>
          <a:prstGeom prst="rect">
            <a:avLst/>
          </a:prstGeom>
          <a:noFill/>
        </p:spPr>
        <p:txBody>
          <a:bodyPr wrap="square" lIns="0" rIns="0" tIns="0" bIns="0" anchor="t">
            <a:spAutoFit/>
          </a:bodyPr>
          <a:lstStyle/>
          <a:p>
            <a:pPr algn="ctr">
              <a:lnSpc>
                <a:spcPct val="122000"/>
              </a:lnSpc>
            </a:pPr>
            <a:r>
              <a:rPr sz="1300" b="1" i="0">
                <a:solidFill>
                  <a:srgbClr val="56B3BE"/>
                </a:solidFill>
                <a:latin typeface="Calibri"/>
              </a:rPr>
              <a:t>›</a:t>
            </a:r>
          </a:p>
        </p:txBody>
      </p:sp>
      <p:sp>
        <p:nvSpPr>
          <p:cNvPr id="27" name="Rounded Rectangle 26"/>
          <p:cNvSpPr/>
          <p:nvPr/>
        </p:nvSpPr>
        <p:spPr>
          <a:xfrm>
            <a:off x="8509000" y="1701800"/>
            <a:ext cx="1460500" cy="1346200"/>
          </a:xfrm>
          <a:prstGeom prst="roundRect">
            <a:avLst>
              <a:gd name="adj" fmla="val 8490"/>
            </a:avLst>
          </a:prstGeom>
          <a:solidFill>
            <a:srgbClr val="E8F4F5"/>
          </a:solidFill>
          <a:ln w="9525">
            <a:solidFill>
              <a:srgbClr val="CFE4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636000" y="1866900"/>
            <a:ext cx="1206500" cy="203200"/>
          </a:xfrm>
          <a:prstGeom prst="rect">
            <a:avLst/>
          </a:prstGeom>
          <a:noFill/>
        </p:spPr>
        <p:txBody>
          <a:bodyPr wrap="square" lIns="0" rIns="0" tIns="0" bIns="0" anchor="t">
            <a:spAutoFit/>
          </a:bodyPr>
          <a:lstStyle/>
          <a:p>
            <a:pPr algn="l">
              <a:lnSpc>
                <a:spcPct val="122000"/>
              </a:lnSpc>
            </a:pPr>
            <a:r>
              <a:rPr sz="1100" b="1" i="0">
                <a:solidFill>
                  <a:srgbClr val="1F8A99"/>
                </a:solidFill>
                <a:latin typeface="Calibri"/>
              </a:rPr>
              <a:t>Release</a:t>
            </a:r>
          </a:p>
        </p:txBody>
      </p:sp>
      <p:sp>
        <p:nvSpPr>
          <p:cNvPr id="29" name="TextBox 28"/>
          <p:cNvSpPr txBox="1"/>
          <p:nvPr/>
        </p:nvSpPr>
        <p:spPr>
          <a:xfrm>
            <a:off x="8636000" y="2146300"/>
            <a:ext cx="1206500" cy="736600"/>
          </a:xfrm>
          <a:prstGeom prst="rect">
            <a:avLst/>
          </a:prstGeom>
          <a:noFill/>
        </p:spPr>
        <p:txBody>
          <a:bodyPr wrap="square" lIns="0" rIns="0" tIns="0" bIns="0" anchor="t">
            <a:spAutoFit/>
          </a:bodyPr>
          <a:lstStyle/>
          <a:p>
            <a:pPr algn="l">
              <a:lnSpc>
                <a:spcPct val="122000"/>
              </a:lnSpc>
            </a:pPr>
            <a:r>
              <a:rPr sz="850" b="0" i="0">
                <a:solidFill>
                  <a:srgbClr val="24354F"/>
                </a:solidFill>
                <a:latin typeface="Calibri"/>
              </a:rPr>
              <a:t>the live target moves</a:t>
            </a:r>
          </a:p>
        </p:txBody>
      </p:sp>
      <p:sp>
        <p:nvSpPr>
          <p:cNvPr id="30" name="TextBox 29"/>
          <p:cNvSpPr txBox="1"/>
          <p:nvPr/>
        </p:nvSpPr>
        <p:spPr>
          <a:xfrm>
            <a:off x="9956800" y="2260600"/>
            <a:ext cx="177800" cy="228600"/>
          </a:xfrm>
          <a:prstGeom prst="rect">
            <a:avLst/>
          </a:prstGeom>
          <a:noFill/>
        </p:spPr>
        <p:txBody>
          <a:bodyPr wrap="square" lIns="0" rIns="0" tIns="0" bIns="0" anchor="t">
            <a:spAutoFit/>
          </a:bodyPr>
          <a:lstStyle/>
          <a:p>
            <a:pPr algn="ctr">
              <a:lnSpc>
                <a:spcPct val="122000"/>
              </a:lnSpc>
            </a:pPr>
            <a:r>
              <a:rPr sz="1300" b="1" i="0">
                <a:solidFill>
                  <a:srgbClr val="56B3BE"/>
                </a:solidFill>
                <a:latin typeface="Calibri"/>
              </a:rPr>
              <a:t>›</a:t>
            </a:r>
          </a:p>
        </p:txBody>
      </p:sp>
      <p:sp>
        <p:nvSpPr>
          <p:cNvPr id="31" name="Rounded Rectangle 30"/>
          <p:cNvSpPr/>
          <p:nvPr/>
        </p:nvSpPr>
        <p:spPr>
          <a:xfrm>
            <a:off x="10083800" y="1701800"/>
            <a:ext cx="1460500" cy="1346200"/>
          </a:xfrm>
          <a:prstGeom prst="roundRect">
            <a:avLst>
              <a:gd name="adj" fmla="val 8490"/>
            </a:avLst>
          </a:prstGeom>
          <a:solidFill>
            <a:srgbClr val="E8F4F5"/>
          </a:solidFill>
          <a:ln w="9525">
            <a:solidFill>
              <a:srgbClr val="CFE4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0210800" y="1866900"/>
            <a:ext cx="1206500" cy="203200"/>
          </a:xfrm>
          <a:prstGeom prst="rect">
            <a:avLst/>
          </a:prstGeom>
          <a:noFill/>
        </p:spPr>
        <p:txBody>
          <a:bodyPr wrap="square" lIns="0" rIns="0" tIns="0" bIns="0" anchor="t">
            <a:spAutoFit/>
          </a:bodyPr>
          <a:lstStyle/>
          <a:p>
            <a:pPr algn="l">
              <a:lnSpc>
                <a:spcPct val="122000"/>
              </a:lnSpc>
            </a:pPr>
            <a:r>
              <a:rPr sz="1100" b="1" i="0">
                <a:solidFill>
                  <a:srgbClr val="1F8A99"/>
                </a:solidFill>
                <a:latin typeface="Calibri"/>
              </a:rPr>
              <a:t>Trace</a:t>
            </a:r>
          </a:p>
        </p:txBody>
      </p:sp>
      <p:sp>
        <p:nvSpPr>
          <p:cNvPr id="33" name="TextBox 32"/>
          <p:cNvSpPr txBox="1"/>
          <p:nvPr/>
        </p:nvSpPr>
        <p:spPr>
          <a:xfrm>
            <a:off x="10210800" y="2146300"/>
            <a:ext cx="1206500" cy="736600"/>
          </a:xfrm>
          <a:prstGeom prst="rect">
            <a:avLst/>
          </a:prstGeom>
          <a:noFill/>
        </p:spPr>
        <p:txBody>
          <a:bodyPr wrap="square" lIns="0" rIns="0" tIns="0" bIns="0" anchor="t">
            <a:spAutoFit/>
          </a:bodyPr>
          <a:lstStyle/>
          <a:p>
            <a:pPr algn="l">
              <a:lnSpc>
                <a:spcPct val="122000"/>
              </a:lnSpc>
            </a:pPr>
            <a:r>
              <a:rPr sz="850" b="0" i="0">
                <a:solidFill>
                  <a:srgbClr val="24354F"/>
                </a:solidFill>
                <a:latin typeface="Calibri"/>
              </a:rPr>
              <a:t>the next signal arrives</a:t>
            </a:r>
          </a:p>
        </p:txBody>
      </p:sp>
      <p:sp>
        <p:nvSpPr>
          <p:cNvPr id="34" name="TextBox 33"/>
          <p:cNvSpPr txBox="1"/>
          <p:nvPr/>
        </p:nvSpPr>
        <p:spPr>
          <a:xfrm>
            <a:off x="635000" y="3149600"/>
            <a:ext cx="10909300" cy="190500"/>
          </a:xfrm>
          <a:prstGeom prst="rect">
            <a:avLst/>
          </a:prstGeom>
          <a:noFill/>
        </p:spPr>
        <p:txBody>
          <a:bodyPr wrap="square" lIns="0" rIns="0" tIns="0" bIns="0" anchor="t">
            <a:spAutoFit/>
          </a:bodyPr>
          <a:lstStyle/>
          <a:p>
            <a:pPr algn="l">
              <a:lnSpc>
                <a:spcPct val="122000"/>
              </a:lnSpc>
            </a:pPr>
            <a:r>
              <a:rPr sz="950" b="1" i="0">
                <a:solidFill>
                  <a:srgbClr val="5A6B84"/>
                </a:solidFill>
                <a:latin typeface="Calibri"/>
              </a:rPr>
              <a:t>The durable residue — the lower register of Figure 3</a:t>
            </a:r>
          </a:p>
        </p:txBody>
      </p:sp>
      <p:sp>
        <p:nvSpPr>
          <p:cNvPr id="35" name="Rounded Rectangle 34"/>
          <p:cNvSpPr/>
          <p:nvPr/>
        </p:nvSpPr>
        <p:spPr>
          <a:xfrm>
            <a:off x="635000" y="3403600"/>
            <a:ext cx="1460500" cy="965200"/>
          </a:xfrm>
          <a:prstGeom prst="roundRect">
            <a:avLst>
              <a:gd name="adj" fmla="val 11842"/>
            </a:avLst>
          </a:prstGeom>
          <a:solidFill>
            <a:srgbClr val="F5F9FC"/>
          </a:solidFill>
          <a:ln w="9525">
            <a:solidFill>
              <a:srgbClr val="E4ED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62000" y="3556000"/>
            <a:ext cx="1206500" cy="685800"/>
          </a:xfrm>
          <a:prstGeom prst="rect">
            <a:avLst/>
          </a:prstGeom>
          <a:noFill/>
        </p:spPr>
        <p:txBody>
          <a:bodyPr wrap="square" lIns="0" rIns="0" tIns="0" bIns="0" anchor="t">
            <a:spAutoFit/>
          </a:bodyPr>
          <a:lstStyle/>
          <a:p>
            <a:pPr algn="l">
              <a:lnSpc>
                <a:spcPct val="122000"/>
              </a:lnSpc>
            </a:pPr>
            <a:r>
              <a:rPr sz="850" b="0" i="0">
                <a:solidFill>
                  <a:srgbClr val="5A6B84"/>
                </a:solidFill>
                <a:latin typeface="Calibri"/>
              </a:rPr>
              <a:t>a verification item</a:t>
            </a:r>
          </a:p>
        </p:txBody>
      </p:sp>
      <p:sp>
        <p:nvSpPr>
          <p:cNvPr id="37" name="Rounded Rectangle 36"/>
          <p:cNvSpPr/>
          <p:nvPr/>
        </p:nvSpPr>
        <p:spPr>
          <a:xfrm>
            <a:off x="2209800" y="3403600"/>
            <a:ext cx="1460500" cy="965200"/>
          </a:xfrm>
          <a:prstGeom prst="roundRect">
            <a:avLst>
              <a:gd name="adj" fmla="val 11842"/>
            </a:avLst>
          </a:prstGeom>
          <a:solidFill>
            <a:srgbClr val="F5F9FC"/>
          </a:solidFill>
          <a:ln w="9525">
            <a:solidFill>
              <a:srgbClr val="E4ED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2336800" y="3556000"/>
            <a:ext cx="1206500" cy="685800"/>
          </a:xfrm>
          <a:prstGeom prst="rect">
            <a:avLst/>
          </a:prstGeom>
          <a:noFill/>
        </p:spPr>
        <p:txBody>
          <a:bodyPr wrap="square" lIns="0" rIns="0" tIns="0" bIns="0" anchor="t">
            <a:spAutoFit/>
          </a:bodyPr>
          <a:lstStyle/>
          <a:p>
            <a:pPr algn="l">
              <a:lnSpc>
                <a:spcPct val="122000"/>
              </a:lnSpc>
            </a:pPr>
            <a:r>
              <a:rPr sz="850" b="0" i="0">
                <a:solidFill>
                  <a:srgbClr val="5A6B84"/>
                </a:solidFill>
                <a:latin typeface="Calibri"/>
              </a:rPr>
              <a:t>a refinement job with its assembled evidence</a:t>
            </a:r>
          </a:p>
        </p:txBody>
      </p:sp>
      <p:sp>
        <p:nvSpPr>
          <p:cNvPr id="39" name="Rounded Rectangle 38"/>
          <p:cNvSpPr/>
          <p:nvPr/>
        </p:nvSpPr>
        <p:spPr>
          <a:xfrm>
            <a:off x="3784600" y="3403600"/>
            <a:ext cx="1460500" cy="965200"/>
          </a:xfrm>
          <a:prstGeom prst="roundRect">
            <a:avLst>
              <a:gd name="adj" fmla="val 11842"/>
            </a:avLst>
          </a:prstGeom>
          <a:solidFill>
            <a:srgbClr val="F5F9FC"/>
          </a:solidFill>
          <a:ln w="9525">
            <a:solidFill>
              <a:srgbClr val="E4ED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3911600" y="3556000"/>
            <a:ext cx="1206500" cy="685800"/>
          </a:xfrm>
          <a:prstGeom prst="rect">
            <a:avLst/>
          </a:prstGeom>
          <a:noFill/>
        </p:spPr>
        <p:txBody>
          <a:bodyPr wrap="square" lIns="0" rIns="0" tIns="0" bIns="0" anchor="t">
            <a:spAutoFit/>
          </a:bodyPr>
          <a:lstStyle/>
          <a:p>
            <a:pPr algn="l">
              <a:lnSpc>
                <a:spcPct val="122000"/>
              </a:lnSpc>
            </a:pPr>
            <a:r>
              <a:rPr sz="850" b="0" i="0">
                <a:solidFill>
                  <a:srgbClr val="5A6B84"/>
                </a:solidFill>
                <a:latin typeface="Calibri"/>
              </a:rPr>
              <a:t>a diagnosis and a candidate artifact</a:t>
            </a:r>
          </a:p>
        </p:txBody>
      </p:sp>
      <p:sp>
        <p:nvSpPr>
          <p:cNvPr id="41" name="Rounded Rectangle 40"/>
          <p:cNvSpPr/>
          <p:nvPr/>
        </p:nvSpPr>
        <p:spPr>
          <a:xfrm>
            <a:off x="5359400" y="3403600"/>
            <a:ext cx="1460500" cy="965200"/>
          </a:xfrm>
          <a:prstGeom prst="roundRect">
            <a:avLst>
              <a:gd name="adj" fmla="val 11842"/>
            </a:avLst>
          </a:prstGeom>
          <a:solidFill>
            <a:srgbClr val="F5F9FC"/>
          </a:solidFill>
          <a:ln w="9525">
            <a:solidFill>
              <a:srgbClr val="E4ED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5486400" y="3556000"/>
            <a:ext cx="1206500" cy="685800"/>
          </a:xfrm>
          <a:prstGeom prst="rect">
            <a:avLst/>
          </a:prstGeom>
          <a:noFill/>
        </p:spPr>
        <p:txBody>
          <a:bodyPr wrap="square" lIns="0" rIns="0" tIns="0" bIns="0" anchor="t">
            <a:spAutoFit/>
          </a:bodyPr>
          <a:lstStyle/>
          <a:p>
            <a:pPr algn="l">
              <a:lnSpc>
                <a:spcPct val="122000"/>
              </a:lnSpc>
            </a:pPr>
            <a:r>
              <a:rPr sz="850" b="0" i="0">
                <a:solidFill>
                  <a:srgbClr val="5A6B84"/>
                </a:solidFill>
                <a:latin typeface="Calibri"/>
              </a:rPr>
              <a:t>scores with an enforced gate decision</a:t>
            </a:r>
          </a:p>
        </p:txBody>
      </p:sp>
      <p:sp>
        <p:nvSpPr>
          <p:cNvPr id="43" name="Rounded Rectangle 42"/>
          <p:cNvSpPr/>
          <p:nvPr/>
        </p:nvSpPr>
        <p:spPr>
          <a:xfrm>
            <a:off x="6934200" y="3403600"/>
            <a:ext cx="1460500" cy="965200"/>
          </a:xfrm>
          <a:prstGeom prst="roundRect">
            <a:avLst>
              <a:gd name="adj" fmla="val 11842"/>
            </a:avLst>
          </a:prstGeom>
          <a:solidFill>
            <a:srgbClr val="F5F9FC"/>
          </a:solidFill>
          <a:ln w="9525">
            <a:solidFill>
              <a:srgbClr val="E4ED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7061200" y="3556000"/>
            <a:ext cx="1206500" cy="685800"/>
          </a:xfrm>
          <a:prstGeom prst="rect">
            <a:avLst/>
          </a:prstGeom>
          <a:noFill/>
        </p:spPr>
        <p:txBody>
          <a:bodyPr wrap="square" lIns="0" rIns="0" tIns="0" bIns="0" anchor="t">
            <a:spAutoFit/>
          </a:bodyPr>
          <a:lstStyle/>
          <a:p>
            <a:pPr algn="l">
              <a:lnSpc>
                <a:spcPct val="122000"/>
              </a:lnSpc>
            </a:pPr>
            <a:r>
              <a:rPr sz="850" b="0" i="0">
                <a:solidFill>
                  <a:srgbClr val="5A6B84"/>
                </a:solidFill>
                <a:latin typeface="Calibri"/>
              </a:rPr>
              <a:t>an explicit apply action with a provenance anchor</a:t>
            </a:r>
          </a:p>
        </p:txBody>
      </p:sp>
      <p:sp>
        <p:nvSpPr>
          <p:cNvPr id="45" name="Rounded Rectangle 44"/>
          <p:cNvSpPr/>
          <p:nvPr/>
        </p:nvSpPr>
        <p:spPr>
          <a:xfrm>
            <a:off x="8509000" y="3403600"/>
            <a:ext cx="1460500" cy="965200"/>
          </a:xfrm>
          <a:prstGeom prst="roundRect">
            <a:avLst>
              <a:gd name="adj" fmla="val 11842"/>
            </a:avLst>
          </a:prstGeom>
          <a:solidFill>
            <a:srgbClr val="F5F9FC"/>
          </a:solidFill>
          <a:ln w="9525">
            <a:solidFill>
              <a:srgbClr val="E4ED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8636000" y="3556000"/>
            <a:ext cx="1206500" cy="685800"/>
          </a:xfrm>
          <a:prstGeom prst="rect">
            <a:avLst/>
          </a:prstGeom>
          <a:noFill/>
        </p:spPr>
        <p:txBody>
          <a:bodyPr wrap="square" lIns="0" rIns="0" tIns="0" bIns="0" anchor="t">
            <a:spAutoFit/>
          </a:bodyPr>
          <a:lstStyle/>
          <a:p>
            <a:pPr algn="l">
              <a:lnSpc>
                <a:spcPct val="122000"/>
              </a:lnSpc>
            </a:pPr>
            <a:r>
              <a:rPr sz="850" b="0" i="0">
                <a:solidFill>
                  <a:srgbClr val="5A6B84"/>
                </a:solidFill>
                <a:latin typeface="Calibri"/>
              </a:rPr>
              <a:t>a rollback checkpoint and an audit row</a:t>
            </a:r>
          </a:p>
        </p:txBody>
      </p:sp>
      <p:sp>
        <p:nvSpPr>
          <p:cNvPr id="47" name="Rounded Rectangle 46"/>
          <p:cNvSpPr/>
          <p:nvPr/>
        </p:nvSpPr>
        <p:spPr>
          <a:xfrm>
            <a:off x="10083800" y="3403600"/>
            <a:ext cx="1460500" cy="965200"/>
          </a:xfrm>
          <a:prstGeom prst="roundRect">
            <a:avLst>
              <a:gd name="adj" fmla="val 11842"/>
            </a:avLst>
          </a:prstGeom>
          <a:solidFill>
            <a:srgbClr val="F5F9FC"/>
          </a:solidFill>
          <a:ln w="9525">
            <a:solidFill>
              <a:srgbClr val="E4ED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10210800" y="3556000"/>
            <a:ext cx="1206500" cy="685800"/>
          </a:xfrm>
          <a:prstGeom prst="rect">
            <a:avLst/>
          </a:prstGeom>
          <a:noFill/>
        </p:spPr>
        <p:txBody>
          <a:bodyPr wrap="square" lIns="0" rIns="0" tIns="0" bIns="0" anchor="t">
            <a:spAutoFit/>
          </a:bodyPr>
          <a:lstStyle/>
          <a:p>
            <a:pPr algn="l">
              <a:lnSpc>
                <a:spcPct val="122000"/>
              </a:lnSpc>
            </a:pPr>
            <a:r>
              <a:rPr sz="850" b="0" i="0">
                <a:solidFill>
                  <a:srgbClr val="5A6B84"/>
                </a:solidFill>
                <a:latin typeface="Calibri"/>
              </a:rPr>
              <a:t>new traces, and the next iteration</a:t>
            </a:r>
          </a:p>
        </p:txBody>
      </p:sp>
      <p:sp>
        <p:nvSpPr>
          <p:cNvPr id="49" name="Rounded Rectangle 48"/>
          <p:cNvSpPr/>
          <p:nvPr/>
        </p:nvSpPr>
        <p:spPr>
          <a:xfrm>
            <a:off x="635000" y="4521200"/>
            <a:ext cx="10909300" cy="1651000"/>
          </a:xfrm>
          <a:prstGeom prst="roundRect">
            <a:avLst>
              <a:gd name="adj" fmla="val 6923"/>
            </a:avLst>
          </a:prstGeom>
          <a:solidFill>
            <a:srgbClr val="FBF4E6"/>
          </a:solidFill>
          <a:ln w="9525">
            <a:solidFill>
              <a:srgbClr val="F0E4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889000" y="4950460"/>
            <a:ext cx="10401300" cy="177800"/>
          </a:xfrm>
          <a:prstGeom prst="rect">
            <a:avLst/>
          </a:prstGeom>
          <a:noFill/>
        </p:spPr>
        <p:txBody>
          <a:bodyPr wrap="square" lIns="0" rIns="0" tIns="0" bIns="0" anchor="t">
            <a:spAutoFit/>
          </a:bodyPr>
          <a:lstStyle/>
          <a:p>
            <a:pPr algn="l">
              <a:lnSpc>
                <a:spcPct val="122000"/>
              </a:lnSpc>
            </a:pPr>
            <a:r>
              <a:rPr sz="950" b="1" i="0">
                <a:solidFill>
                  <a:srgbClr val="B5821F"/>
                </a:solidFill>
                <a:latin typeface="Calibri"/>
              </a:rPr>
              <a:t>A misreading the figure is drawn to prevent</a:t>
            </a:r>
          </a:p>
        </p:txBody>
      </p:sp>
      <p:sp>
        <p:nvSpPr>
          <p:cNvPr id="51" name="TextBox 50"/>
          <p:cNvSpPr txBox="1"/>
          <p:nvPr/>
        </p:nvSpPr>
        <p:spPr>
          <a:xfrm>
            <a:off x="889000" y="5179060"/>
            <a:ext cx="10401300" cy="487680"/>
          </a:xfrm>
          <a:prstGeom prst="rect">
            <a:avLst/>
          </a:prstGeom>
          <a:noFill/>
        </p:spPr>
        <p:txBody>
          <a:bodyPr wrap="square" lIns="0" rIns="0" tIns="0" bIns="0" anchor="t">
            <a:spAutoFit/>
          </a:bodyPr>
          <a:lstStyle/>
          <a:p>
            <a:pPr algn="l">
              <a:lnSpc>
                <a:spcPct val="128000"/>
              </a:lnSpc>
            </a:pPr>
            <a:r>
              <a:rPr sz="1000" b="0" i="0">
                <a:solidFill>
                  <a:srgbClr val="4E3529"/>
                </a:solidFill>
                <a:latin typeface="Calibri"/>
              </a:rPr>
              <a:t>These are seven concepts, not seven stages. The concrete prompt path has six numbered stages and the correspondence is not bijective: Evidence has no stage of its own, Signal spans both an incoming production trace and the human confirmation that the failure is real, and Trace is simultaneously the seventh term and the input to the next iteration.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35000" y="6337300"/>
            <a:ext cx="6096000" cy="254000"/>
          </a:xfrm>
          <a:prstGeom prst="rect">
            <a:avLst/>
          </a:prstGeom>
          <a:noFill/>
        </p:spPr>
        <p:txBody>
          <a:bodyPr wrap="square" lIns="0" rIns="0" tIns="0" bIns="0" anchor="t">
            <a:spAutoFit/>
          </a:bodyPr>
          <a:lstStyle/>
          <a:p>
            <a:pPr algn="l">
              <a:lnSpc>
                <a:spcPct val="122000"/>
              </a:lnSpc>
            </a:pPr>
            <a:r>
              <a:rPr sz="900" b="0" i="0">
                <a:solidFill>
                  <a:srgbClr val="A3B2C4"/>
                </a:solidFill>
                <a:latin typeface="Calibri"/>
              </a:rPr>
              <a:t>CALIBER  ·  A Layered Control Plane for Governed Releases of AI-Agent Resources</a:t>
            </a:r>
          </a:p>
        </p:txBody>
      </p:sp>
      <p:sp>
        <p:nvSpPr>
          <p:cNvPr id="3" name="TextBox 2"/>
          <p:cNvSpPr txBox="1"/>
          <p:nvPr/>
        </p:nvSpPr>
        <p:spPr>
          <a:xfrm>
            <a:off x="10629900" y="6337300"/>
            <a:ext cx="914400" cy="254000"/>
          </a:xfrm>
          <a:prstGeom prst="rect">
            <a:avLst/>
          </a:prstGeom>
          <a:noFill/>
        </p:spPr>
        <p:txBody>
          <a:bodyPr wrap="square" lIns="0" rIns="0" tIns="0" bIns="0" anchor="t">
            <a:spAutoFit/>
          </a:bodyPr>
          <a:lstStyle/>
          <a:p>
            <a:pPr algn="r">
              <a:lnSpc>
                <a:spcPct val="122000"/>
              </a:lnSpc>
            </a:pPr>
            <a:r>
              <a:rPr sz="900" b="0" i="0">
                <a:solidFill>
                  <a:srgbClr val="A3B2C4"/>
                </a:solidFill>
                <a:latin typeface="Calibri"/>
              </a:rPr>
              <a:t>9</a:t>
            </a:r>
          </a:p>
        </p:txBody>
      </p:sp>
      <p:sp>
        <p:nvSpPr>
          <p:cNvPr id="4" name="TextBox 3"/>
          <p:cNvSpPr txBox="1"/>
          <p:nvPr/>
        </p:nvSpPr>
        <p:spPr>
          <a:xfrm>
            <a:off x="635000" y="381000"/>
            <a:ext cx="10909300" cy="228600"/>
          </a:xfrm>
          <a:prstGeom prst="rect">
            <a:avLst/>
          </a:prstGeom>
          <a:noFill/>
        </p:spPr>
        <p:txBody>
          <a:bodyPr wrap="square" lIns="0" rIns="0" tIns="0" bIns="0" anchor="t">
            <a:spAutoFit/>
          </a:bodyPr>
          <a:lstStyle/>
          <a:p>
            <a:pPr algn="l">
              <a:lnSpc>
                <a:spcPct val="122000"/>
              </a:lnSpc>
            </a:pPr>
            <a:r>
              <a:rPr sz="1050" b="1" i="0">
                <a:solidFill>
                  <a:srgbClr val="1F8A99"/>
                </a:solidFill>
                <a:latin typeface="Calibri"/>
              </a:rPr>
              <a:t>Architecture  ·  §5  ·  Figures 1 and 2</a:t>
            </a:r>
          </a:p>
        </p:txBody>
      </p:sp>
      <p:sp>
        <p:nvSpPr>
          <p:cNvPr id="5" name="TextBox 4"/>
          <p:cNvSpPr txBox="1"/>
          <p:nvPr/>
        </p:nvSpPr>
        <p:spPr>
          <a:xfrm>
            <a:off x="635000" y="647700"/>
            <a:ext cx="10909300" cy="495300"/>
          </a:xfrm>
          <a:prstGeom prst="rect">
            <a:avLst/>
          </a:prstGeom>
          <a:noFill/>
        </p:spPr>
        <p:txBody>
          <a:bodyPr wrap="square" lIns="0" rIns="0" tIns="0" bIns="0" anchor="t">
            <a:spAutoFit/>
          </a:bodyPr>
          <a:lstStyle/>
          <a:p>
            <a:pPr algn="l">
              <a:lnSpc>
                <a:spcPct val="108000"/>
              </a:lnSpc>
            </a:pPr>
            <a:r>
              <a:rPr sz="2600" b="1" i="0">
                <a:solidFill>
                  <a:srgbClr val="0E1E3A"/>
                </a:solidFill>
                <a:latin typeface="Calibri"/>
              </a:rPr>
              <a:t>Six layers, read bottom-up</a:t>
            </a:r>
          </a:p>
        </p:txBody>
      </p:sp>
      <p:sp>
        <p:nvSpPr>
          <p:cNvPr id="6" name="TextBox 5"/>
          <p:cNvSpPr txBox="1"/>
          <p:nvPr/>
        </p:nvSpPr>
        <p:spPr>
          <a:xfrm>
            <a:off x="635000" y="1168400"/>
            <a:ext cx="10909300" cy="279400"/>
          </a:xfrm>
          <a:prstGeom prst="rect">
            <a:avLst/>
          </a:prstGeom>
          <a:noFill/>
        </p:spPr>
        <p:txBody>
          <a:bodyPr wrap="square" lIns="0" rIns="0" tIns="0" bIns="0" anchor="t">
            <a:spAutoFit/>
          </a:bodyPr>
          <a:lstStyle/>
          <a:p>
            <a:pPr algn="l">
              <a:lnSpc>
                <a:spcPct val="130000"/>
              </a:lnSpc>
            </a:pPr>
            <a:r>
              <a:rPr sz="1250" b="0" i="0">
                <a:solidFill>
                  <a:srgbClr val="24354F"/>
                </a:solidFill>
                <a:latin typeface="Calibri"/>
              </a:rPr>
              <a:t>One ASGI application, a React SPA served from the same origin, and the state it owns. The dashed left rail cuts across every layer.</a:t>
            </a:r>
          </a:p>
        </p:txBody>
      </p:sp>
      <p:sp>
        <p:nvSpPr>
          <p:cNvPr id="7" name="Rounded Rectangle 6"/>
          <p:cNvSpPr/>
          <p:nvPr/>
        </p:nvSpPr>
        <p:spPr>
          <a:xfrm>
            <a:off x="2286000" y="1549400"/>
            <a:ext cx="9258300" cy="482600"/>
          </a:xfrm>
          <a:prstGeom prst="roundRect">
            <a:avLst>
              <a:gd name="adj" fmla="val 23684"/>
            </a:avLst>
          </a:prstGeom>
          <a:solidFill>
            <a:srgbClr val="E8F4F5"/>
          </a:solidFill>
          <a:ln w="9525">
            <a:solidFill>
              <a:srgbClr val="CFE4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463800" y="1701800"/>
            <a:ext cx="330200" cy="203200"/>
          </a:xfrm>
          <a:prstGeom prst="rect">
            <a:avLst/>
          </a:prstGeom>
          <a:noFill/>
        </p:spPr>
        <p:txBody>
          <a:bodyPr wrap="square" lIns="0" rIns="0" tIns="0" bIns="0" anchor="t">
            <a:spAutoFit/>
          </a:bodyPr>
          <a:lstStyle/>
          <a:p>
            <a:pPr algn="l">
              <a:lnSpc>
                <a:spcPct val="122000"/>
              </a:lnSpc>
            </a:pPr>
            <a:r>
              <a:rPr sz="1050" b="1" i="0">
                <a:solidFill>
                  <a:srgbClr val="1F8A99"/>
                </a:solidFill>
                <a:latin typeface="Calibri"/>
              </a:rPr>
              <a:t>L6</a:t>
            </a:r>
          </a:p>
        </p:txBody>
      </p:sp>
      <p:sp>
        <p:nvSpPr>
          <p:cNvPr id="9" name="TextBox 8"/>
          <p:cNvSpPr txBox="1"/>
          <p:nvPr/>
        </p:nvSpPr>
        <p:spPr>
          <a:xfrm>
            <a:off x="2870200" y="1689100"/>
            <a:ext cx="1651000" cy="228600"/>
          </a:xfrm>
          <a:prstGeom prst="rect">
            <a:avLst/>
          </a:prstGeom>
          <a:noFill/>
        </p:spPr>
        <p:txBody>
          <a:bodyPr wrap="square" lIns="0" rIns="0" tIns="0" bIns="0" anchor="t">
            <a:spAutoFit/>
          </a:bodyPr>
          <a:lstStyle/>
          <a:p>
            <a:pPr algn="l">
              <a:lnSpc>
                <a:spcPct val="122000"/>
              </a:lnSpc>
            </a:pPr>
            <a:r>
              <a:rPr sz="1150" b="1" i="0">
                <a:solidFill>
                  <a:srgbClr val="1F8A99"/>
                </a:solidFill>
                <a:latin typeface="Calibri"/>
              </a:rPr>
              <a:t>Surfaces</a:t>
            </a:r>
          </a:p>
        </p:txBody>
      </p:sp>
      <p:sp>
        <p:nvSpPr>
          <p:cNvPr id="10" name="TextBox 9"/>
          <p:cNvSpPr txBox="1"/>
          <p:nvPr/>
        </p:nvSpPr>
        <p:spPr>
          <a:xfrm>
            <a:off x="4648200" y="1651000"/>
            <a:ext cx="6692900" cy="304800"/>
          </a:xfrm>
          <a:prstGeom prst="rect">
            <a:avLst/>
          </a:prstGeom>
          <a:noFill/>
        </p:spPr>
        <p:txBody>
          <a:bodyPr wrap="square" lIns="0" rIns="0" tIns="0" bIns="0" anchor="t">
            <a:spAutoFit/>
          </a:bodyPr>
          <a:lstStyle/>
          <a:p>
            <a:pPr algn="l">
              <a:lnSpc>
                <a:spcPct val="120000"/>
              </a:lnSpc>
            </a:pPr>
            <a:r>
              <a:rPr sz="900" b="0" i="0">
                <a:solidFill>
                  <a:srgbClr val="24354F"/>
                </a:solidFill>
                <a:latin typeface="Calibri"/>
              </a:rPr>
              <a:t>the React SPA, a served management API of 570 route declarations across 64 modules, a thin Python SDK and CLI over that contract, and the Aria copilot's permissioned agentic tool loop</a:t>
            </a:r>
          </a:p>
        </p:txBody>
      </p:sp>
      <p:sp>
        <p:nvSpPr>
          <p:cNvPr id="11" name="Rounded Rectangle 10"/>
          <p:cNvSpPr/>
          <p:nvPr/>
        </p:nvSpPr>
        <p:spPr>
          <a:xfrm>
            <a:off x="2286000" y="2108200"/>
            <a:ext cx="9258300" cy="482600"/>
          </a:xfrm>
          <a:prstGeom prst="roundRect">
            <a:avLst>
              <a:gd name="adj" fmla="val 23684"/>
            </a:avLst>
          </a:prstGeom>
          <a:solidFill>
            <a:srgbClr val="E8F4F5"/>
          </a:solidFill>
          <a:ln w="9525">
            <a:solidFill>
              <a:srgbClr val="CFE4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463800" y="2260600"/>
            <a:ext cx="330200" cy="203200"/>
          </a:xfrm>
          <a:prstGeom prst="rect">
            <a:avLst/>
          </a:prstGeom>
          <a:noFill/>
        </p:spPr>
        <p:txBody>
          <a:bodyPr wrap="square" lIns="0" rIns="0" tIns="0" bIns="0" anchor="t">
            <a:spAutoFit/>
          </a:bodyPr>
          <a:lstStyle/>
          <a:p>
            <a:pPr algn="l">
              <a:lnSpc>
                <a:spcPct val="122000"/>
              </a:lnSpc>
            </a:pPr>
            <a:r>
              <a:rPr sz="1050" b="1" i="0">
                <a:solidFill>
                  <a:srgbClr val="1F8A99"/>
                </a:solidFill>
                <a:latin typeface="Calibri"/>
              </a:rPr>
              <a:t>L5</a:t>
            </a:r>
          </a:p>
        </p:txBody>
      </p:sp>
      <p:sp>
        <p:nvSpPr>
          <p:cNvPr id="13" name="TextBox 12"/>
          <p:cNvSpPr txBox="1"/>
          <p:nvPr/>
        </p:nvSpPr>
        <p:spPr>
          <a:xfrm>
            <a:off x="2870200" y="2247900"/>
            <a:ext cx="1651000" cy="228600"/>
          </a:xfrm>
          <a:prstGeom prst="rect">
            <a:avLst/>
          </a:prstGeom>
          <a:noFill/>
        </p:spPr>
        <p:txBody>
          <a:bodyPr wrap="square" lIns="0" rIns="0" tIns="0" bIns="0" anchor="t">
            <a:spAutoFit/>
          </a:bodyPr>
          <a:lstStyle/>
          <a:p>
            <a:pPr algn="l">
              <a:lnSpc>
                <a:spcPct val="122000"/>
              </a:lnSpc>
            </a:pPr>
            <a:r>
              <a:rPr sz="1150" b="1" i="0">
                <a:solidFill>
                  <a:srgbClr val="1F8A99"/>
                </a:solidFill>
                <a:latin typeface="Calibri"/>
              </a:rPr>
              <a:t>Lifecycle modes</a:t>
            </a:r>
          </a:p>
        </p:txBody>
      </p:sp>
      <p:sp>
        <p:nvSpPr>
          <p:cNvPr id="14" name="TextBox 13"/>
          <p:cNvSpPr txBox="1"/>
          <p:nvPr/>
        </p:nvSpPr>
        <p:spPr>
          <a:xfrm>
            <a:off x="4648200" y="2209800"/>
            <a:ext cx="6692900" cy="304800"/>
          </a:xfrm>
          <a:prstGeom prst="rect">
            <a:avLst/>
          </a:prstGeom>
          <a:noFill/>
        </p:spPr>
        <p:txBody>
          <a:bodyPr wrap="square" lIns="0" rIns="0" tIns="0" bIns="0" anchor="t">
            <a:spAutoFit/>
          </a:bodyPr>
          <a:lstStyle/>
          <a:p>
            <a:pPr algn="l">
              <a:lnSpc>
                <a:spcPct val="120000"/>
              </a:lnSpc>
            </a:pPr>
            <a:r>
              <a:rPr sz="900" b="0" i="0">
                <a:solidFill>
                  <a:srgbClr val="24354F"/>
                </a:solidFill>
                <a:latin typeface="Calibri"/>
              </a:rPr>
              <a:t>Author, Test, Evaluate, Calibrate, Release, Observe — the verbs</a:t>
            </a:r>
          </a:p>
        </p:txBody>
      </p:sp>
      <p:sp>
        <p:nvSpPr>
          <p:cNvPr id="15" name="Rounded Rectangle 14"/>
          <p:cNvSpPr/>
          <p:nvPr/>
        </p:nvSpPr>
        <p:spPr>
          <a:xfrm>
            <a:off x="2286000" y="2667000"/>
            <a:ext cx="9258300" cy="482600"/>
          </a:xfrm>
          <a:prstGeom prst="roundRect">
            <a:avLst>
              <a:gd name="adj" fmla="val 23684"/>
            </a:avLst>
          </a:prstGeom>
          <a:solidFill>
            <a:srgbClr val="E8F4F5"/>
          </a:solidFill>
          <a:ln w="9525">
            <a:solidFill>
              <a:srgbClr val="CFE4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463800" y="2819400"/>
            <a:ext cx="330200" cy="203200"/>
          </a:xfrm>
          <a:prstGeom prst="rect">
            <a:avLst/>
          </a:prstGeom>
          <a:noFill/>
        </p:spPr>
        <p:txBody>
          <a:bodyPr wrap="square" lIns="0" rIns="0" tIns="0" bIns="0" anchor="t">
            <a:spAutoFit/>
          </a:bodyPr>
          <a:lstStyle/>
          <a:p>
            <a:pPr algn="l">
              <a:lnSpc>
                <a:spcPct val="122000"/>
              </a:lnSpc>
            </a:pPr>
            <a:r>
              <a:rPr sz="1050" b="1" i="0">
                <a:solidFill>
                  <a:srgbClr val="1F8A99"/>
                </a:solidFill>
                <a:latin typeface="Calibri"/>
              </a:rPr>
              <a:t>L4</a:t>
            </a:r>
          </a:p>
        </p:txBody>
      </p:sp>
      <p:sp>
        <p:nvSpPr>
          <p:cNvPr id="17" name="TextBox 16"/>
          <p:cNvSpPr txBox="1"/>
          <p:nvPr/>
        </p:nvSpPr>
        <p:spPr>
          <a:xfrm>
            <a:off x="2870200" y="2806700"/>
            <a:ext cx="1651000" cy="228600"/>
          </a:xfrm>
          <a:prstGeom prst="rect">
            <a:avLst/>
          </a:prstGeom>
          <a:noFill/>
        </p:spPr>
        <p:txBody>
          <a:bodyPr wrap="square" lIns="0" rIns="0" tIns="0" bIns="0" anchor="t">
            <a:spAutoFit/>
          </a:bodyPr>
          <a:lstStyle/>
          <a:p>
            <a:pPr algn="l">
              <a:lnSpc>
                <a:spcPct val="122000"/>
              </a:lnSpc>
            </a:pPr>
            <a:r>
              <a:rPr sz="1150" b="1" i="0">
                <a:solidFill>
                  <a:srgbClr val="1F8A99"/>
                </a:solidFill>
                <a:latin typeface="Calibri"/>
              </a:rPr>
              <a:t>Asset families</a:t>
            </a:r>
          </a:p>
        </p:txBody>
      </p:sp>
      <p:sp>
        <p:nvSpPr>
          <p:cNvPr id="18" name="TextBox 17"/>
          <p:cNvSpPr txBox="1"/>
          <p:nvPr/>
        </p:nvSpPr>
        <p:spPr>
          <a:xfrm>
            <a:off x="4648200" y="2768600"/>
            <a:ext cx="6692900" cy="304800"/>
          </a:xfrm>
          <a:prstGeom prst="rect">
            <a:avLst/>
          </a:prstGeom>
          <a:noFill/>
        </p:spPr>
        <p:txBody>
          <a:bodyPr wrap="square" lIns="0" rIns="0" tIns="0" bIns="0" anchor="t">
            <a:spAutoFit/>
          </a:bodyPr>
          <a:lstStyle/>
          <a:p>
            <a:pPr algn="l">
              <a:lnSpc>
                <a:spcPct val="120000"/>
              </a:lnSpc>
            </a:pPr>
            <a:r>
              <a:rPr sz="900" b="0" i="0">
                <a:solidFill>
                  <a:srgbClr val="24354F"/>
                </a:solidFill>
                <a:latin typeface="Calibri"/>
              </a:rPr>
              <a:t>nine governed families — the nouns. Six authored runtime assets, two evidence and scoring assets, one anchor record</a:t>
            </a:r>
          </a:p>
        </p:txBody>
      </p:sp>
      <p:sp>
        <p:nvSpPr>
          <p:cNvPr id="19" name="Rounded Rectangle 18"/>
          <p:cNvSpPr/>
          <p:nvPr/>
        </p:nvSpPr>
        <p:spPr>
          <a:xfrm>
            <a:off x="2286000" y="3225800"/>
            <a:ext cx="9258300" cy="482600"/>
          </a:xfrm>
          <a:prstGeom prst="roundRect">
            <a:avLst>
              <a:gd name="adj" fmla="val 23684"/>
            </a:avLst>
          </a:prstGeom>
          <a:solidFill>
            <a:srgbClr val="FBF4E6"/>
          </a:solidFill>
          <a:ln w="9525">
            <a:solidFill>
              <a:srgbClr val="F0E4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2463800" y="3378200"/>
            <a:ext cx="330200" cy="203200"/>
          </a:xfrm>
          <a:prstGeom prst="rect">
            <a:avLst/>
          </a:prstGeom>
          <a:noFill/>
        </p:spPr>
        <p:txBody>
          <a:bodyPr wrap="square" lIns="0" rIns="0" tIns="0" bIns="0" anchor="t">
            <a:spAutoFit/>
          </a:bodyPr>
          <a:lstStyle/>
          <a:p>
            <a:pPr algn="l">
              <a:lnSpc>
                <a:spcPct val="122000"/>
              </a:lnSpc>
            </a:pPr>
            <a:r>
              <a:rPr sz="1050" b="1" i="0">
                <a:solidFill>
                  <a:srgbClr val="B5821F"/>
                </a:solidFill>
                <a:latin typeface="Calibri"/>
              </a:rPr>
              <a:t>L3</a:t>
            </a:r>
          </a:p>
        </p:txBody>
      </p:sp>
      <p:sp>
        <p:nvSpPr>
          <p:cNvPr id="21" name="TextBox 20"/>
          <p:cNvSpPr txBox="1"/>
          <p:nvPr/>
        </p:nvSpPr>
        <p:spPr>
          <a:xfrm>
            <a:off x="2870200" y="3365500"/>
            <a:ext cx="1651000" cy="228600"/>
          </a:xfrm>
          <a:prstGeom prst="rect">
            <a:avLst/>
          </a:prstGeom>
          <a:noFill/>
        </p:spPr>
        <p:txBody>
          <a:bodyPr wrap="square" lIns="0" rIns="0" tIns="0" bIns="0" anchor="t">
            <a:spAutoFit/>
          </a:bodyPr>
          <a:lstStyle/>
          <a:p>
            <a:pPr algn="l">
              <a:lnSpc>
                <a:spcPct val="122000"/>
              </a:lnSpc>
            </a:pPr>
            <a:r>
              <a:rPr sz="1150" b="1" i="0">
                <a:solidFill>
                  <a:srgbClr val="B5821F"/>
                </a:solidFill>
                <a:latin typeface="Calibri"/>
              </a:rPr>
              <a:t>Governance</a:t>
            </a:r>
          </a:p>
        </p:txBody>
      </p:sp>
      <p:sp>
        <p:nvSpPr>
          <p:cNvPr id="22" name="TextBox 21"/>
          <p:cNvSpPr txBox="1"/>
          <p:nvPr/>
        </p:nvSpPr>
        <p:spPr>
          <a:xfrm>
            <a:off x="4648200" y="3327400"/>
            <a:ext cx="6692900" cy="304800"/>
          </a:xfrm>
          <a:prstGeom prst="rect">
            <a:avLst/>
          </a:prstGeom>
          <a:noFill/>
        </p:spPr>
        <p:txBody>
          <a:bodyPr wrap="square" lIns="0" rIns="0" tIns="0" bIns="0" anchor="t">
            <a:spAutoFit/>
          </a:bodyPr>
          <a:lstStyle/>
          <a:p>
            <a:pPr algn="l">
              <a:lnSpc>
                <a:spcPct val="120000"/>
              </a:lnSpc>
            </a:pPr>
            <a:r>
              <a:rPr sz="900" b="0" i="0">
                <a:solidFill>
                  <a:srgbClr val="4E3529"/>
                </a:solidFill>
                <a:latin typeface="Calibri"/>
              </a:rPr>
              <a:t>shared primitives — evidence, evaluation, gates, audit, authority — available to every family and applied only by those that wire them</a:t>
            </a:r>
          </a:p>
        </p:txBody>
      </p:sp>
      <p:sp>
        <p:nvSpPr>
          <p:cNvPr id="23" name="Rounded Rectangle 22"/>
          <p:cNvSpPr/>
          <p:nvPr/>
        </p:nvSpPr>
        <p:spPr>
          <a:xfrm>
            <a:off x="2286000" y="3784600"/>
            <a:ext cx="9258300" cy="482600"/>
          </a:xfrm>
          <a:prstGeom prst="roundRect">
            <a:avLst>
              <a:gd name="adj" fmla="val 23684"/>
            </a:avLst>
          </a:prstGeom>
          <a:solidFill>
            <a:srgbClr val="F5F9FC"/>
          </a:solidFill>
          <a:ln w="9525">
            <a:solidFill>
              <a:srgbClr val="E4ED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2463800" y="3937000"/>
            <a:ext cx="330200" cy="203200"/>
          </a:xfrm>
          <a:prstGeom prst="rect">
            <a:avLst/>
          </a:prstGeom>
          <a:noFill/>
        </p:spPr>
        <p:txBody>
          <a:bodyPr wrap="square" lIns="0" rIns="0" tIns="0" bIns="0" anchor="t">
            <a:spAutoFit/>
          </a:bodyPr>
          <a:lstStyle/>
          <a:p>
            <a:pPr algn="l">
              <a:lnSpc>
                <a:spcPct val="122000"/>
              </a:lnSpc>
            </a:pPr>
            <a:r>
              <a:rPr sz="1050" b="1" i="0">
                <a:solidFill>
                  <a:srgbClr val="24354F"/>
                </a:solidFill>
                <a:latin typeface="Calibri"/>
              </a:rPr>
              <a:t>L2</a:t>
            </a:r>
          </a:p>
        </p:txBody>
      </p:sp>
      <p:sp>
        <p:nvSpPr>
          <p:cNvPr id="25" name="TextBox 24"/>
          <p:cNvSpPr txBox="1"/>
          <p:nvPr/>
        </p:nvSpPr>
        <p:spPr>
          <a:xfrm>
            <a:off x="2870200" y="3924300"/>
            <a:ext cx="1651000" cy="228600"/>
          </a:xfrm>
          <a:prstGeom prst="rect">
            <a:avLst/>
          </a:prstGeom>
          <a:noFill/>
        </p:spPr>
        <p:txBody>
          <a:bodyPr wrap="square" lIns="0" rIns="0" tIns="0" bIns="0" anchor="t">
            <a:spAutoFit/>
          </a:bodyPr>
          <a:lstStyle/>
          <a:p>
            <a:pPr algn="l">
              <a:lnSpc>
                <a:spcPct val="122000"/>
              </a:lnSpc>
            </a:pPr>
            <a:r>
              <a:rPr sz="1150" b="1" i="0">
                <a:solidFill>
                  <a:srgbClr val="24354F"/>
                </a:solidFill>
                <a:latin typeface="Calibri"/>
              </a:rPr>
              <a:t>Kernel</a:t>
            </a:r>
          </a:p>
        </p:txBody>
      </p:sp>
      <p:sp>
        <p:nvSpPr>
          <p:cNvPr id="26" name="TextBox 25"/>
          <p:cNvSpPr txBox="1"/>
          <p:nvPr/>
        </p:nvSpPr>
        <p:spPr>
          <a:xfrm>
            <a:off x="4648200" y="3886200"/>
            <a:ext cx="6692900" cy="304800"/>
          </a:xfrm>
          <a:prstGeom prst="rect">
            <a:avLst/>
          </a:prstGeom>
          <a:noFill/>
        </p:spPr>
        <p:txBody>
          <a:bodyPr wrap="square" lIns="0" rIns="0" tIns="0" bIns="0" anchor="t">
            <a:spAutoFit/>
          </a:bodyPr>
          <a:lstStyle/>
          <a:p>
            <a:pPr algn="l">
              <a:lnSpc>
                <a:spcPct val="120000"/>
              </a:lnSpc>
            </a:pPr>
            <a:r>
              <a:rPr sz="900" b="0" i="0">
                <a:solidFill>
                  <a:srgbClr val="5A6B84"/>
                </a:solidFill>
                <a:latin typeface="Calibri"/>
              </a:rPr>
              <a:t>the modular services built at application startup; 112 ORM models and 347 schemas. The only tier that touches state or external systems</a:t>
            </a:r>
          </a:p>
        </p:txBody>
      </p:sp>
      <p:sp>
        <p:nvSpPr>
          <p:cNvPr id="27" name="Rounded Rectangle 26"/>
          <p:cNvSpPr/>
          <p:nvPr/>
        </p:nvSpPr>
        <p:spPr>
          <a:xfrm>
            <a:off x="2286000" y="4343400"/>
            <a:ext cx="9258300" cy="482600"/>
          </a:xfrm>
          <a:prstGeom prst="roundRect">
            <a:avLst>
              <a:gd name="adj" fmla="val 23684"/>
            </a:avLst>
          </a:prstGeom>
          <a:solidFill>
            <a:srgbClr val="F5F9FC"/>
          </a:solidFill>
          <a:ln w="9525">
            <a:solidFill>
              <a:srgbClr val="E4ED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2463800" y="4495800"/>
            <a:ext cx="330200" cy="203200"/>
          </a:xfrm>
          <a:prstGeom prst="rect">
            <a:avLst/>
          </a:prstGeom>
          <a:noFill/>
        </p:spPr>
        <p:txBody>
          <a:bodyPr wrap="square" lIns="0" rIns="0" tIns="0" bIns="0" anchor="t">
            <a:spAutoFit/>
          </a:bodyPr>
          <a:lstStyle/>
          <a:p>
            <a:pPr algn="l">
              <a:lnSpc>
                <a:spcPct val="122000"/>
              </a:lnSpc>
            </a:pPr>
            <a:r>
              <a:rPr sz="1050" b="1" i="0">
                <a:solidFill>
                  <a:srgbClr val="24354F"/>
                </a:solidFill>
                <a:latin typeface="Calibri"/>
              </a:rPr>
              <a:t>L1</a:t>
            </a:r>
          </a:p>
        </p:txBody>
      </p:sp>
      <p:sp>
        <p:nvSpPr>
          <p:cNvPr id="29" name="TextBox 28"/>
          <p:cNvSpPr txBox="1"/>
          <p:nvPr/>
        </p:nvSpPr>
        <p:spPr>
          <a:xfrm>
            <a:off x="2870200" y="4483100"/>
            <a:ext cx="1651000" cy="228600"/>
          </a:xfrm>
          <a:prstGeom prst="rect">
            <a:avLst/>
          </a:prstGeom>
          <a:noFill/>
        </p:spPr>
        <p:txBody>
          <a:bodyPr wrap="square" lIns="0" rIns="0" tIns="0" bIns="0" anchor="t">
            <a:spAutoFit/>
          </a:bodyPr>
          <a:lstStyle/>
          <a:p>
            <a:pPr algn="l">
              <a:lnSpc>
                <a:spcPct val="122000"/>
              </a:lnSpc>
            </a:pPr>
            <a:r>
              <a:rPr sz="1150" b="1" i="0">
                <a:solidFill>
                  <a:srgbClr val="24354F"/>
                </a:solidFill>
                <a:latin typeface="Calibri"/>
              </a:rPr>
              <a:t>Infrastructure</a:t>
            </a:r>
          </a:p>
        </p:txBody>
      </p:sp>
      <p:sp>
        <p:nvSpPr>
          <p:cNvPr id="30" name="TextBox 29"/>
          <p:cNvSpPr txBox="1"/>
          <p:nvPr/>
        </p:nvSpPr>
        <p:spPr>
          <a:xfrm>
            <a:off x="4648200" y="4445000"/>
            <a:ext cx="6692900" cy="304800"/>
          </a:xfrm>
          <a:prstGeom prst="rect">
            <a:avLst/>
          </a:prstGeom>
          <a:noFill/>
        </p:spPr>
        <p:txBody>
          <a:bodyPr wrap="square" lIns="0" rIns="0" tIns="0" bIns="0" anchor="t">
            <a:spAutoFit/>
          </a:bodyPr>
          <a:lstStyle/>
          <a:p>
            <a:pPr algn="l">
              <a:lnSpc>
                <a:spcPct val="120000"/>
              </a:lnSpc>
            </a:pPr>
            <a:r>
              <a:rPr sz="900" b="0" i="0">
                <a:solidFill>
                  <a:srgbClr val="5A6B84"/>
                </a:solidFill>
                <a:latin typeface="Calibri"/>
              </a:rPr>
              <a:t>PostgreSQL, object storage, MLflow, providers — all of it swappable by configuration; 113 migrations</a:t>
            </a:r>
          </a:p>
        </p:txBody>
      </p:sp>
      <p:sp>
        <p:nvSpPr>
          <p:cNvPr id="31" name="Rounded Rectangle 30"/>
          <p:cNvSpPr/>
          <p:nvPr/>
        </p:nvSpPr>
        <p:spPr>
          <a:xfrm>
            <a:off x="635000" y="1549400"/>
            <a:ext cx="1473200" cy="3276600"/>
          </a:xfrm>
          <a:prstGeom prst="roundRect">
            <a:avLst>
              <a:gd name="adj" fmla="val 7758"/>
            </a:avLst>
          </a:prstGeom>
          <a:solidFill>
            <a:srgbClr val="EAF1F7"/>
          </a:solidFill>
          <a:ln w="9525">
            <a:solidFill>
              <a:srgbClr val="D5E0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787400" y="1714500"/>
            <a:ext cx="1168400" cy="177800"/>
          </a:xfrm>
          <a:prstGeom prst="rect">
            <a:avLst/>
          </a:prstGeom>
          <a:noFill/>
        </p:spPr>
        <p:txBody>
          <a:bodyPr wrap="square" lIns="0" rIns="0" tIns="0" bIns="0" anchor="t">
            <a:spAutoFit/>
          </a:bodyPr>
          <a:lstStyle/>
          <a:p>
            <a:pPr algn="l">
              <a:lnSpc>
                <a:spcPct val="122000"/>
              </a:lnSpc>
            </a:pPr>
            <a:r>
              <a:rPr sz="950" b="1" i="0">
                <a:solidFill>
                  <a:srgbClr val="0E1E3A"/>
                </a:solidFill>
                <a:latin typeface="Calibri"/>
              </a:rPr>
              <a:t>Platform services</a:t>
            </a:r>
          </a:p>
        </p:txBody>
      </p:sp>
      <p:sp>
        <p:nvSpPr>
          <p:cNvPr id="33" name="TextBox 32"/>
          <p:cNvSpPr txBox="1"/>
          <p:nvPr/>
        </p:nvSpPr>
        <p:spPr>
          <a:xfrm>
            <a:off x="787400" y="1955800"/>
            <a:ext cx="1168400" cy="2717800"/>
          </a:xfrm>
          <a:prstGeom prst="rect">
            <a:avLst/>
          </a:prstGeom>
          <a:noFill/>
        </p:spPr>
        <p:txBody>
          <a:bodyPr wrap="square" lIns="0" rIns="0" tIns="0" bIns="0" anchor="t">
            <a:spAutoFit/>
          </a:bodyPr>
          <a:lstStyle/>
          <a:p>
            <a:pPr algn="l">
              <a:lnSpc>
                <a:spcPct val="142000"/>
              </a:lnSpc>
            </a:pPr>
            <a:r>
              <a:rPr sz="900" b="0" i="0">
                <a:solidFill>
                  <a:srgbClr val="24354F"/>
                </a:solidFill>
                <a:latin typeface="Calibri"/>
              </a:rPr>
              <a:t>evidence base</a:t>
            </a:r>
            <a:br/>
            <a:r>
              <a:rPr sz="900" b="0" i="0">
                <a:solidFill>
                  <a:srgbClr val="24354F"/>
                </a:solidFill>
                <a:latin typeface="Calibri"/>
              </a:rPr>
              <a:t>evaluation</a:t>
            </a:r>
            <a:br/>
            <a:r>
              <a:rPr sz="900" b="0" i="0">
                <a:solidFill>
                  <a:srgbClr val="24354F"/>
                </a:solidFill>
                <a:latin typeface="Calibri"/>
              </a:rPr>
              <a:t>calibration</a:t>
            </a:r>
            <a:br/>
            <a:r>
              <a:rPr sz="900" b="0" i="0">
                <a:solidFill>
                  <a:srgbClr val="24354F"/>
                </a:solidFill>
                <a:latin typeface="Calibri"/>
              </a:rPr>
              <a:t>capability registry</a:t>
            </a:r>
            <a:br/>
            <a:r>
              <a:rPr sz="900" b="0" i="0">
                <a:solidFill>
                  <a:srgbClr val="24354F"/>
                </a:solidFill>
                <a:latin typeface="Calibri"/>
              </a:rPr>
              <a:t>integration hub</a:t>
            </a:r>
            <a:br/>
            <a:r>
              <a:rPr sz="900" b="0" i="0">
                <a:solidFill>
                  <a:srgbClr val="24354F"/>
                </a:solidFill>
                <a:latin typeface="Calibri"/>
              </a:rPr>
              <a:t>project scoping</a:t>
            </a:r>
          </a:p>
        </p:txBody>
      </p:sp>
      <p:sp>
        <p:nvSpPr>
          <p:cNvPr id="34" name="Rounded Rectangle 33"/>
          <p:cNvSpPr/>
          <p:nvPr/>
        </p:nvSpPr>
        <p:spPr>
          <a:xfrm>
            <a:off x="635000" y="5003800"/>
            <a:ext cx="5353050" cy="1128268"/>
          </a:xfrm>
          <a:prstGeom prst="roundRect">
            <a:avLst>
              <a:gd name="adj" fmla="val 10130"/>
            </a:avLst>
          </a:prstGeom>
          <a:solidFill>
            <a:srgbClr val="F5F9FC"/>
          </a:solidFill>
          <a:ln w="9525">
            <a:solidFill>
              <a:srgbClr val="E4ED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876300" y="5194300"/>
            <a:ext cx="4870450" cy="170688"/>
          </a:xfrm>
          <a:prstGeom prst="rect">
            <a:avLst/>
          </a:prstGeom>
          <a:noFill/>
        </p:spPr>
        <p:txBody>
          <a:bodyPr wrap="square" lIns="0" rIns="0" tIns="0" bIns="0" anchor="t">
            <a:spAutoFit/>
          </a:bodyPr>
          <a:lstStyle/>
          <a:p>
            <a:pPr algn="l">
              <a:lnSpc>
                <a:spcPct val="112000"/>
              </a:lnSpc>
            </a:pPr>
            <a:r>
              <a:rPr sz="1200" b="1" i="0">
                <a:solidFill>
                  <a:srgbClr val="24354F"/>
                </a:solidFill>
                <a:latin typeface="Calibri"/>
              </a:rPr>
              <a:t>A sibling surface, not a proxy</a:t>
            </a:r>
          </a:p>
        </p:txBody>
      </p:sp>
      <p:sp>
        <p:nvSpPr>
          <p:cNvPr id="36" name="TextBox 35"/>
          <p:cNvSpPr txBox="1"/>
          <p:nvPr/>
        </p:nvSpPr>
        <p:spPr>
          <a:xfrm>
            <a:off x="876300" y="5453888"/>
            <a:ext cx="4870450" cy="325120"/>
          </a:xfrm>
          <a:prstGeom prst="rect">
            <a:avLst/>
          </a:prstGeom>
          <a:noFill/>
        </p:spPr>
        <p:txBody>
          <a:bodyPr wrap="square" lIns="0" rIns="0" tIns="0" bIns="0" anchor="t">
            <a:spAutoFit/>
          </a:bodyPr>
          <a:lstStyle/>
          <a:p>
            <a:pPr algn="l">
              <a:lnSpc>
                <a:spcPct val="128000"/>
              </a:lnSpc>
            </a:pPr>
            <a:r>
              <a:rPr sz="1000" b="0" i="0">
                <a:solidFill>
                  <a:srgbClr val="5A6B84"/>
                </a:solidFill>
                <a:latin typeface="Calibri"/>
              </a:rPr>
              <a:t>CALIBER and MLflow each own their own store. That is why the reconciliation boundary exists and cannot be designed away — D1 records it as the price.</a:t>
            </a:r>
          </a:p>
        </p:txBody>
      </p:sp>
      <p:sp>
        <p:nvSpPr>
          <p:cNvPr id="37" name="Rounded Rectangle 36"/>
          <p:cNvSpPr/>
          <p:nvPr/>
        </p:nvSpPr>
        <p:spPr>
          <a:xfrm>
            <a:off x="6191250" y="5003800"/>
            <a:ext cx="5353050" cy="1128268"/>
          </a:xfrm>
          <a:prstGeom prst="roundRect">
            <a:avLst>
              <a:gd name="adj" fmla="val 10130"/>
            </a:avLst>
          </a:prstGeom>
          <a:solidFill>
            <a:srgbClr val="F5F9FC"/>
          </a:solidFill>
          <a:ln w="9525">
            <a:solidFill>
              <a:srgbClr val="E4ED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432550" y="5194300"/>
            <a:ext cx="4870450" cy="170688"/>
          </a:xfrm>
          <a:prstGeom prst="rect">
            <a:avLst/>
          </a:prstGeom>
          <a:noFill/>
        </p:spPr>
        <p:txBody>
          <a:bodyPr wrap="square" lIns="0" rIns="0" tIns="0" bIns="0" anchor="t">
            <a:spAutoFit/>
          </a:bodyPr>
          <a:lstStyle/>
          <a:p>
            <a:pPr algn="l">
              <a:lnSpc>
                <a:spcPct val="112000"/>
              </a:lnSpc>
            </a:pPr>
            <a:r>
              <a:rPr sz="1200" b="1" i="0">
                <a:solidFill>
                  <a:srgbClr val="24354F"/>
                </a:solidFill>
                <a:latin typeface="Calibri"/>
              </a:rPr>
              <a:t>No separate worker tier</a:t>
            </a:r>
          </a:p>
        </p:txBody>
      </p:sp>
      <p:sp>
        <p:nvSpPr>
          <p:cNvPr id="39" name="TextBox 38"/>
          <p:cNvSpPr txBox="1"/>
          <p:nvPr/>
        </p:nvSpPr>
        <p:spPr>
          <a:xfrm>
            <a:off x="6432550" y="5453888"/>
            <a:ext cx="4870450" cy="487680"/>
          </a:xfrm>
          <a:prstGeom prst="rect">
            <a:avLst/>
          </a:prstGeom>
          <a:noFill/>
        </p:spPr>
        <p:txBody>
          <a:bodyPr wrap="square" lIns="0" rIns="0" tIns="0" bIns="0" anchor="t">
            <a:spAutoFit/>
          </a:bodyPr>
          <a:lstStyle/>
          <a:p>
            <a:pPr algn="l">
              <a:lnSpc>
                <a:spcPct val="128000"/>
              </a:lnSpc>
            </a:pPr>
            <a:r>
              <a:rPr sz="1000" b="0" i="0">
                <a:solidFill>
                  <a:srgbClr val="5A6B84"/>
                </a:solidFill>
                <a:latin typeface="Calibri"/>
              </a:rPr>
              <a:t>Queued work is drained by up to ten in-process loops arbitrated by claim and lease columns. One deployable, no split-brain — and loop capacity coupled to request capacity.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E1E3A"/>
        </a:solidFill>
        <a:effectLst/>
      </p:bgPr>
    </p:bg>
    <p:spTree>
      <p:nvGrpSpPr>
        <p:cNvPr id="1" name=""/>
        <p:cNvGrpSpPr/>
        <p:nvPr/>
      </p:nvGrpSpPr>
      <p:grpSpPr/>
      <p:sp>
        <p:nvSpPr>
          <p:cNvPr id="2" name="TextBox 1"/>
          <p:cNvSpPr txBox="1"/>
          <p:nvPr/>
        </p:nvSpPr>
        <p:spPr>
          <a:xfrm>
            <a:off x="635000" y="6337300"/>
            <a:ext cx="6096000" cy="254000"/>
          </a:xfrm>
          <a:prstGeom prst="rect">
            <a:avLst/>
          </a:prstGeom>
          <a:noFill/>
        </p:spPr>
        <p:txBody>
          <a:bodyPr wrap="square" lIns="0" rIns="0" tIns="0" bIns="0" anchor="t">
            <a:spAutoFit/>
          </a:bodyPr>
          <a:lstStyle/>
          <a:p>
            <a:pPr algn="l">
              <a:lnSpc>
                <a:spcPct val="122000"/>
              </a:lnSpc>
            </a:pPr>
            <a:r>
              <a:rPr sz="900" b="0" i="0">
                <a:solidFill>
                  <a:srgbClr val="43597C"/>
                </a:solidFill>
                <a:latin typeface="Calibri"/>
              </a:rPr>
              <a:t>CALIBER  ·  A Layered Control Plane for Governed Releases of AI-Agent Resources</a:t>
            </a:r>
          </a:p>
        </p:txBody>
      </p:sp>
      <p:sp>
        <p:nvSpPr>
          <p:cNvPr id="3" name="TextBox 2"/>
          <p:cNvSpPr txBox="1"/>
          <p:nvPr/>
        </p:nvSpPr>
        <p:spPr>
          <a:xfrm>
            <a:off x="10629900" y="6337300"/>
            <a:ext cx="914400" cy="254000"/>
          </a:xfrm>
          <a:prstGeom prst="rect">
            <a:avLst/>
          </a:prstGeom>
          <a:noFill/>
        </p:spPr>
        <p:txBody>
          <a:bodyPr wrap="square" lIns="0" rIns="0" tIns="0" bIns="0" anchor="t">
            <a:spAutoFit/>
          </a:bodyPr>
          <a:lstStyle/>
          <a:p>
            <a:pPr algn="r">
              <a:lnSpc>
                <a:spcPct val="122000"/>
              </a:lnSpc>
            </a:pPr>
            <a:r>
              <a:rPr sz="900" b="0" i="0">
                <a:solidFill>
                  <a:srgbClr val="43597C"/>
                </a:solidFill>
                <a:latin typeface="Calibri"/>
              </a:rPr>
              <a:t>10</a:t>
            </a:r>
          </a:p>
        </p:txBody>
      </p:sp>
      <p:sp>
        <p:nvSpPr>
          <p:cNvPr id="4" name="Oval 3"/>
          <p:cNvSpPr/>
          <p:nvPr/>
        </p:nvSpPr>
        <p:spPr>
          <a:xfrm>
            <a:off x="9321800" y="914400"/>
            <a:ext cx="5118100" cy="5118100"/>
          </a:xfrm>
          <a:prstGeom prst="ellipse">
            <a:avLst/>
          </a:prstGeom>
          <a:solidFill>
            <a:srgbClr val="1A3563"/>
          </a:solidFill>
          <a:ln w="12700">
            <a:solidFill>
              <a:srgbClr val="1A35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604500" y="2184400"/>
            <a:ext cx="2552700" cy="2552700"/>
          </a:xfrm>
          <a:prstGeom prst="ellipse">
            <a:avLst/>
          </a:prstGeom>
          <a:solidFill>
            <a:srgbClr val="1F8A99"/>
          </a:solidFill>
          <a:ln w="12700">
            <a:solidFill>
              <a:srgbClr val="1F8A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379200" y="2959100"/>
            <a:ext cx="1003300" cy="1003300"/>
          </a:xfrm>
          <a:prstGeom prst="ellipse">
            <a:avLst/>
          </a:prstGeom>
          <a:solidFill>
            <a:srgbClr val="56B3BE"/>
          </a:solidFill>
          <a:ln w="12700">
            <a:solidFill>
              <a:srgbClr val="56B3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5000" y="2146300"/>
            <a:ext cx="1651000" cy="1371600"/>
          </a:xfrm>
          <a:prstGeom prst="rect">
            <a:avLst/>
          </a:prstGeom>
          <a:noFill/>
        </p:spPr>
        <p:txBody>
          <a:bodyPr wrap="square" lIns="0" rIns="0" tIns="0" bIns="0" anchor="t">
            <a:spAutoFit/>
          </a:bodyPr>
          <a:lstStyle/>
          <a:p>
            <a:pPr algn="l">
              <a:lnSpc>
                <a:spcPct val="100000"/>
              </a:lnSpc>
            </a:pPr>
            <a:r>
              <a:rPr sz="7600" b="1" i="0">
                <a:solidFill>
                  <a:srgbClr val="56B3BE"/>
                </a:solidFill>
                <a:latin typeface="Calibri"/>
              </a:rPr>
              <a:t>II</a:t>
            </a:r>
          </a:p>
        </p:txBody>
      </p:sp>
      <p:sp>
        <p:nvSpPr>
          <p:cNvPr id="8" name="TextBox 7"/>
          <p:cNvSpPr txBox="1"/>
          <p:nvPr/>
        </p:nvSpPr>
        <p:spPr>
          <a:xfrm>
            <a:off x="2362200" y="2286000"/>
            <a:ext cx="6350000" cy="685800"/>
          </a:xfrm>
          <a:prstGeom prst="rect">
            <a:avLst/>
          </a:prstGeom>
          <a:noFill/>
        </p:spPr>
        <p:txBody>
          <a:bodyPr wrap="square" lIns="0" rIns="0" tIns="0" bIns="0" anchor="t">
            <a:spAutoFit/>
          </a:bodyPr>
          <a:lstStyle/>
          <a:p>
            <a:pPr algn="l">
              <a:lnSpc>
                <a:spcPct val="105000"/>
              </a:lnSpc>
            </a:pPr>
            <a:r>
              <a:rPr sz="3400" b="1" i="0">
                <a:solidFill>
                  <a:srgbClr val="FFFFFF"/>
                </a:solidFill>
                <a:latin typeface="Calibri"/>
              </a:rPr>
              <a:t>Per-family governance</a:t>
            </a:r>
          </a:p>
        </p:txBody>
      </p:sp>
      <p:sp>
        <p:nvSpPr>
          <p:cNvPr id="9" name="TextBox 8"/>
          <p:cNvSpPr txBox="1"/>
          <p:nvPr/>
        </p:nvSpPr>
        <p:spPr>
          <a:xfrm>
            <a:off x="2387600" y="3048000"/>
            <a:ext cx="6350000" cy="762000"/>
          </a:xfrm>
          <a:prstGeom prst="rect">
            <a:avLst/>
          </a:prstGeom>
          <a:noFill/>
        </p:spPr>
        <p:txBody>
          <a:bodyPr wrap="square" lIns="0" rIns="0" tIns="0" bIns="0" anchor="t">
            <a:spAutoFit/>
          </a:bodyPr>
          <a:lstStyle/>
          <a:p>
            <a:pPr algn="l">
              <a:lnSpc>
                <a:spcPct val="132000"/>
              </a:lnSpc>
            </a:pPr>
            <a:r>
              <a:rPr sz="1350" b="0" i="0">
                <a:solidFill>
                  <a:srgbClr val="9BD0D6"/>
                </a:solidFill>
                <a:latin typeface="Calibri"/>
              </a:rPr>
              <a:t>Availability is not inheritance. What one mode vocabulary costs when it spans nine genuinely heterogeneous families.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35000" y="6337300"/>
            <a:ext cx="6096000" cy="254000"/>
          </a:xfrm>
          <a:prstGeom prst="rect">
            <a:avLst/>
          </a:prstGeom>
          <a:noFill/>
        </p:spPr>
        <p:txBody>
          <a:bodyPr wrap="square" lIns="0" rIns="0" tIns="0" bIns="0" anchor="t">
            <a:spAutoFit/>
          </a:bodyPr>
          <a:lstStyle/>
          <a:p>
            <a:pPr algn="l">
              <a:lnSpc>
                <a:spcPct val="122000"/>
              </a:lnSpc>
            </a:pPr>
            <a:r>
              <a:rPr sz="900" b="0" i="0">
                <a:solidFill>
                  <a:srgbClr val="A3B2C4"/>
                </a:solidFill>
                <a:latin typeface="Calibri"/>
              </a:rPr>
              <a:t>CALIBER  ·  A Layered Control Plane for Governed Releases of AI-Agent Resources</a:t>
            </a:r>
          </a:p>
        </p:txBody>
      </p:sp>
      <p:sp>
        <p:nvSpPr>
          <p:cNvPr id="3" name="TextBox 2"/>
          <p:cNvSpPr txBox="1"/>
          <p:nvPr/>
        </p:nvSpPr>
        <p:spPr>
          <a:xfrm>
            <a:off x="10629900" y="6337300"/>
            <a:ext cx="914400" cy="254000"/>
          </a:xfrm>
          <a:prstGeom prst="rect">
            <a:avLst/>
          </a:prstGeom>
          <a:noFill/>
        </p:spPr>
        <p:txBody>
          <a:bodyPr wrap="square" lIns="0" rIns="0" tIns="0" bIns="0" anchor="t">
            <a:spAutoFit/>
          </a:bodyPr>
          <a:lstStyle/>
          <a:p>
            <a:pPr algn="r">
              <a:lnSpc>
                <a:spcPct val="122000"/>
              </a:lnSpc>
            </a:pPr>
            <a:r>
              <a:rPr sz="900" b="0" i="0">
                <a:solidFill>
                  <a:srgbClr val="A3B2C4"/>
                </a:solidFill>
                <a:latin typeface="Calibri"/>
              </a:rPr>
              <a:t>11</a:t>
            </a:r>
          </a:p>
        </p:txBody>
      </p:sp>
      <p:sp>
        <p:nvSpPr>
          <p:cNvPr id="4" name="TextBox 3"/>
          <p:cNvSpPr txBox="1"/>
          <p:nvPr/>
        </p:nvSpPr>
        <p:spPr>
          <a:xfrm>
            <a:off x="635000" y="381000"/>
            <a:ext cx="10909300" cy="228600"/>
          </a:xfrm>
          <a:prstGeom prst="rect">
            <a:avLst/>
          </a:prstGeom>
          <a:noFill/>
        </p:spPr>
        <p:txBody>
          <a:bodyPr wrap="square" lIns="0" rIns="0" tIns="0" bIns="0" anchor="t">
            <a:spAutoFit/>
          </a:bodyPr>
          <a:lstStyle/>
          <a:p>
            <a:pPr algn="l">
              <a:lnSpc>
                <a:spcPct val="122000"/>
              </a:lnSpc>
            </a:pPr>
            <a:r>
              <a:rPr sz="1050" b="1" i="0">
                <a:solidFill>
                  <a:srgbClr val="1F8A99"/>
                </a:solidFill>
                <a:latin typeface="Calibri"/>
              </a:rPr>
              <a:t>The central claim  ·  §1 and §5.1</a:t>
            </a:r>
          </a:p>
        </p:txBody>
      </p:sp>
      <p:sp>
        <p:nvSpPr>
          <p:cNvPr id="5" name="TextBox 4"/>
          <p:cNvSpPr txBox="1"/>
          <p:nvPr/>
        </p:nvSpPr>
        <p:spPr>
          <a:xfrm>
            <a:off x="635000" y="647700"/>
            <a:ext cx="10909300" cy="495300"/>
          </a:xfrm>
          <a:prstGeom prst="rect">
            <a:avLst/>
          </a:prstGeom>
          <a:noFill/>
        </p:spPr>
        <p:txBody>
          <a:bodyPr wrap="square" lIns="0" rIns="0" tIns="0" bIns="0" anchor="t">
            <a:spAutoFit/>
          </a:bodyPr>
          <a:lstStyle/>
          <a:p>
            <a:pPr algn="l">
              <a:lnSpc>
                <a:spcPct val="108000"/>
              </a:lnSpc>
            </a:pPr>
            <a:r>
              <a:rPr sz="2600" b="1" i="0">
                <a:solidFill>
                  <a:srgbClr val="0E1E3A"/>
                </a:solidFill>
                <a:latin typeface="Calibri"/>
              </a:rPr>
              <a:t>The claim, stated narrowly enough to be wrong</a:t>
            </a:r>
          </a:p>
        </p:txBody>
      </p:sp>
      <p:sp>
        <p:nvSpPr>
          <p:cNvPr id="6" name="Rounded Rectangle 5"/>
          <p:cNvSpPr/>
          <p:nvPr/>
        </p:nvSpPr>
        <p:spPr>
          <a:xfrm>
            <a:off x="635000" y="1168400"/>
            <a:ext cx="10909300" cy="1219200"/>
          </a:xfrm>
          <a:prstGeom prst="roundRect">
            <a:avLst>
              <a:gd name="adj" fmla="val 9375"/>
            </a:avLst>
          </a:prstGeom>
          <a:solidFill>
            <a:srgbClr val="E8F4F5"/>
          </a:solidFill>
          <a:ln w="9525">
            <a:solidFill>
              <a:srgbClr val="CFE4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000" y="1168400"/>
            <a:ext cx="44450" cy="1219200"/>
          </a:xfrm>
          <a:prstGeom prst="rect">
            <a:avLst/>
          </a:prstGeom>
          <a:solidFill>
            <a:srgbClr val="1F8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5200" y="1371600"/>
            <a:ext cx="10248900" cy="838200"/>
          </a:xfrm>
          <a:prstGeom prst="rect">
            <a:avLst/>
          </a:prstGeom>
          <a:noFill/>
        </p:spPr>
        <p:txBody>
          <a:bodyPr wrap="square" lIns="0" rIns="0" tIns="0" bIns="0" anchor="t">
            <a:spAutoFit/>
          </a:bodyPr>
          <a:lstStyle/>
          <a:p>
            <a:pPr algn="l">
              <a:lnSpc>
                <a:spcPct val="134000"/>
              </a:lnSpc>
            </a:pPr>
            <a:r>
              <a:rPr sz="1350" b="0" i="1">
                <a:solidFill>
                  <a:srgbClr val="0E1E3A"/>
                </a:solidFill>
                <a:latin typeface="Calibri"/>
              </a:rPr>
              <a:t>Adjacency in a layered architecture confers capability availability, not capability inheritance. A family placed in the asset layer obtains lifecycle behaviour and governance enforcement only by explicitly wiring them. The shared base contract is identity, history, authority, and audit; release, rollback, evaluation, and evidence are capability-specific obligations.</a:t>
            </a:r>
          </a:p>
        </p:txBody>
      </p:sp>
      <p:sp>
        <p:nvSpPr>
          <p:cNvPr id="9" name="TextBox 8"/>
          <p:cNvSpPr txBox="1"/>
          <p:nvPr/>
        </p:nvSpPr>
        <p:spPr>
          <a:xfrm>
            <a:off x="635000" y="2540000"/>
            <a:ext cx="10909300" cy="190500"/>
          </a:xfrm>
          <a:prstGeom prst="rect">
            <a:avLst/>
          </a:prstGeom>
          <a:noFill/>
        </p:spPr>
        <p:txBody>
          <a:bodyPr wrap="square" lIns="0" rIns="0" tIns="0" bIns="0" anchor="t">
            <a:spAutoFit/>
          </a:bodyPr>
          <a:lstStyle/>
          <a:p>
            <a:pPr algn="l">
              <a:lnSpc>
                <a:spcPct val="122000"/>
              </a:lnSpc>
            </a:pPr>
            <a:r>
              <a:rPr sz="950" b="1" i="0">
                <a:solidFill>
                  <a:srgbClr val="1F8A99"/>
                </a:solidFill>
                <a:latin typeface="Calibri"/>
              </a:rPr>
              <a:t>Why a single uniform contract cannot be written</a:t>
            </a:r>
          </a:p>
        </p:txBody>
      </p:sp>
      <p:sp>
        <p:nvSpPr>
          <p:cNvPr id="10" name="Rounded Rectangle 9"/>
          <p:cNvSpPr/>
          <p:nvPr/>
        </p:nvSpPr>
        <p:spPr>
          <a:xfrm>
            <a:off x="635000" y="2794000"/>
            <a:ext cx="3517900" cy="1290828"/>
          </a:xfrm>
          <a:prstGeom prst="roundRect">
            <a:avLst>
              <a:gd name="adj" fmla="val 8854"/>
            </a:avLst>
          </a:prstGeom>
          <a:solidFill>
            <a:srgbClr val="F5F9FC"/>
          </a:solidFill>
          <a:ln w="9525">
            <a:solidFill>
              <a:srgbClr val="E4ED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76300" y="2984500"/>
            <a:ext cx="3035300" cy="170688"/>
          </a:xfrm>
          <a:prstGeom prst="rect">
            <a:avLst/>
          </a:prstGeom>
          <a:noFill/>
        </p:spPr>
        <p:txBody>
          <a:bodyPr wrap="square" lIns="0" rIns="0" tIns="0" bIns="0" anchor="t">
            <a:spAutoFit/>
          </a:bodyPr>
          <a:lstStyle/>
          <a:p>
            <a:pPr algn="l">
              <a:lnSpc>
                <a:spcPct val="112000"/>
              </a:lnSpc>
            </a:pPr>
            <a:r>
              <a:rPr sz="1200" b="1" i="0">
                <a:solidFill>
                  <a:srgbClr val="24354F"/>
                </a:solidFill>
                <a:latin typeface="Calibri"/>
              </a:rPr>
              <a:t>Prompt</a:t>
            </a:r>
          </a:p>
        </p:txBody>
      </p:sp>
      <p:sp>
        <p:nvSpPr>
          <p:cNvPr id="12" name="TextBox 11"/>
          <p:cNvSpPr txBox="1"/>
          <p:nvPr/>
        </p:nvSpPr>
        <p:spPr>
          <a:xfrm>
            <a:off x="876300" y="3244088"/>
            <a:ext cx="3035300" cy="650240"/>
          </a:xfrm>
          <a:prstGeom prst="rect">
            <a:avLst/>
          </a:prstGeom>
          <a:noFill/>
        </p:spPr>
        <p:txBody>
          <a:bodyPr wrap="square" lIns="0" rIns="0" tIns="0" bIns="0" anchor="t">
            <a:spAutoFit/>
          </a:bodyPr>
          <a:lstStyle/>
          <a:p>
            <a:pPr algn="l">
              <a:lnSpc>
                <a:spcPct val="128000"/>
              </a:lnSpc>
            </a:pPr>
            <a:r>
              <a:rPr sz="1000" b="0" i="0">
                <a:solidFill>
                  <a:srgbClr val="5A6B84"/>
                </a:solidFill>
                <a:latin typeface="Calibri"/>
              </a:rPr>
              <a:t>A live target is an MLflow registry alias. Release rotates it; rollback restores the target it previously held. This family has the full release vocabulary.</a:t>
            </a:r>
          </a:p>
        </p:txBody>
      </p:sp>
      <p:sp>
        <p:nvSpPr>
          <p:cNvPr id="13" name="Rounded Rectangle 12"/>
          <p:cNvSpPr/>
          <p:nvPr/>
        </p:nvSpPr>
        <p:spPr>
          <a:xfrm>
            <a:off x="4330700" y="2794000"/>
            <a:ext cx="3517900" cy="1290828"/>
          </a:xfrm>
          <a:prstGeom prst="roundRect">
            <a:avLst>
              <a:gd name="adj" fmla="val 8854"/>
            </a:avLst>
          </a:prstGeom>
          <a:solidFill>
            <a:srgbClr val="F5F9FC"/>
          </a:solidFill>
          <a:ln w="9525">
            <a:solidFill>
              <a:srgbClr val="E4ED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572000" y="2984500"/>
            <a:ext cx="3035300" cy="170688"/>
          </a:xfrm>
          <a:prstGeom prst="rect">
            <a:avLst/>
          </a:prstGeom>
          <a:noFill/>
        </p:spPr>
        <p:txBody>
          <a:bodyPr wrap="square" lIns="0" rIns="0" tIns="0" bIns="0" anchor="t">
            <a:spAutoFit/>
          </a:bodyPr>
          <a:lstStyle/>
          <a:p>
            <a:pPr algn="l">
              <a:lnSpc>
                <a:spcPct val="112000"/>
              </a:lnSpc>
            </a:pPr>
            <a:r>
              <a:rPr sz="1200" b="1" i="0">
                <a:solidFill>
                  <a:srgbClr val="24354F"/>
                </a:solidFill>
                <a:latin typeface="Calibri"/>
              </a:rPr>
              <a:t>Test set</a:t>
            </a:r>
          </a:p>
        </p:txBody>
      </p:sp>
      <p:sp>
        <p:nvSpPr>
          <p:cNvPr id="15" name="TextBox 14"/>
          <p:cNvSpPr txBox="1"/>
          <p:nvPr/>
        </p:nvSpPr>
        <p:spPr>
          <a:xfrm>
            <a:off x="4572000" y="3244088"/>
            <a:ext cx="3035300" cy="487680"/>
          </a:xfrm>
          <a:prstGeom prst="rect">
            <a:avLst/>
          </a:prstGeom>
          <a:noFill/>
        </p:spPr>
        <p:txBody>
          <a:bodyPr wrap="square" lIns="0" rIns="0" tIns="0" bIns="0" anchor="t">
            <a:spAutoFit/>
          </a:bodyPr>
          <a:lstStyle/>
          <a:p>
            <a:pPr algn="l">
              <a:lnSpc>
                <a:spcPct val="128000"/>
              </a:lnSpc>
            </a:pPr>
            <a:r>
              <a:rPr sz="1000" b="0" i="0">
                <a:solidFill>
                  <a:srgbClr val="5A6B84"/>
                </a:solidFill>
                <a:latin typeface="Calibri"/>
              </a:rPr>
              <a:t>There is no live target at all. A test set *is* evidence. Forcing it to have a release path would produce a field that nothing reads.</a:t>
            </a:r>
          </a:p>
        </p:txBody>
      </p:sp>
      <p:sp>
        <p:nvSpPr>
          <p:cNvPr id="16" name="Rounded Rectangle 15"/>
          <p:cNvSpPr/>
          <p:nvPr/>
        </p:nvSpPr>
        <p:spPr>
          <a:xfrm>
            <a:off x="8026400" y="2794000"/>
            <a:ext cx="3517900" cy="1290828"/>
          </a:xfrm>
          <a:prstGeom prst="roundRect">
            <a:avLst>
              <a:gd name="adj" fmla="val 8854"/>
            </a:avLst>
          </a:prstGeom>
          <a:solidFill>
            <a:srgbClr val="F5F9FC"/>
          </a:solidFill>
          <a:ln w="9525">
            <a:solidFill>
              <a:srgbClr val="E4ED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267700" y="2984500"/>
            <a:ext cx="3035300" cy="170688"/>
          </a:xfrm>
          <a:prstGeom prst="rect">
            <a:avLst/>
          </a:prstGeom>
          <a:noFill/>
        </p:spPr>
        <p:txBody>
          <a:bodyPr wrap="square" lIns="0" rIns="0" tIns="0" bIns="0" anchor="t">
            <a:spAutoFit/>
          </a:bodyPr>
          <a:lstStyle/>
          <a:p>
            <a:pPr algn="l">
              <a:lnSpc>
                <a:spcPct val="112000"/>
              </a:lnSpc>
            </a:pPr>
            <a:r>
              <a:rPr sz="1200" b="1" i="0">
                <a:solidFill>
                  <a:srgbClr val="24354F"/>
                </a:solidFill>
                <a:latin typeface="Calibri"/>
              </a:rPr>
              <a:t>Judge</a:t>
            </a:r>
          </a:p>
        </p:txBody>
      </p:sp>
      <p:sp>
        <p:nvSpPr>
          <p:cNvPr id="18" name="TextBox 17"/>
          <p:cNvSpPr txBox="1"/>
          <p:nvPr/>
        </p:nvSpPr>
        <p:spPr>
          <a:xfrm>
            <a:off x="8267700" y="3244088"/>
            <a:ext cx="3035300" cy="650240"/>
          </a:xfrm>
          <a:prstGeom prst="rect">
            <a:avLst/>
          </a:prstGeom>
          <a:noFill/>
        </p:spPr>
        <p:txBody>
          <a:bodyPr wrap="square" lIns="0" rIns="0" tIns="0" bIns="0" anchor="t">
            <a:spAutoFit/>
          </a:bodyPr>
          <a:lstStyle/>
          <a:p>
            <a:pPr algn="l">
              <a:lnSpc>
                <a:spcPct val="128000"/>
              </a:lnSpc>
            </a:pPr>
            <a:r>
              <a:rPr sz="1000" b="0" i="0">
                <a:solidFill>
                  <a:srgbClr val="5A6B84"/>
                </a:solidFill>
                <a:latin typeface="Calibri"/>
              </a:rPr>
              <a:t>The artifact is a scorer, referenced by token wherever a scorer is accepted. No live target, no evidence base of its own — what it has is a measured agreement rate with human labels.</a:t>
            </a:r>
          </a:p>
        </p:txBody>
      </p:sp>
      <p:sp>
        <p:nvSpPr>
          <p:cNvPr id="19" name="Rounded Rectangle 18"/>
          <p:cNvSpPr/>
          <p:nvPr/>
        </p:nvSpPr>
        <p:spPr>
          <a:xfrm>
            <a:off x="635000" y="4237228"/>
            <a:ext cx="10909300" cy="1071880"/>
          </a:xfrm>
          <a:prstGeom prst="roundRect">
            <a:avLst>
              <a:gd name="adj" fmla="val 10663"/>
            </a:avLst>
          </a:prstGeom>
          <a:solidFill>
            <a:srgbClr val="EAF1F7"/>
          </a:solidFill>
          <a:ln w="9525">
            <a:solidFill>
              <a:srgbClr val="D5E0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89000" y="4376928"/>
            <a:ext cx="10401300" cy="177800"/>
          </a:xfrm>
          <a:prstGeom prst="rect">
            <a:avLst/>
          </a:prstGeom>
          <a:noFill/>
        </p:spPr>
        <p:txBody>
          <a:bodyPr wrap="square" lIns="0" rIns="0" tIns="0" bIns="0" anchor="t">
            <a:spAutoFit/>
          </a:bodyPr>
          <a:lstStyle/>
          <a:p>
            <a:pPr algn="l">
              <a:lnSpc>
                <a:spcPct val="122000"/>
              </a:lnSpc>
            </a:pPr>
            <a:r>
              <a:rPr sz="950" b="1" i="0">
                <a:solidFill>
                  <a:srgbClr val="0E1E3A"/>
                </a:solidFill>
                <a:latin typeface="Calibri"/>
              </a:rPr>
              <a:t>What follows, and what does not</a:t>
            </a:r>
          </a:p>
        </p:txBody>
      </p:sp>
      <p:sp>
        <p:nvSpPr>
          <p:cNvPr id="21" name="TextBox 20"/>
          <p:cNvSpPr txBox="1"/>
          <p:nvPr/>
        </p:nvSpPr>
        <p:spPr>
          <a:xfrm>
            <a:off x="889000" y="4605528"/>
            <a:ext cx="10401300" cy="487680"/>
          </a:xfrm>
          <a:prstGeom prst="rect">
            <a:avLst/>
          </a:prstGeom>
          <a:noFill/>
        </p:spPr>
        <p:txBody>
          <a:bodyPr wrap="square" lIns="0" rIns="0" tIns="0" bIns="0" anchor="t">
            <a:spAutoFit/>
          </a:bodyPr>
          <a:lstStyle/>
          <a:p>
            <a:pPr algn="l">
              <a:lnSpc>
                <a:spcPct val="128000"/>
              </a:lnSpc>
            </a:pPr>
            <a:r>
              <a:rPr sz="1000" b="0" i="0">
                <a:solidFill>
                  <a:srgbClr val="24354F"/>
                </a:solidFill>
                <a:latin typeface="Calibri"/>
              </a:rPr>
              <a:t>Any single contract all three satisfy is vacuous — it can require nothing stronger than “has an identifier.” A contract strong enough to be worth enforcing on prompts would exclude test sets and judges, making the platform less useful rather than more principled. Uniform guarantees are impossible across genuinely heterogeneous families; uniform obligations are possible, and require a mechanism CALIBER does not yet have.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35000" y="6337300"/>
            <a:ext cx="6096000" cy="254000"/>
          </a:xfrm>
          <a:prstGeom prst="rect">
            <a:avLst/>
          </a:prstGeom>
          <a:noFill/>
        </p:spPr>
        <p:txBody>
          <a:bodyPr wrap="square" lIns="0" rIns="0" tIns="0" bIns="0" anchor="t">
            <a:spAutoFit/>
          </a:bodyPr>
          <a:lstStyle/>
          <a:p>
            <a:pPr algn="l">
              <a:lnSpc>
                <a:spcPct val="122000"/>
              </a:lnSpc>
            </a:pPr>
            <a:r>
              <a:rPr sz="900" b="0" i="0">
                <a:solidFill>
                  <a:srgbClr val="A3B2C4"/>
                </a:solidFill>
                <a:latin typeface="Calibri"/>
              </a:rPr>
              <a:t>CALIBER  ·  A Layered Control Plane for Governed Releases of AI-Agent Resources</a:t>
            </a:r>
          </a:p>
        </p:txBody>
      </p:sp>
      <p:sp>
        <p:nvSpPr>
          <p:cNvPr id="3" name="TextBox 2"/>
          <p:cNvSpPr txBox="1"/>
          <p:nvPr/>
        </p:nvSpPr>
        <p:spPr>
          <a:xfrm>
            <a:off x="10629900" y="6337300"/>
            <a:ext cx="914400" cy="254000"/>
          </a:xfrm>
          <a:prstGeom prst="rect">
            <a:avLst/>
          </a:prstGeom>
          <a:noFill/>
        </p:spPr>
        <p:txBody>
          <a:bodyPr wrap="square" lIns="0" rIns="0" tIns="0" bIns="0" anchor="t">
            <a:spAutoFit/>
          </a:bodyPr>
          <a:lstStyle/>
          <a:p>
            <a:pPr algn="r">
              <a:lnSpc>
                <a:spcPct val="122000"/>
              </a:lnSpc>
            </a:pPr>
            <a:r>
              <a:rPr sz="900" b="0" i="0">
                <a:solidFill>
                  <a:srgbClr val="A3B2C4"/>
                </a:solidFill>
                <a:latin typeface="Calibri"/>
              </a:rPr>
              <a:t>12</a:t>
            </a:r>
          </a:p>
        </p:txBody>
      </p:sp>
      <p:sp>
        <p:nvSpPr>
          <p:cNvPr id="4" name="TextBox 3"/>
          <p:cNvSpPr txBox="1"/>
          <p:nvPr/>
        </p:nvSpPr>
        <p:spPr>
          <a:xfrm>
            <a:off x="635000" y="381000"/>
            <a:ext cx="10909300" cy="228600"/>
          </a:xfrm>
          <a:prstGeom prst="rect">
            <a:avLst/>
          </a:prstGeom>
          <a:noFill/>
        </p:spPr>
        <p:txBody>
          <a:bodyPr wrap="square" lIns="0" rIns="0" tIns="0" bIns="0" anchor="t">
            <a:spAutoFit/>
          </a:bodyPr>
          <a:lstStyle/>
          <a:p>
            <a:pPr algn="l">
              <a:lnSpc>
                <a:spcPct val="122000"/>
              </a:lnSpc>
            </a:pPr>
            <a:r>
              <a:rPr sz="1050" b="1" i="0">
                <a:solidFill>
                  <a:srgbClr val="1F8A99"/>
                </a:solidFill>
                <a:latin typeface="Calibri"/>
              </a:rPr>
              <a:t>Per-family governance  ·  §5.4  ·  Table 3</a:t>
            </a:r>
          </a:p>
        </p:txBody>
      </p:sp>
      <p:sp>
        <p:nvSpPr>
          <p:cNvPr id="5" name="TextBox 4"/>
          <p:cNvSpPr txBox="1"/>
          <p:nvPr/>
        </p:nvSpPr>
        <p:spPr>
          <a:xfrm>
            <a:off x="635000" y="647700"/>
            <a:ext cx="10909300" cy="495300"/>
          </a:xfrm>
          <a:prstGeom prst="rect">
            <a:avLst/>
          </a:prstGeom>
          <a:noFill/>
        </p:spPr>
        <p:txBody>
          <a:bodyPr wrap="square" lIns="0" rIns="0" tIns="0" bIns="0" anchor="t">
            <a:spAutoFit/>
          </a:bodyPr>
          <a:lstStyle/>
          <a:p>
            <a:pPr algn="l">
              <a:lnSpc>
                <a:spcPct val="108000"/>
              </a:lnSpc>
            </a:pPr>
            <a:r>
              <a:rPr sz="2600" b="1" i="0">
                <a:solidFill>
                  <a:srgbClr val="0E1E3A"/>
                </a:solidFill>
                <a:latin typeface="Calibri"/>
              </a:rPr>
              <a:t>Nine families, nine guarantee surfaces</a:t>
            </a:r>
          </a:p>
        </p:txBody>
      </p:sp>
      <p:sp>
        <p:nvSpPr>
          <p:cNvPr id="6" name="TextBox 5"/>
          <p:cNvSpPr txBox="1"/>
          <p:nvPr/>
        </p:nvSpPr>
        <p:spPr>
          <a:xfrm>
            <a:off x="635000" y="1168400"/>
            <a:ext cx="10909300" cy="279400"/>
          </a:xfrm>
          <a:prstGeom prst="rect">
            <a:avLst/>
          </a:prstGeom>
          <a:noFill/>
        </p:spPr>
        <p:txBody>
          <a:bodyPr wrap="square" lIns="0" rIns="0" tIns="0" bIns="0" anchor="t">
            <a:spAutoFit/>
          </a:bodyPr>
          <a:lstStyle/>
          <a:p>
            <a:pPr algn="l">
              <a:lnSpc>
                <a:spcPct val="130000"/>
              </a:lnSpc>
            </a:pPr>
            <a:r>
              <a:rPr sz="1250" b="0" i="0">
                <a:solidFill>
                  <a:srgbClr val="24354F"/>
                </a:solidFill>
                <a:latin typeface="Calibri"/>
              </a:rPr>
              <a:t>Six are authored runtime assets, two are evidence and scoring assets, and one is the anchor record that items, jobs and approvals hang off.</a:t>
            </a:r>
          </a:p>
        </p:txBody>
      </p:sp>
      <p:sp>
        <p:nvSpPr>
          <p:cNvPr id="7" name="Rectangle 6"/>
          <p:cNvSpPr/>
          <p:nvPr/>
        </p:nvSpPr>
        <p:spPr>
          <a:xfrm>
            <a:off x="635000" y="1549400"/>
            <a:ext cx="10909300" cy="299973"/>
          </a:xfrm>
          <a:prstGeom prst="rect">
            <a:avLst/>
          </a:prstGeom>
          <a:solidFill>
            <a:srgbClr val="1F8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6600" y="1625600"/>
            <a:ext cx="1016000" cy="147573"/>
          </a:xfrm>
          <a:prstGeom prst="rect">
            <a:avLst/>
          </a:prstGeom>
          <a:noFill/>
        </p:spPr>
        <p:txBody>
          <a:bodyPr wrap="square" lIns="0" rIns="0" tIns="0" bIns="0" anchor="t">
            <a:spAutoFit/>
          </a:bodyPr>
          <a:lstStyle/>
          <a:p>
            <a:pPr algn="l">
              <a:lnSpc>
                <a:spcPct val="122000"/>
              </a:lnSpc>
            </a:pPr>
            <a:r>
              <a:rPr sz="900" b="1" i="0">
                <a:solidFill>
                  <a:srgbClr val="FFFFFF"/>
                </a:solidFill>
                <a:latin typeface="Calibri"/>
              </a:rPr>
              <a:t>Family</a:t>
            </a:r>
          </a:p>
        </p:txBody>
      </p:sp>
      <p:sp>
        <p:nvSpPr>
          <p:cNvPr id="9" name="TextBox 8"/>
          <p:cNvSpPr txBox="1"/>
          <p:nvPr/>
        </p:nvSpPr>
        <p:spPr>
          <a:xfrm>
            <a:off x="1955800" y="1625600"/>
            <a:ext cx="2286000" cy="147573"/>
          </a:xfrm>
          <a:prstGeom prst="rect">
            <a:avLst/>
          </a:prstGeom>
          <a:noFill/>
        </p:spPr>
        <p:txBody>
          <a:bodyPr wrap="square" lIns="0" rIns="0" tIns="0" bIns="0" anchor="t">
            <a:spAutoFit/>
          </a:bodyPr>
          <a:lstStyle/>
          <a:p>
            <a:pPr algn="l">
              <a:lnSpc>
                <a:spcPct val="122000"/>
              </a:lnSpc>
            </a:pPr>
            <a:r>
              <a:rPr sz="900" b="1" i="0">
                <a:solidFill>
                  <a:srgbClr val="FFFFFF"/>
                </a:solidFill>
                <a:latin typeface="Calibri"/>
              </a:rPr>
              <a:t>History &amp; liveness</a:t>
            </a:r>
          </a:p>
        </p:txBody>
      </p:sp>
      <p:sp>
        <p:nvSpPr>
          <p:cNvPr id="10" name="TextBox 9"/>
          <p:cNvSpPr txBox="1"/>
          <p:nvPr/>
        </p:nvSpPr>
        <p:spPr>
          <a:xfrm>
            <a:off x="4445000" y="1625600"/>
            <a:ext cx="1981200" cy="147573"/>
          </a:xfrm>
          <a:prstGeom prst="rect">
            <a:avLst/>
          </a:prstGeom>
          <a:noFill/>
        </p:spPr>
        <p:txBody>
          <a:bodyPr wrap="square" lIns="0" rIns="0" tIns="0" bIns="0" anchor="t">
            <a:spAutoFit/>
          </a:bodyPr>
          <a:lstStyle/>
          <a:p>
            <a:pPr algn="l">
              <a:lnSpc>
                <a:spcPct val="122000"/>
              </a:lnSpc>
            </a:pPr>
            <a:r>
              <a:rPr sz="900" b="1" i="0">
                <a:solidFill>
                  <a:srgbClr val="FFFFFF"/>
                </a:solidFill>
                <a:latin typeface="Calibri"/>
              </a:rPr>
              <a:t>Gate semantics</a:t>
            </a:r>
          </a:p>
        </p:txBody>
      </p:sp>
      <p:sp>
        <p:nvSpPr>
          <p:cNvPr id="11" name="TextBox 10"/>
          <p:cNvSpPr txBox="1"/>
          <p:nvPr/>
        </p:nvSpPr>
        <p:spPr>
          <a:xfrm>
            <a:off x="6629400" y="1625600"/>
            <a:ext cx="2463800" cy="147573"/>
          </a:xfrm>
          <a:prstGeom prst="rect">
            <a:avLst/>
          </a:prstGeom>
          <a:noFill/>
        </p:spPr>
        <p:txBody>
          <a:bodyPr wrap="square" lIns="0" rIns="0" tIns="0" bIns="0" anchor="t">
            <a:spAutoFit/>
          </a:bodyPr>
          <a:lstStyle/>
          <a:p>
            <a:pPr algn="l">
              <a:lnSpc>
                <a:spcPct val="122000"/>
              </a:lnSpc>
            </a:pPr>
            <a:r>
              <a:rPr sz="900" b="1" i="0">
                <a:solidFill>
                  <a:srgbClr val="FFFFFF"/>
                </a:solidFill>
                <a:latin typeface="Calibri"/>
              </a:rPr>
              <a:t>Release / rollback</a:t>
            </a:r>
          </a:p>
        </p:txBody>
      </p:sp>
      <p:sp>
        <p:nvSpPr>
          <p:cNvPr id="12" name="TextBox 11"/>
          <p:cNvSpPr txBox="1"/>
          <p:nvPr/>
        </p:nvSpPr>
        <p:spPr>
          <a:xfrm>
            <a:off x="9296400" y="1625600"/>
            <a:ext cx="2146300" cy="147573"/>
          </a:xfrm>
          <a:prstGeom prst="rect">
            <a:avLst/>
          </a:prstGeom>
          <a:noFill/>
        </p:spPr>
        <p:txBody>
          <a:bodyPr wrap="square" lIns="0" rIns="0" tIns="0" bIns="0" anchor="t">
            <a:spAutoFit/>
          </a:bodyPr>
          <a:lstStyle/>
          <a:p>
            <a:pPr algn="l">
              <a:lnSpc>
                <a:spcPct val="122000"/>
              </a:lnSpc>
            </a:pPr>
            <a:r>
              <a:rPr sz="900" b="1" i="0">
                <a:solidFill>
                  <a:srgbClr val="FFFFFF"/>
                </a:solidFill>
                <a:latin typeface="Calibri"/>
              </a:rPr>
              <a:t>Calibration idiom</a:t>
            </a:r>
          </a:p>
        </p:txBody>
      </p:sp>
      <p:sp>
        <p:nvSpPr>
          <p:cNvPr id="13" name="Rectangle 12"/>
          <p:cNvSpPr/>
          <p:nvPr/>
        </p:nvSpPr>
        <p:spPr>
          <a:xfrm>
            <a:off x="635000" y="2233930"/>
            <a:ext cx="10909300" cy="7620"/>
          </a:xfrm>
          <a:prstGeom prst="rect">
            <a:avLst/>
          </a:prstGeom>
          <a:solidFill>
            <a:srgbClr val="D5E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6600" y="1925574"/>
            <a:ext cx="1016000" cy="239776"/>
          </a:xfrm>
          <a:prstGeom prst="rect">
            <a:avLst/>
          </a:prstGeom>
          <a:noFill/>
        </p:spPr>
        <p:txBody>
          <a:bodyPr wrap="square" lIns="0" rIns="0" tIns="0" bIns="0" anchor="ctr">
            <a:spAutoFit/>
          </a:bodyPr>
          <a:lstStyle/>
          <a:p>
            <a:pPr algn="l">
              <a:lnSpc>
                <a:spcPct val="118000"/>
              </a:lnSpc>
            </a:pPr>
            <a:r>
              <a:rPr sz="800" b="0" i="0">
                <a:solidFill>
                  <a:srgbClr val="24354F"/>
                </a:solidFill>
                <a:latin typeface="Calibri"/>
              </a:rPr>
              <a:t>Prompt</a:t>
            </a:r>
          </a:p>
        </p:txBody>
      </p:sp>
      <p:sp>
        <p:nvSpPr>
          <p:cNvPr id="15" name="TextBox 14"/>
          <p:cNvSpPr txBox="1"/>
          <p:nvPr/>
        </p:nvSpPr>
        <p:spPr>
          <a:xfrm>
            <a:off x="1955800" y="1925574"/>
            <a:ext cx="2286000" cy="239776"/>
          </a:xfrm>
          <a:prstGeom prst="rect">
            <a:avLst/>
          </a:prstGeom>
          <a:noFill/>
        </p:spPr>
        <p:txBody>
          <a:bodyPr wrap="square" lIns="0" rIns="0" tIns="0" bIns="0" anchor="ctr">
            <a:spAutoFit/>
          </a:bodyPr>
          <a:lstStyle/>
          <a:p>
            <a:pPr algn="l">
              <a:lnSpc>
                <a:spcPct val="118000"/>
              </a:lnSpc>
            </a:pPr>
            <a:r>
              <a:rPr sz="800" b="0" i="0">
                <a:solidFill>
                  <a:srgbClr val="24354F"/>
                </a:solidFill>
                <a:latin typeface="Calibri"/>
              </a:rPr>
              <a:t>immutable MLflow registry versions behind an alias such as @prod</a:t>
            </a:r>
          </a:p>
        </p:txBody>
      </p:sp>
      <p:sp>
        <p:nvSpPr>
          <p:cNvPr id="16" name="TextBox 15"/>
          <p:cNvSpPr txBox="1"/>
          <p:nvPr/>
        </p:nvSpPr>
        <p:spPr>
          <a:xfrm>
            <a:off x="4445000" y="1925574"/>
            <a:ext cx="1981200" cy="239776"/>
          </a:xfrm>
          <a:prstGeom prst="rect">
            <a:avLst/>
          </a:prstGeom>
          <a:noFill/>
        </p:spPr>
        <p:txBody>
          <a:bodyPr wrap="square" lIns="0" rIns="0" tIns="0" bIns="0" anchor="ctr">
            <a:spAutoFit/>
          </a:bodyPr>
          <a:lstStyle/>
          <a:p>
            <a:pPr algn="l">
              <a:lnSpc>
                <a:spcPct val="118000"/>
              </a:lnSpc>
            </a:pPr>
            <a:r>
              <a:rPr sz="800" b="1" i="0">
                <a:solidFill>
                  <a:srgbClr val="1F8A99"/>
                </a:solidFill>
                <a:latin typeface="Calibri"/>
              </a:rPr>
              <a:t>enforced</a:t>
            </a:r>
            <a:r>
              <a:rPr sz="800" b="0" i="0">
                <a:solidFill>
                  <a:srgbClr val="24354F"/>
                </a:solidFill>
                <a:latin typeface="Calibri"/>
              </a:rPr>
              <a:t>  advancement to candidate_ready</a:t>
            </a:r>
            <a:br/>
            <a:r>
              <a:rPr sz="800" b="1" i="0">
                <a:solidFill>
                  <a:srgbClr val="B5821F"/>
                </a:solidFill>
                <a:latin typeface="Calibri"/>
              </a:rPr>
              <a:t>advisory</a:t>
            </a:r>
            <a:r>
              <a:rPr sz="800" b="0" i="0">
                <a:solidFill>
                  <a:srgbClr val="24354F"/>
                </a:solidFill>
                <a:latin typeface="Calibri"/>
              </a:rPr>
              <a:t>  per-version verdict</a:t>
            </a:r>
          </a:p>
        </p:txBody>
      </p:sp>
      <p:sp>
        <p:nvSpPr>
          <p:cNvPr id="17" name="TextBox 16"/>
          <p:cNvSpPr txBox="1"/>
          <p:nvPr/>
        </p:nvSpPr>
        <p:spPr>
          <a:xfrm>
            <a:off x="6629400" y="1925574"/>
            <a:ext cx="2463800" cy="239776"/>
          </a:xfrm>
          <a:prstGeom prst="rect">
            <a:avLst/>
          </a:prstGeom>
          <a:noFill/>
        </p:spPr>
        <p:txBody>
          <a:bodyPr wrap="square" lIns="0" rIns="0" tIns="0" bIns="0" anchor="ctr">
            <a:spAutoFit/>
          </a:bodyPr>
          <a:lstStyle/>
          <a:p>
            <a:pPr algn="l">
              <a:lnSpc>
                <a:spcPct val="118000"/>
              </a:lnSpc>
            </a:pPr>
            <a:r>
              <a:rPr sz="800" b="0" i="0">
                <a:solidFill>
                  <a:srgbClr val="24354F"/>
                </a:solidFill>
                <a:latin typeface="Calibri"/>
              </a:rPr>
              <a:t>operator- or admin-scoped; records and restores the outgoing alias target</a:t>
            </a:r>
          </a:p>
        </p:txBody>
      </p:sp>
      <p:sp>
        <p:nvSpPr>
          <p:cNvPr id="18" name="TextBox 17"/>
          <p:cNvSpPr txBox="1"/>
          <p:nvPr/>
        </p:nvSpPr>
        <p:spPr>
          <a:xfrm>
            <a:off x="9296400" y="1925574"/>
            <a:ext cx="2146300" cy="239776"/>
          </a:xfrm>
          <a:prstGeom prst="rect">
            <a:avLst/>
          </a:prstGeom>
          <a:noFill/>
        </p:spPr>
        <p:txBody>
          <a:bodyPr wrap="square" lIns="0" rIns="0" tIns="0" bIns="0" anchor="ctr">
            <a:spAutoFit/>
          </a:bodyPr>
          <a:lstStyle/>
          <a:p>
            <a:pPr algn="l">
              <a:lnSpc>
                <a:spcPct val="118000"/>
              </a:lnSpc>
            </a:pPr>
            <a:r>
              <a:rPr sz="800" b="0" i="0">
                <a:solidFill>
                  <a:srgbClr val="24354F"/>
                </a:solidFill>
                <a:latin typeface="Calibri"/>
              </a:rPr>
              <a:t>provider optimizer + EvalProvider</a:t>
            </a:r>
          </a:p>
        </p:txBody>
      </p:sp>
      <p:sp>
        <p:nvSpPr>
          <p:cNvPr id="19" name="Rectangle 18"/>
          <p:cNvSpPr/>
          <p:nvPr/>
        </p:nvSpPr>
        <p:spPr>
          <a:xfrm>
            <a:off x="635000" y="2241550"/>
            <a:ext cx="10909300" cy="512064"/>
          </a:xfrm>
          <a:prstGeom prst="rect">
            <a:avLst/>
          </a:prstGeom>
          <a:solidFill>
            <a:srgbClr val="F5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5000" y="2745994"/>
            <a:ext cx="10909300" cy="7620"/>
          </a:xfrm>
          <a:prstGeom prst="rect">
            <a:avLst/>
          </a:prstGeom>
          <a:solidFill>
            <a:srgbClr val="D5E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2317750"/>
            <a:ext cx="1016000" cy="359664"/>
          </a:xfrm>
          <a:prstGeom prst="rect">
            <a:avLst/>
          </a:prstGeom>
          <a:noFill/>
        </p:spPr>
        <p:txBody>
          <a:bodyPr wrap="square" lIns="0" rIns="0" tIns="0" bIns="0" anchor="ctr">
            <a:spAutoFit/>
          </a:bodyPr>
          <a:lstStyle/>
          <a:p>
            <a:pPr algn="l">
              <a:lnSpc>
                <a:spcPct val="118000"/>
              </a:lnSpc>
            </a:pPr>
            <a:r>
              <a:rPr sz="800" b="0" i="0">
                <a:solidFill>
                  <a:srgbClr val="24354F"/>
                </a:solidFill>
                <a:latin typeface="Calibri"/>
              </a:rPr>
              <a:t>Workflow</a:t>
            </a:r>
          </a:p>
        </p:txBody>
      </p:sp>
      <p:sp>
        <p:nvSpPr>
          <p:cNvPr id="22" name="TextBox 21"/>
          <p:cNvSpPr txBox="1"/>
          <p:nvPr/>
        </p:nvSpPr>
        <p:spPr>
          <a:xfrm>
            <a:off x="1955800" y="2317750"/>
            <a:ext cx="2286000" cy="359664"/>
          </a:xfrm>
          <a:prstGeom prst="rect">
            <a:avLst/>
          </a:prstGeom>
          <a:noFill/>
        </p:spPr>
        <p:txBody>
          <a:bodyPr wrap="square" lIns="0" rIns="0" tIns="0" bIns="0" anchor="ctr">
            <a:spAutoFit/>
          </a:bodyPr>
          <a:lstStyle/>
          <a:p>
            <a:pPr algn="l">
              <a:lnSpc>
                <a:spcPct val="118000"/>
              </a:lnSpc>
            </a:pPr>
            <a:r>
              <a:rPr sz="800" b="0" i="0">
                <a:solidFill>
                  <a:srgbClr val="24354F"/>
                </a:solidFill>
                <a:latin typeface="Calibri"/>
              </a:rPr>
              <a:t>editable drafts promoted to published rows; deployment aliases select one</a:t>
            </a:r>
          </a:p>
        </p:txBody>
      </p:sp>
      <p:sp>
        <p:nvSpPr>
          <p:cNvPr id="23" name="TextBox 22"/>
          <p:cNvSpPr txBox="1"/>
          <p:nvPr/>
        </p:nvSpPr>
        <p:spPr>
          <a:xfrm>
            <a:off x="4445000" y="2317750"/>
            <a:ext cx="1981200" cy="359664"/>
          </a:xfrm>
          <a:prstGeom prst="rect">
            <a:avLst/>
          </a:prstGeom>
          <a:noFill/>
        </p:spPr>
        <p:txBody>
          <a:bodyPr wrap="square" lIns="0" rIns="0" tIns="0" bIns="0" anchor="ctr">
            <a:spAutoFit/>
          </a:bodyPr>
          <a:lstStyle/>
          <a:p>
            <a:pPr algn="l">
              <a:lnSpc>
                <a:spcPct val="118000"/>
              </a:lnSpc>
            </a:pPr>
            <a:r>
              <a:rPr sz="800" b="1" i="0">
                <a:solidFill>
                  <a:srgbClr val="1F8A99"/>
                </a:solidFill>
                <a:latin typeface="Calibri"/>
              </a:rPr>
              <a:t>enforced</a:t>
            </a:r>
            <a:r>
              <a:rPr sz="800" b="0" i="0">
                <a:solidFill>
                  <a:srgbClr val="24354F"/>
                </a:solidFill>
                <a:latin typeface="Calibri"/>
              </a:rPr>
              <a:t>  readiness</a:t>
            </a:r>
            <a:br/>
            <a:r>
              <a:rPr sz="800" b="1" i="0">
                <a:solidFill>
                  <a:srgbClr val="1F8A99"/>
                </a:solidFill>
                <a:latin typeface="Calibri"/>
              </a:rPr>
              <a:t>enforced</a:t>
            </a:r>
            <a:r>
              <a:rPr sz="800" b="0" i="0">
                <a:solidFill>
                  <a:srgbClr val="24354F"/>
                </a:solidFill>
                <a:latin typeface="Calibri"/>
              </a:rPr>
              <a:t>  deploy gate, optimistic alias check</a:t>
            </a:r>
          </a:p>
        </p:txBody>
      </p:sp>
      <p:sp>
        <p:nvSpPr>
          <p:cNvPr id="24" name="TextBox 23"/>
          <p:cNvSpPr txBox="1"/>
          <p:nvPr/>
        </p:nvSpPr>
        <p:spPr>
          <a:xfrm>
            <a:off x="6629400" y="2317750"/>
            <a:ext cx="2463800" cy="359664"/>
          </a:xfrm>
          <a:prstGeom prst="rect">
            <a:avLst/>
          </a:prstGeom>
          <a:noFill/>
        </p:spPr>
        <p:txBody>
          <a:bodyPr wrap="square" lIns="0" rIns="0" tIns="0" bIns="0" anchor="ctr">
            <a:spAutoFit/>
          </a:bodyPr>
          <a:lstStyle/>
          <a:p>
            <a:pPr algn="l">
              <a:lnSpc>
                <a:spcPct val="118000"/>
              </a:lnSpc>
            </a:pPr>
            <a:r>
              <a:rPr sz="800" b="0" i="0">
                <a:solidFill>
                  <a:srgbClr val="24354F"/>
                </a:solidFill>
                <a:latin typeface="Calibri"/>
              </a:rPr>
              <a:t>rollback pops the deployment's checkpoint stack</a:t>
            </a:r>
          </a:p>
        </p:txBody>
      </p:sp>
      <p:sp>
        <p:nvSpPr>
          <p:cNvPr id="25" name="TextBox 24"/>
          <p:cNvSpPr txBox="1"/>
          <p:nvPr/>
        </p:nvSpPr>
        <p:spPr>
          <a:xfrm>
            <a:off x="9296400" y="2317750"/>
            <a:ext cx="2146300" cy="359664"/>
          </a:xfrm>
          <a:prstGeom prst="rect">
            <a:avLst/>
          </a:prstGeom>
          <a:noFill/>
        </p:spPr>
        <p:txBody>
          <a:bodyPr wrap="square" lIns="0" rIns="0" tIns="0" bIns="0" anchor="ctr">
            <a:spAutoFit/>
          </a:bodyPr>
          <a:lstStyle/>
          <a:p>
            <a:pPr algn="l">
              <a:lnSpc>
                <a:spcPct val="118000"/>
              </a:lnSpc>
            </a:pPr>
            <a:r>
              <a:rPr sz="800" b="0" i="0">
                <a:solidFill>
                  <a:srgbClr val="24354F"/>
                </a:solidFill>
                <a:latin typeface="Calibri"/>
              </a:rPr>
              <a:t>manifest replay</a:t>
            </a:r>
          </a:p>
        </p:txBody>
      </p:sp>
      <p:sp>
        <p:nvSpPr>
          <p:cNvPr id="26" name="Rectangle 25"/>
          <p:cNvSpPr/>
          <p:nvPr/>
        </p:nvSpPr>
        <p:spPr>
          <a:xfrm>
            <a:off x="635000" y="3138170"/>
            <a:ext cx="10909300" cy="7620"/>
          </a:xfrm>
          <a:prstGeom prst="rect">
            <a:avLst/>
          </a:prstGeom>
          <a:solidFill>
            <a:srgbClr val="D5E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6600" y="2829814"/>
            <a:ext cx="1016000" cy="239776"/>
          </a:xfrm>
          <a:prstGeom prst="rect">
            <a:avLst/>
          </a:prstGeom>
          <a:noFill/>
        </p:spPr>
        <p:txBody>
          <a:bodyPr wrap="square" lIns="0" rIns="0" tIns="0" bIns="0" anchor="ctr">
            <a:spAutoFit/>
          </a:bodyPr>
          <a:lstStyle/>
          <a:p>
            <a:pPr algn="l">
              <a:lnSpc>
                <a:spcPct val="118000"/>
              </a:lnSpc>
            </a:pPr>
            <a:r>
              <a:rPr sz="800" b="0" i="0">
                <a:solidFill>
                  <a:srgbClr val="24354F"/>
                </a:solidFill>
                <a:latin typeface="Calibri"/>
              </a:rPr>
              <a:t>Knowledge base</a:t>
            </a:r>
          </a:p>
        </p:txBody>
      </p:sp>
      <p:sp>
        <p:nvSpPr>
          <p:cNvPr id="28" name="TextBox 27"/>
          <p:cNvSpPr txBox="1"/>
          <p:nvPr/>
        </p:nvSpPr>
        <p:spPr>
          <a:xfrm>
            <a:off x="1955800" y="2829814"/>
            <a:ext cx="2286000" cy="239776"/>
          </a:xfrm>
          <a:prstGeom prst="rect">
            <a:avLst/>
          </a:prstGeom>
          <a:noFill/>
        </p:spPr>
        <p:txBody>
          <a:bodyPr wrap="square" lIns="0" rIns="0" tIns="0" bIns="0" anchor="ctr">
            <a:spAutoFit/>
          </a:bodyPr>
          <a:lstStyle/>
          <a:p>
            <a:pPr algn="l">
              <a:lnSpc>
                <a:spcPct val="118000"/>
              </a:lnSpc>
            </a:pPr>
            <a:r>
              <a:rPr sz="800" b="0" i="0">
                <a:solidFill>
                  <a:srgbClr val="24354F"/>
                </a:solidFill>
                <a:latin typeface="Calibri"/>
              </a:rPr>
              <a:t>immutable build versions behind active_version_id</a:t>
            </a:r>
          </a:p>
        </p:txBody>
      </p:sp>
      <p:sp>
        <p:nvSpPr>
          <p:cNvPr id="29" name="TextBox 28"/>
          <p:cNvSpPr txBox="1"/>
          <p:nvPr/>
        </p:nvSpPr>
        <p:spPr>
          <a:xfrm>
            <a:off x="4445000" y="2829814"/>
            <a:ext cx="1981200" cy="239776"/>
          </a:xfrm>
          <a:prstGeom prst="rect">
            <a:avLst/>
          </a:prstGeom>
          <a:noFill/>
        </p:spPr>
        <p:txBody>
          <a:bodyPr wrap="square" lIns="0" rIns="0" tIns="0" bIns="0" anchor="ctr">
            <a:spAutoFit/>
          </a:bodyPr>
          <a:lstStyle/>
          <a:p>
            <a:pPr algn="l">
              <a:lnSpc>
                <a:spcPct val="118000"/>
              </a:lnSpc>
            </a:pPr>
            <a:r>
              <a:rPr sz="800" b="1" i="0">
                <a:solidFill>
                  <a:srgbClr val="A93B2B"/>
                </a:solidFill>
                <a:latin typeface="Calibri"/>
              </a:rPr>
              <a:t>none</a:t>
            </a:r>
            <a:r>
              <a:rPr sz="800" b="0" i="0">
                <a:solidFill>
                  <a:srgbClr val="24354F"/>
                </a:solidFill>
                <a:latin typeface="Calibri"/>
              </a:rPr>
              <a:t>  prompt-style verdict</a:t>
            </a:r>
          </a:p>
        </p:txBody>
      </p:sp>
      <p:sp>
        <p:nvSpPr>
          <p:cNvPr id="30" name="TextBox 29"/>
          <p:cNvSpPr txBox="1"/>
          <p:nvPr/>
        </p:nvSpPr>
        <p:spPr>
          <a:xfrm>
            <a:off x="6629400" y="2829814"/>
            <a:ext cx="2463800" cy="239776"/>
          </a:xfrm>
          <a:prstGeom prst="rect">
            <a:avLst/>
          </a:prstGeom>
          <a:noFill/>
        </p:spPr>
        <p:txBody>
          <a:bodyPr wrap="square" lIns="0" rIns="0" tIns="0" bIns="0" anchor="ctr">
            <a:spAutoFit/>
          </a:bodyPr>
          <a:lstStyle/>
          <a:p>
            <a:pPr algn="l">
              <a:lnSpc>
                <a:spcPct val="118000"/>
              </a:lnSpc>
            </a:pPr>
            <a:r>
              <a:rPr sz="800" b="0" i="0">
                <a:solidFill>
                  <a:srgbClr val="24354F"/>
                </a:solidFill>
                <a:latin typeface="Calibri"/>
              </a:rPr>
              <a:t>audited activation; rollback derives the prior build from history</a:t>
            </a:r>
          </a:p>
        </p:txBody>
      </p:sp>
      <p:sp>
        <p:nvSpPr>
          <p:cNvPr id="31" name="TextBox 30"/>
          <p:cNvSpPr txBox="1"/>
          <p:nvPr/>
        </p:nvSpPr>
        <p:spPr>
          <a:xfrm>
            <a:off x="9296400" y="2829814"/>
            <a:ext cx="2146300" cy="239776"/>
          </a:xfrm>
          <a:prstGeom prst="rect">
            <a:avLst/>
          </a:prstGeom>
          <a:noFill/>
        </p:spPr>
        <p:txBody>
          <a:bodyPr wrap="square" lIns="0" rIns="0" tIns="0" bIns="0" anchor="ctr">
            <a:spAutoFit/>
          </a:bodyPr>
          <a:lstStyle/>
          <a:p>
            <a:pPr algn="l">
              <a:lnSpc>
                <a:spcPct val="118000"/>
              </a:lnSpc>
            </a:pPr>
            <a:r>
              <a:rPr sz="800" b="0" i="0">
                <a:solidFill>
                  <a:srgbClr val="24354F"/>
                </a:solidFill>
                <a:latin typeface="Calibri"/>
              </a:rPr>
              <a:t>retrieval-quality calibration</a:t>
            </a:r>
          </a:p>
        </p:txBody>
      </p:sp>
      <p:sp>
        <p:nvSpPr>
          <p:cNvPr id="32" name="Rectangle 31"/>
          <p:cNvSpPr/>
          <p:nvPr/>
        </p:nvSpPr>
        <p:spPr>
          <a:xfrm>
            <a:off x="635000" y="3145790"/>
            <a:ext cx="10909300" cy="392176"/>
          </a:xfrm>
          <a:prstGeom prst="rect">
            <a:avLst/>
          </a:prstGeom>
          <a:solidFill>
            <a:srgbClr val="F5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35000" y="3530345"/>
            <a:ext cx="10909300" cy="7620"/>
          </a:xfrm>
          <a:prstGeom prst="rect">
            <a:avLst/>
          </a:prstGeom>
          <a:solidFill>
            <a:srgbClr val="D5E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6600" y="3221990"/>
            <a:ext cx="1016000" cy="239776"/>
          </a:xfrm>
          <a:prstGeom prst="rect">
            <a:avLst/>
          </a:prstGeom>
          <a:noFill/>
        </p:spPr>
        <p:txBody>
          <a:bodyPr wrap="square" lIns="0" rIns="0" tIns="0" bIns="0" anchor="ctr">
            <a:spAutoFit/>
          </a:bodyPr>
          <a:lstStyle/>
          <a:p>
            <a:pPr algn="l">
              <a:lnSpc>
                <a:spcPct val="118000"/>
              </a:lnSpc>
            </a:pPr>
            <a:r>
              <a:rPr sz="800" b="0" i="0">
                <a:solidFill>
                  <a:srgbClr val="24354F"/>
                </a:solidFill>
                <a:latin typeface="Calibri"/>
              </a:rPr>
              <a:t>Skill</a:t>
            </a:r>
          </a:p>
        </p:txBody>
      </p:sp>
      <p:sp>
        <p:nvSpPr>
          <p:cNvPr id="35" name="TextBox 34"/>
          <p:cNvSpPr txBox="1"/>
          <p:nvPr/>
        </p:nvSpPr>
        <p:spPr>
          <a:xfrm>
            <a:off x="1955800" y="3221990"/>
            <a:ext cx="2286000" cy="239776"/>
          </a:xfrm>
          <a:prstGeom prst="rect">
            <a:avLst/>
          </a:prstGeom>
          <a:noFill/>
        </p:spPr>
        <p:txBody>
          <a:bodyPr wrap="square" lIns="0" rIns="0" tIns="0" bIns="0" anchor="ctr">
            <a:spAutoFit/>
          </a:bodyPr>
          <a:lstStyle/>
          <a:p>
            <a:pPr algn="l">
              <a:lnSpc>
                <a:spcPct val="118000"/>
              </a:lnSpc>
            </a:pPr>
            <a:r>
              <a:rPr sz="800" b="0" i="0">
                <a:solidFill>
                  <a:srgbClr val="24354F"/>
                </a:solidFill>
                <a:latin typeface="Calibri"/>
              </a:rPr>
              <a:t>a mutable current record plus immutable snapshots</a:t>
            </a:r>
          </a:p>
        </p:txBody>
      </p:sp>
      <p:sp>
        <p:nvSpPr>
          <p:cNvPr id="36" name="TextBox 35"/>
          <p:cNvSpPr txBox="1"/>
          <p:nvPr/>
        </p:nvSpPr>
        <p:spPr>
          <a:xfrm>
            <a:off x="4445000" y="3221990"/>
            <a:ext cx="1981200" cy="239776"/>
          </a:xfrm>
          <a:prstGeom prst="rect">
            <a:avLst/>
          </a:prstGeom>
          <a:noFill/>
        </p:spPr>
        <p:txBody>
          <a:bodyPr wrap="square" lIns="0" rIns="0" tIns="0" bIns="0" anchor="ctr">
            <a:spAutoFit/>
          </a:bodyPr>
          <a:lstStyle/>
          <a:p>
            <a:pPr algn="l">
              <a:lnSpc>
                <a:spcPct val="118000"/>
              </a:lnSpc>
            </a:pPr>
            <a:r>
              <a:rPr sz="800" b="1" i="0">
                <a:solidFill>
                  <a:srgbClr val="1F8A99"/>
                </a:solidFill>
                <a:latin typeface="Calibri"/>
              </a:rPr>
              <a:t>enforced</a:t>
            </a:r>
            <a:r>
              <a:rPr sz="800" b="0" i="0">
                <a:solidFill>
                  <a:srgbClr val="24354F"/>
                </a:solidFill>
                <a:latin typeface="Calibri"/>
              </a:rPr>
              <a:t>  advancement</a:t>
            </a:r>
            <a:br/>
            <a:r>
              <a:rPr sz="800" b="1" i="0">
                <a:solidFill>
                  <a:srgbClr val="A93B2B"/>
                </a:solidFill>
                <a:latin typeface="Calibri"/>
              </a:rPr>
              <a:t>none</a:t>
            </a:r>
            <a:r>
              <a:rPr sz="800" b="0" i="0">
                <a:solidFill>
                  <a:srgbClr val="24354F"/>
                </a:solidFill>
                <a:latin typeface="Calibri"/>
              </a:rPr>
              <a:t>  release gate</a:t>
            </a:r>
          </a:p>
        </p:txBody>
      </p:sp>
      <p:sp>
        <p:nvSpPr>
          <p:cNvPr id="37" name="TextBox 36"/>
          <p:cNvSpPr txBox="1"/>
          <p:nvPr/>
        </p:nvSpPr>
        <p:spPr>
          <a:xfrm>
            <a:off x="6629400" y="3221990"/>
            <a:ext cx="2463800" cy="239776"/>
          </a:xfrm>
          <a:prstGeom prst="rect">
            <a:avLst/>
          </a:prstGeom>
          <a:noFill/>
        </p:spPr>
        <p:txBody>
          <a:bodyPr wrap="square" lIns="0" rIns="0" tIns="0" bIns="0" anchor="ctr">
            <a:spAutoFit/>
          </a:bodyPr>
          <a:lstStyle/>
          <a:p>
            <a:pPr algn="l">
              <a:lnSpc>
                <a:spcPct val="118000"/>
              </a:lnSpc>
            </a:pPr>
            <a:r>
              <a:rPr sz="800" b="0" i="0">
                <a:solidFill>
                  <a:srgbClr val="24354F"/>
                </a:solidFill>
                <a:latin typeface="Calibri"/>
              </a:rPr>
              <a:t>rollback restores the prior snapshot as a new version</a:t>
            </a:r>
          </a:p>
        </p:txBody>
      </p:sp>
      <p:sp>
        <p:nvSpPr>
          <p:cNvPr id="38" name="TextBox 37"/>
          <p:cNvSpPr txBox="1"/>
          <p:nvPr/>
        </p:nvSpPr>
        <p:spPr>
          <a:xfrm>
            <a:off x="9296400" y="3221990"/>
            <a:ext cx="2146300" cy="239776"/>
          </a:xfrm>
          <a:prstGeom prst="rect">
            <a:avLst/>
          </a:prstGeom>
          <a:noFill/>
        </p:spPr>
        <p:txBody>
          <a:bodyPr wrap="square" lIns="0" rIns="0" tIns="0" bIns="0" anchor="ctr">
            <a:spAutoFit/>
          </a:bodyPr>
          <a:lstStyle/>
          <a:p>
            <a:pPr algn="l">
              <a:lnSpc>
                <a:spcPct val="118000"/>
              </a:lnSpc>
            </a:pPr>
            <a:r>
              <a:rPr sz="800" b="0" i="0">
                <a:solidFill>
                  <a:srgbClr val="24354F"/>
                </a:solidFill>
                <a:latin typeface="Calibri"/>
              </a:rPr>
              <a:t>agent-free optimizer path</a:t>
            </a:r>
          </a:p>
        </p:txBody>
      </p:sp>
      <p:sp>
        <p:nvSpPr>
          <p:cNvPr id="39" name="Rectangle 38"/>
          <p:cNvSpPr/>
          <p:nvPr/>
        </p:nvSpPr>
        <p:spPr>
          <a:xfrm>
            <a:off x="635000" y="3922521"/>
            <a:ext cx="10909300" cy="7620"/>
          </a:xfrm>
          <a:prstGeom prst="rect">
            <a:avLst/>
          </a:prstGeom>
          <a:solidFill>
            <a:srgbClr val="D5E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6600" y="3614166"/>
            <a:ext cx="1016000" cy="239776"/>
          </a:xfrm>
          <a:prstGeom prst="rect">
            <a:avLst/>
          </a:prstGeom>
          <a:noFill/>
        </p:spPr>
        <p:txBody>
          <a:bodyPr wrap="square" lIns="0" rIns="0" tIns="0" bIns="0" anchor="ctr">
            <a:spAutoFit/>
          </a:bodyPr>
          <a:lstStyle/>
          <a:p>
            <a:pPr algn="l">
              <a:lnSpc>
                <a:spcPct val="118000"/>
              </a:lnSpc>
            </a:pPr>
            <a:r>
              <a:rPr sz="800" b="0" i="0">
                <a:solidFill>
                  <a:srgbClr val="24354F"/>
                </a:solidFill>
                <a:latin typeface="Calibri"/>
              </a:rPr>
              <a:t>Tool</a:t>
            </a:r>
          </a:p>
        </p:txBody>
      </p:sp>
      <p:sp>
        <p:nvSpPr>
          <p:cNvPr id="41" name="TextBox 40"/>
          <p:cNvSpPr txBox="1"/>
          <p:nvPr/>
        </p:nvSpPr>
        <p:spPr>
          <a:xfrm>
            <a:off x="1955800" y="3614166"/>
            <a:ext cx="2286000" cy="239776"/>
          </a:xfrm>
          <a:prstGeom prst="rect">
            <a:avLst/>
          </a:prstGeom>
          <a:noFill/>
        </p:spPr>
        <p:txBody>
          <a:bodyPr wrap="square" lIns="0" rIns="0" tIns="0" bIns="0" anchor="ctr">
            <a:spAutoFit/>
          </a:bodyPr>
          <a:lstStyle/>
          <a:p>
            <a:pPr algn="l">
              <a:lnSpc>
                <a:spcPct val="118000"/>
              </a:lnSpc>
            </a:pPr>
            <a:r>
              <a:rPr sz="800" b="0" i="0">
                <a:solidFill>
                  <a:srgbClr val="24354F"/>
                </a:solidFill>
                <a:latin typeface="Calibri"/>
              </a:rPr>
              <a:t>separate (name, version) rows with a lifecycle status</a:t>
            </a:r>
          </a:p>
        </p:txBody>
      </p:sp>
      <p:sp>
        <p:nvSpPr>
          <p:cNvPr id="42" name="TextBox 41"/>
          <p:cNvSpPr txBox="1"/>
          <p:nvPr/>
        </p:nvSpPr>
        <p:spPr>
          <a:xfrm>
            <a:off x="4445000" y="3614166"/>
            <a:ext cx="1981200" cy="239776"/>
          </a:xfrm>
          <a:prstGeom prst="rect">
            <a:avLst/>
          </a:prstGeom>
          <a:noFill/>
        </p:spPr>
        <p:txBody>
          <a:bodyPr wrap="square" lIns="0" rIns="0" tIns="0" bIns="0" anchor="ctr">
            <a:spAutoFit/>
          </a:bodyPr>
          <a:lstStyle/>
          <a:p>
            <a:pPr algn="l">
              <a:lnSpc>
                <a:spcPct val="118000"/>
              </a:lnSpc>
            </a:pPr>
            <a:r>
              <a:rPr sz="800" b="1" i="0">
                <a:solidFill>
                  <a:srgbClr val="A93B2B"/>
                </a:solidFill>
                <a:latin typeface="Calibri"/>
              </a:rPr>
              <a:t>none</a:t>
            </a:r>
          </a:p>
        </p:txBody>
      </p:sp>
      <p:sp>
        <p:nvSpPr>
          <p:cNvPr id="43" name="TextBox 42"/>
          <p:cNvSpPr txBox="1"/>
          <p:nvPr/>
        </p:nvSpPr>
        <p:spPr>
          <a:xfrm>
            <a:off x="6629400" y="3614166"/>
            <a:ext cx="2463800" cy="239776"/>
          </a:xfrm>
          <a:prstGeom prst="rect">
            <a:avLst/>
          </a:prstGeom>
          <a:noFill/>
        </p:spPr>
        <p:txBody>
          <a:bodyPr wrap="square" lIns="0" rIns="0" tIns="0" bIns="0" anchor="ctr">
            <a:spAutoFit/>
          </a:bodyPr>
          <a:lstStyle/>
          <a:p>
            <a:pPr algn="l">
              <a:lnSpc>
                <a:spcPct val="118000"/>
              </a:lnSpc>
            </a:pPr>
            <a:r>
              <a:rPr sz="800" b="0" i="0">
                <a:solidFill>
                  <a:srgbClr val="24354F"/>
                </a:solidFill>
                <a:latin typeface="Calibri"/>
              </a:rPr>
              <a:t>read-only history; no live alias</a:t>
            </a:r>
          </a:p>
        </p:txBody>
      </p:sp>
      <p:sp>
        <p:nvSpPr>
          <p:cNvPr id="44" name="TextBox 43"/>
          <p:cNvSpPr txBox="1"/>
          <p:nvPr/>
        </p:nvSpPr>
        <p:spPr>
          <a:xfrm>
            <a:off x="9296400" y="3614166"/>
            <a:ext cx="2146300" cy="239776"/>
          </a:xfrm>
          <a:prstGeom prst="rect">
            <a:avLst/>
          </a:prstGeom>
          <a:noFill/>
        </p:spPr>
        <p:txBody>
          <a:bodyPr wrap="square" lIns="0" rIns="0" tIns="0" bIns="0" anchor="ctr">
            <a:spAutoFit/>
          </a:bodyPr>
          <a:lstStyle/>
          <a:p>
            <a:pPr algn="l">
              <a:lnSpc>
                <a:spcPct val="118000"/>
              </a:lnSpc>
            </a:pPr>
            <a:r>
              <a:rPr sz="800" b="0" i="0">
                <a:solidFill>
                  <a:srgbClr val="24354F"/>
                </a:solidFill>
                <a:latin typeface="Calibri"/>
              </a:rPr>
              <a:t>revision-fenced deterministic suites</a:t>
            </a:r>
          </a:p>
        </p:txBody>
      </p:sp>
      <p:sp>
        <p:nvSpPr>
          <p:cNvPr id="45" name="Rectangle 44"/>
          <p:cNvSpPr/>
          <p:nvPr/>
        </p:nvSpPr>
        <p:spPr>
          <a:xfrm>
            <a:off x="635000" y="3930141"/>
            <a:ext cx="10909300" cy="392176"/>
          </a:xfrm>
          <a:prstGeom prst="rect">
            <a:avLst/>
          </a:prstGeom>
          <a:solidFill>
            <a:srgbClr val="F5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35000" y="4314697"/>
            <a:ext cx="10909300" cy="7620"/>
          </a:xfrm>
          <a:prstGeom prst="rect">
            <a:avLst/>
          </a:prstGeom>
          <a:solidFill>
            <a:srgbClr val="D5E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36600" y="4006341"/>
            <a:ext cx="1016000" cy="239776"/>
          </a:xfrm>
          <a:prstGeom prst="rect">
            <a:avLst/>
          </a:prstGeom>
          <a:noFill/>
        </p:spPr>
        <p:txBody>
          <a:bodyPr wrap="square" lIns="0" rIns="0" tIns="0" bIns="0" anchor="ctr">
            <a:spAutoFit/>
          </a:bodyPr>
          <a:lstStyle/>
          <a:p>
            <a:pPr algn="l">
              <a:lnSpc>
                <a:spcPct val="118000"/>
              </a:lnSpc>
            </a:pPr>
            <a:r>
              <a:rPr sz="800" b="0" i="0">
                <a:solidFill>
                  <a:srgbClr val="24354F"/>
                </a:solidFill>
                <a:latin typeface="Calibri"/>
              </a:rPr>
              <a:t>Test set</a:t>
            </a:r>
          </a:p>
        </p:txBody>
      </p:sp>
      <p:sp>
        <p:nvSpPr>
          <p:cNvPr id="48" name="TextBox 47"/>
          <p:cNvSpPr txBox="1"/>
          <p:nvPr/>
        </p:nvSpPr>
        <p:spPr>
          <a:xfrm>
            <a:off x="1955800" y="4006341"/>
            <a:ext cx="2286000" cy="239776"/>
          </a:xfrm>
          <a:prstGeom prst="rect">
            <a:avLst/>
          </a:prstGeom>
          <a:noFill/>
        </p:spPr>
        <p:txBody>
          <a:bodyPr wrap="square" lIns="0" rIns="0" tIns="0" bIns="0" anchor="ctr">
            <a:spAutoFit/>
          </a:bodyPr>
          <a:lstStyle/>
          <a:p>
            <a:pPr algn="l">
              <a:lnSpc>
                <a:spcPct val="118000"/>
              </a:lnSpc>
            </a:pPr>
            <a:r>
              <a:rPr sz="800" b="0" i="0">
                <a:solidFill>
                  <a:srgbClr val="24354F"/>
                </a:solidFill>
                <a:latin typeface="Calibri"/>
              </a:rPr>
              <a:t>a version counter plus per-example validity intervals</a:t>
            </a:r>
          </a:p>
        </p:txBody>
      </p:sp>
      <p:sp>
        <p:nvSpPr>
          <p:cNvPr id="49" name="TextBox 48"/>
          <p:cNvSpPr txBox="1"/>
          <p:nvPr/>
        </p:nvSpPr>
        <p:spPr>
          <a:xfrm>
            <a:off x="4445000" y="4006341"/>
            <a:ext cx="1981200" cy="239776"/>
          </a:xfrm>
          <a:prstGeom prst="rect">
            <a:avLst/>
          </a:prstGeom>
          <a:noFill/>
        </p:spPr>
        <p:txBody>
          <a:bodyPr wrap="square" lIns="0" rIns="0" tIns="0" bIns="0" anchor="ctr">
            <a:spAutoFit/>
          </a:bodyPr>
          <a:lstStyle/>
          <a:p>
            <a:pPr algn="l">
              <a:lnSpc>
                <a:spcPct val="118000"/>
              </a:lnSpc>
            </a:pPr>
            <a:r>
              <a:rPr sz="800" b="1" i="0">
                <a:solidFill>
                  <a:srgbClr val="5A6B84"/>
                </a:solidFill>
                <a:latin typeface="Calibri"/>
              </a:rPr>
              <a:t>n/a</a:t>
            </a:r>
            <a:r>
              <a:rPr sz="800" b="0" i="0">
                <a:solidFill>
                  <a:srgbClr val="24354F"/>
                </a:solidFill>
                <a:latin typeface="Calibri"/>
              </a:rPr>
              <a:t>  it is the evidence</a:t>
            </a:r>
          </a:p>
        </p:txBody>
      </p:sp>
      <p:sp>
        <p:nvSpPr>
          <p:cNvPr id="50" name="TextBox 49"/>
          <p:cNvSpPr txBox="1"/>
          <p:nvPr/>
        </p:nvSpPr>
        <p:spPr>
          <a:xfrm>
            <a:off x="6629400" y="4006341"/>
            <a:ext cx="2463800" cy="239776"/>
          </a:xfrm>
          <a:prstGeom prst="rect">
            <a:avLst/>
          </a:prstGeom>
          <a:noFill/>
        </p:spPr>
        <p:txBody>
          <a:bodyPr wrap="square" lIns="0" rIns="0" tIns="0" bIns="0" anchor="ctr">
            <a:spAutoFit/>
          </a:bodyPr>
          <a:lstStyle/>
          <a:p>
            <a:pPr algn="l">
              <a:lnSpc>
                <a:spcPct val="118000"/>
              </a:lnSpc>
            </a:pPr>
            <a:r>
              <a:rPr sz="800" b="1" i="0">
                <a:solidFill>
                  <a:srgbClr val="A93B2B"/>
                </a:solidFill>
                <a:latin typeface="Calibri"/>
              </a:rPr>
              <a:t>none</a:t>
            </a:r>
            <a:r>
              <a:rPr sz="800" b="0" i="0">
                <a:solidFill>
                  <a:srgbClr val="24354F"/>
                </a:solidFill>
                <a:latin typeface="Calibri"/>
              </a:rPr>
              <a:t>  no live alias or rollback</a:t>
            </a:r>
          </a:p>
        </p:txBody>
      </p:sp>
      <p:sp>
        <p:nvSpPr>
          <p:cNvPr id="51" name="TextBox 50"/>
          <p:cNvSpPr txBox="1"/>
          <p:nvPr/>
        </p:nvSpPr>
        <p:spPr>
          <a:xfrm>
            <a:off x="9296400" y="4006341"/>
            <a:ext cx="2146300" cy="239776"/>
          </a:xfrm>
          <a:prstGeom prst="rect">
            <a:avLst/>
          </a:prstGeom>
          <a:noFill/>
        </p:spPr>
        <p:txBody>
          <a:bodyPr wrap="square" lIns="0" rIns="0" tIns="0" bIns="0" anchor="ctr">
            <a:spAutoFit/>
          </a:bodyPr>
          <a:lstStyle/>
          <a:p>
            <a:pPr algn="l">
              <a:lnSpc>
                <a:spcPct val="118000"/>
              </a:lnSpc>
            </a:pPr>
            <a:r>
              <a:rPr sz="800" b="1" i="0">
                <a:solidFill>
                  <a:srgbClr val="5A6B84"/>
                </a:solidFill>
                <a:latin typeface="Calibri"/>
              </a:rPr>
              <a:t>n/a</a:t>
            </a:r>
          </a:p>
        </p:txBody>
      </p:sp>
      <p:sp>
        <p:nvSpPr>
          <p:cNvPr id="52" name="Rectangle 51"/>
          <p:cNvSpPr/>
          <p:nvPr/>
        </p:nvSpPr>
        <p:spPr>
          <a:xfrm>
            <a:off x="635000" y="4706873"/>
            <a:ext cx="10909300" cy="7620"/>
          </a:xfrm>
          <a:prstGeom prst="rect">
            <a:avLst/>
          </a:prstGeom>
          <a:solidFill>
            <a:srgbClr val="D5E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36600" y="4398518"/>
            <a:ext cx="1016000" cy="239776"/>
          </a:xfrm>
          <a:prstGeom prst="rect">
            <a:avLst/>
          </a:prstGeom>
          <a:noFill/>
        </p:spPr>
        <p:txBody>
          <a:bodyPr wrap="square" lIns="0" rIns="0" tIns="0" bIns="0" anchor="ctr">
            <a:spAutoFit/>
          </a:bodyPr>
          <a:lstStyle/>
          <a:p>
            <a:pPr algn="l">
              <a:lnSpc>
                <a:spcPct val="118000"/>
              </a:lnSpc>
            </a:pPr>
            <a:r>
              <a:rPr sz="800" b="0" i="0">
                <a:solidFill>
                  <a:srgbClr val="24354F"/>
                </a:solidFill>
                <a:latin typeface="Calibri"/>
              </a:rPr>
              <a:t>MCP server</a:t>
            </a:r>
          </a:p>
        </p:txBody>
      </p:sp>
      <p:sp>
        <p:nvSpPr>
          <p:cNvPr id="54" name="TextBox 53"/>
          <p:cNvSpPr txBox="1"/>
          <p:nvPr/>
        </p:nvSpPr>
        <p:spPr>
          <a:xfrm>
            <a:off x="1955800" y="4398518"/>
            <a:ext cx="2286000" cy="239776"/>
          </a:xfrm>
          <a:prstGeom prst="rect">
            <a:avLst/>
          </a:prstGeom>
          <a:noFill/>
        </p:spPr>
        <p:txBody>
          <a:bodyPr wrap="square" lIns="0" rIns="0" tIns="0" bIns="0" anchor="ctr">
            <a:spAutoFit/>
          </a:bodyPr>
          <a:lstStyle/>
          <a:p>
            <a:pPr algn="l">
              <a:lnSpc>
                <a:spcPct val="118000"/>
              </a:lnSpc>
            </a:pPr>
            <a:r>
              <a:rPr sz="800" b="0" i="0">
                <a:solidFill>
                  <a:srgbClr val="24354F"/>
                </a:solidFill>
                <a:latin typeface="Calibri"/>
              </a:rPr>
              <a:t>mutable managed definitions with audited edit history</a:t>
            </a:r>
          </a:p>
        </p:txBody>
      </p:sp>
      <p:sp>
        <p:nvSpPr>
          <p:cNvPr id="55" name="TextBox 54"/>
          <p:cNvSpPr txBox="1"/>
          <p:nvPr/>
        </p:nvSpPr>
        <p:spPr>
          <a:xfrm>
            <a:off x="4445000" y="4398518"/>
            <a:ext cx="1981200" cy="239776"/>
          </a:xfrm>
          <a:prstGeom prst="rect">
            <a:avLst/>
          </a:prstGeom>
          <a:noFill/>
        </p:spPr>
        <p:txBody>
          <a:bodyPr wrap="square" lIns="0" rIns="0" tIns="0" bIns="0" anchor="ctr">
            <a:spAutoFit/>
          </a:bodyPr>
          <a:lstStyle/>
          <a:p>
            <a:pPr algn="l">
              <a:lnSpc>
                <a:spcPct val="118000"/>
              </a:lnSpc>
            </a:pPr>
            <a:r>
              <a:rPr sz="800" b="0" i="0">
                <a:solidFill>
                  <a:srgbClr val="24354F"/>
                </a:solidFill>
                <a:latin typeface="Calibri"/>
              </a:rPr>
              <a:t>production workflow preflight</a:t>
            </a:r>
          </a:p>
        </p:txBody>
      </p:sp>
      <p:sp>
        <p:nvSpPr>
          <p:cNvPr id="56" name="TextBox 55"/>
          <p:cNvSpPr txBox="1"/>
          <p:nvPr/>
        </p:nvSpPr>
        <p:spPr>
          <a:xfrm>
            <a:off x="6629400" y="4398518"/>
            <a:ext cx="2463800" cy="239776"/>
          </a:xfrm>
          <a:prstGeom prst="rect">
            <a:avLst/>
          </a:prstGeom>
          <a:noFill/>
        </p:spPr>
        <p:txBody>
          <a:bodyPr wrap="square" lIns="0" rIns="0" tIns="0" bIns="0" anchor="ctr">
            <a:spAutoFit/>
          </a:bodyPr>
          <a:lstStyle/>
          <a:p>
            <a:pPr algn="l">
              <a:lnSpc>
                <a:spcPct val="118000"/>
              </a:lnSpc>
            </a:pPr>
            <a:r>
              <a:rPr sz="800" b="1" i="0">
                <a:solidFill>
                  <a:srgbClr val="A93B2B"/>
                </a:solidFill>
                <a:latin typeface="Calibri"/>
              </a:rPr>
              <a:t>none</a:t>
            </a:r>
            <a:r>
              <a:rPr sz="800" b="0" i="0">
                <a:solidFill>
                  <a:srgbClr val="24354F"/>
                </a:solidFill>
                <a:latin typeface="Calibri"/>
              </a:rPr>
              <a:t>  no version rollback; connection and policy controls are fail-closed</a:t>
            </a:r>
          </a:p>
        </p:txBody>
      </p:sp>
      <p:sp>
        <p:nvSpPr>
          <p:cNvPr id="57" name="TextBox 56"/>
          <p:cNvSpPr txBox="1"/>
          <p:nvPr/>
        </p:nvSpPr>
        <p:spPr>
          <a:xfrm>
            <a:off x="9296400" y="4398518"/>
            <a:ext cx="2146300" cy="239776"/>
          </a:xfrm>
          <a:prstGeom prst="rect">
            <a:avLst/>
          </a:prstGeom>
          <a:noFill/>
        </p:spPr>
        <p:txBody>
          <a:bodyPr wrap="square" lIns="0" rIns="0" tIns="0" bIns="0" anchor="ctr">
            <a:spAutoFit/>
          </a:bodyPr>
          <a:lstStyle/>
          <a:p>
            <a:pPr algn="l">
              <a:lnSpc>
                <a:spcPct val="118000"/>
              </a:lnSpc>
            </a:pPr>
            <a:r>
              <a:rPr sz="800" b="0" i="0">
                <a:solidFill>
                  <a:srgbClr val="24354F"/>
                </a:solidFill>
                <a:latin typeface="Calibri"/>
              </a:rPr>
              <a:t>connection and policy tests</a:t>
            </a:r>
          </a:p>
        </p:txBody>
      </p:sp>
      <p:sp>
        <p:nvSpPr>
          <p:cNvPr id="58" name="Rectangle 57"/>
          <p:cNvSpPr/>
          <p:nvPr/>
        </p:nvSpPr>
        <p:spPr>
          <a:xfrm>
            <a:off x="635000" y="4714494"/>
            <a:ext cx="10909300" cy="392176"/>
          </a:xfrm>
          <a:prstGeom prst="rect">
            <a:avLst/>
          </a:prstGeom>
          <a:solidFill>
            <a:srgbClr val="F5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635000" y="5099049"/>
            <a:ext cx="10909300" cy="7620"/>
          </a:xfrm>
          <a:prstGeom prst="rect">
            <a:avLst/>
          </a:prstGeom>
          <a:solidFill>
            <a:srgbClr val="D5E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36600" y="4790694"/>
            <a:ext cx="1016000" cy="239776"/>
          </a:xfrm>
          <a:prstGeom prst="rect">
            <a:avLst/>
          </a:prstGeom>
          <a:noFill/>
        </p:spPr>
        <p:txBody>
          <a:bodyPr wrap="square" lIns="0" rIns="0" tIns="0" bIns="0" anchor="ctr">
            <a:spAutoFit/>
          </a:bodyPr>
          <a:lstStyle/>
          <a:p>
            <a:pPr algn="l">
              <a:lnSpc>
                <a:spcPct val="118000"/>
              </a:lnSpc>
            </a:pPr>
            <a:r>
              <a:rPr sz="800" b="0" i="0">
                <a:solidFill>
                  <a:srgbClr val="24354F"/>
                </a:solidFill>
                <a:latin typeface="Calibri"/>
              </a:rPr>
              <a:t>Judge</a:t>
            </a:r>
          </a:p>
        </p:txBody>
      </p:sp>
      <p:sp>
        <p:nvSpPr>
          <p:cNvPr id="61" name="TextBox 60"/>
          <p:cNvSpPr txBox="1"/>
          <p:nvPr/>
        </p:nvSpPr>
        <p:spPr>
          <a:xfrm>
            <a:off x="1955800" y="4790694"/>
            <a:ext cx="2286000" cy="239776"/>
          </a:xfrm>
          <a:prstGeom prst="rect">
            <a:avLst/>
          </a:prstGeom>
          <a:noFill/>
        </p:spPr>
        <p:txBody>
          <a:bodyPr wrap="square" lIns="0" rIns="0" tIns="0" bIns="0" anchor="ctr">
            <a:spAutoFit/>
          </a:bodyPr>
          <a:lstStyle/>
          <a:p>
            <a:pPr algn="l">
              <a:lnSpc>
                <a:spcPct val="118000"/>
              </a:lnSpc>
            </a:pPr>
            <a:r>
              <a:rPr sz="800" b="0" i="0">
                <a:solidFill>
                  <a:srgbClr val="24354F"/>
                </a:solidFill>
                <a:latin typeface="Calibri"/>
              </a:rPr>
              <a:t>operator-authored, reusable by a Judge.&lt;id&gt; token</a:t>
            </a:r>
          </a:p>
        </p:txBody>
      </p:sp>
      <p:sp>
        <p:nvSpPr>
          <p:cNvPr id="62" name="TextBox 61"/>
          <p:cNvSpPr txBox="1"/>
          <p:nvPr/>
        </p:nvSpPr>
        <p:spPr>
          <a:xfrm>
            <a:off x="4445000" y="4790694"/>
            <a:ext cx="1981200" cy="239776"/>
          </a:xfrm>
          <a:prstGeom prst="rect">
            <a:avLst/>
          </a:prstGeom>
          <a:noFill/>
        </p:spPr>
        <p:txBody>
          <a:bodyPr wrap="square" lIns="0" rIns="0" tIns="0" bIns="0" anchor="ctr">
            <a:spAutoFit/>
          </a:bodyPr>
          <a:lstStyle/>
          <a:p>
            <a:pPr algn="l">
              <a:lnSpc>
                <a:spcPct val="118000"/>
              </a:lnSpc>
            </a:pPr>
            <a:r>
              <a:rPr sz="800" b="1" i="0">
                <a:solidFill>
                  <a:srgbClr val="5A6B84"/>
                </a:solidFill>
                <a:latin typeface="Calibri"/>
              </a:rPr>
              <a:t>n/a</a:t>
            </a:r>
            <a:r>
              <a:rPr sz="800" b="0" i="0">
                <a:solidFill>
                  <a:srgbClr val="24354F"/>
                </a:solidFill>
                <a:latin typeface="Calibri"/>
              </a:rPr>
              <a:t>  it is a scorer</a:t>
            </a:r>
          </a:p>
        </p:txBody>
      </p:sp>
      <p:sp>
        <p:nvSpPr>
          <p:cNvPr id="63" name="TextBox 62"/>
          <p:cNvSpPr txBox="1"/>
          <p:nvPr/>
        </p:nvSpPr>
        <p:spPr>
          <a:xfrm>
            <a:off x="6629400" y="4790694"/>
            <a:ext cx="2463800" cy="239776"/>
          </a:xfrm>
          <a:prstGeom prst="rect">
            <a:avLst/>
          </a:prstGeom>
          <a:noFill/>
        </p:spPr>
        <p:txBody>
          <a:bodyPr wrap="square" lIns="0" rIns="0" tIns="0" bIns="0" anchor="ctr">
            <a:spAutoFit/>
          </a:bodyPr>
          <a:lstStyle/>
          <a:p>
            <a:pPr algn="l">
              <a:lnSpc>
                <a:spcPct val="118000"/>
              </a:lnSpc>
            </a:pPr>
            <a:r>
              <a:rPr sz="800" b="1" i="0">
                <a:solidFill>
                  <a:srgbClr val="5A6B84"/>
                </a:solidFill>
                <a:latin typeface="Calibri"/>
              </a:rPr>
              <a:t>n/a</a:t>
            </a:r>
          </a:p>
        </p:txBody>
      </p:sp>
      <p:sp>
        <p:nvSpPr>
          <p:cNvPr id="64" name="TextBox 63"/>
          <p:cNvSpPr txBox="1"/>
          <p:nvPr/>
        </p:nvSpPr>
        <p:spPr>
          <a:xfrm>
            <a:off x="9296400" y="4790694"/>
            <a:ext cx="2146300" cy="239776"/>
          </a:xfrm>
          <a:prstGeom prst="rect">
            <a:avLst/>
          </a:prstGeom>
          <a:noFill/>
        </p:spPr>
        <p:txBody>
          <a:bodyPr wrap="square" lIns="0" rIns="0" tIns="0" bIns="0" anchor="ctr">
            <a:spAutoFit/>
          </a:bodyPr>
          <a:lstStyle/>
          <a:p>
            <a:pPr algn="l">
              <a:lnSpc>
                <a:spcPct val="118000"/>
              </a:lnSpc>
            </a:pPr>
            <a:r>
              <a:rPr sz="800" b="0" i="0">
                <a:solidFill>
                  <a:srgbClr val="24354F"/>
                </a:solidFill>
                <a:latin typeface="Calibri"/>
              </a:rPr>
              <a:t>human-alignment agreement (κ)</a:t>
            </a:r>
          </a:p>
        </p:txBody>
      </p:sp>
      <p:sp>
        <p:nvSpPr>
          <p:cNvPr id="65" name="Rectangle 64"/>
          <p:cNvSpPr/>
          <p:nvPr/>
        </p:nvSpPr>
        <p:spPr>
          <a:xfrm>
            <a:off x="635000" y="5491225"/>
            <a:ext cx="10909300" cy="7620"/>
          </a:xfrm>
          <a:prstGeom prst="rect">
            <a:avLst/>
          </a:prstGeom>
          <a:solidFill>
            <a:srgbClr val="D5E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36600" y="5182870"/>
            <a:ext cx="1016000" cy="239776"/>
          </a:xfrm>
          <a:prstGeom prst="rect">
            <a:avLst/>
          </a:prstGeom>
          <a:noFill/>
        </p:spPr>
        <p:txBody>
          <a:bodyPr wrap="square" lIns="0" rIns="0" tIns="0" bIns="0" anchor="ctr">
            <a:spAutoFit/>
          </a:bodyPr>
          <a:lstStyle/>
          <a:p>
            <a:pPr algn="l">
              <a:lnSpc>
                <a:spcPct val="118000"/>
              </a:lnSpc>
            </a:pPr>
            <a:r>
              <a:rPr sz="800" b="0" i="0">
                <a:solidFill>
                  <a:srgbClr val="24354F"/>
                </a:solidFill>
                <a:latin typeface="Calibri"/>
              </a:rPr>
              <a:t>Agent</a:t>
            </a:r>
          </a:p>
        </p:txBody>
      </p:sp>
      <p:sp>
        <p:nvSpPr>
          <p:cNvPr id="67" name="TextBox 66"/>
          <p:cNvSpPr txBox="1"/>
          <p:nvPr/>
        </p:nvSpPr>
        <p:spPr>
          <a:xfrm>
            <a:off x="1955800" y="5182870"/>
            <a:ext cx="2286000" cy="239776"/>
          </a:xfrm>
          <a:prstGeom prst="rect">
            <a:avLst/>
          </a:prstGeom>
          <a:noFill/>
        </p:spPr>
        <p:txBody>
          <a:bodyPr wrap="square" lIns="0" rIns="0" tIns="0" bIns="0" anchor="ctr">
            <a:spAutoFit/>
          </a:bodyPr>
          <a:lstStyle/>
          <a:p>
            <a:pPr algn="l">
              <a:lnSpc>
                <a:spcPct val="118000"/>
              </a:lnSpc>
            </a:pPr>
            <a:r>
              <a:rPr sz="800" b="0" i="0">
                <a:solidFill>
                  <a:srgbClr val="24354F"/>
                </a:solidFill>
                <a:latin typeface="Calibri"/>
              </a:rPr>
              <a:t>the anchor record that items, jobs and approvals attach to</a:t>
            </a:r>
          </a:p>
        </p:txBody>
      </p:sp>
      <p:sp>
        <p:nvSpPr>
          <p:cNvPr id="68" name="TextBox 67"/>
          <p:cNvSpPr txBox="1"/>
          <p:nvPr/>
        </p:nvSpPr>
        <p:spPr>
          <a:xfrm>
            <a:off x="4445000" y="5182870"/>
            <a:ext cx="1981200" cy="239776"/>
          </a:xfrm>
          <a:prstGeom prst="rect">
            <a:avLst/>
          </a:prstGeom>
          <a:noFill/>
        </p:spPr>
        <p:txBody>
          <a:bodyPr wrap="square" lIns="0" rIns="0" tIns="0" bIns="0" anchor="ctr">
            <a:spAutoFit/>
          </a:bodyPr>
          <a:lstStyle/>
          <a:p>
            <a:pPr algn="l">
              <a:lnSpc>
                <a:spcPct val="118000"/>
              </a:lnSpc>
            </a:pPr>
            <a:r>
              <a:rPr sz="800" b="1" i="0">
                <a:solidFill>
                  <a:srgbClr val="5A6B84"/>
                </a:solidFill>
                <a:latin typeface="Calibri"/>
              </a:rPr>
              <a:t>n/a</a:t>
            </a:r>
          </a:p>
        </p:txBody>
      </p:sp>
      <p:sp>
        <p:nvSpPr>
          <p:cNvPr id="69" name="TextBox 68"/>
          <p:cNvSpPr txBox="1"/>
          <p:nvPr/>
        </p:nvSpPr>
        <p:spPr>
          <a:xfrm>
            <a:off x="6629400" y="5182870"/>
            <a:ext cx="2463800" cy="239776"/>
          </a:xfrm>
          <a:prstGeom prst="rect">
            <a:avLst/>
          </a:prstGeom>
          <a:noFill/>
        </p:spPr>
        <p:txBody>
          <a:bodyPr wrap="square" lIns="0" rIns="0" tIns="0" bIns="0" anchor="ctr">
            <a:spAutoFit/>
          </a:bodyPr>
          <a:lstStyle/>
          <a:p>
            <a:pPr algn="l">
              <a:lnSpc>
                <a:spcPct val="118000"/>
              </a:lnSpc>
            </a:pPr>
            <a:r>
              <a:rPr sz="800" b="0" i="0">
                <a:solidFill>
                  <a:srgbClr val="24354F"/>
                </a:solidFill>
                <a:latin typeface="Calibri"/>
              </a:rPr>
              <a:t>enabled is the pause/resume lever the workers read</a:t>
            </a:r>
          </a:p>
        </p:txBody>
      </p:sp>
      <p:sp>
        <p:nvSpPr>
          <p:cNvPr id="70" name="TextBox 69"/>
          <p:cNvSpPr txBox="1"/>
          <p:nvPr/>
        </p:nvSpPr>
        <p:spPr>
          <a:xfrm>
            <a:off x="9296400" y="5182870"/>
            <a:ext cx="2146300" cy="239776"/>
          </a:xfrm>
          <a:prstGeom prst="rect">
            <a:avLst/>
          </a:prstGeom>
          <a:noFill/>
        </p:spPr>
        <p:txBody>
          <a:bodyPr wrap="square" lIns="0" rIns="0" tIns="0" bIns="0" anchor="ctr">
            <a:spAutoFit/>
          </a:bodyPr>
          <a:lstStyle/>
          <a:p>
            <a:pPr algn="l">
              <a:lnSpc>
                <a:spcPct val="118000"/>
              </a:lnSpc>
            </a:pPr>
            <a:r>
              <a:rPr sz="800" b="1" i="0">
                <a:solidFill>
                  <a:srgbClr val="5A6B84"/>
                </a:solidFill>
                <a:latin typeface="Calibri"/>
              </a:rPr>
              <a:t>n/a</a:t>
            </a:r>
          </a:p>
        </p:txBody>
      </p:sp>
      <p:sp>
        <p:nvSpPr>
          <p:cNvPr id="71" name="TextBox 70"/>
          <p:cNvSpPr txBox="1"/>
          <p:nvPr/>
        </p:nvSpPr>
        <p:spPr>
          <a:xfrm>
            <a:off x="635000" y="5676645"/>
            <a:ext cx="10909300" cy="508000"/>
          </a:xfrm>
          <a:prstGeom prst="rect">
            <a:avLst/>
          </a:prstGeom>
          <a:noFill/>
        </p:spPr>
        <p:txBody>
          <a:bodyPr wrap="square" lIns="0" rIns="0" tIns="0" bIns="0" anchor="t">
            <a:spAutoFit/>
          </a:bodyPr>
          <a:lstStyle/>
          <a:p>
            <a:pPr algn="l">
              <a:lnSpc>
                <a:spcPct val="130000"/>
              </a:lnSpc>
            </a:pPr>
            <a:r>
              <a:rPr sz="950" b="1" i="0">
                <a:solidFill>
                  <a:srgbClr val="1F8A99"/>
                </a:solidFill>
                <a:latin typeface="Calibri"/>
              </a:rPr>
              <a:t>enforced</a:t>
            </a:r>
            <a:r>
              <a:rPr sz="950" b="0" i="0">
                <a:solidFill>
                  <a:srgbClr val="5A6B84"/>
                </a:solidFill>
                <a:latin typeface="Calibri"/>
              </a:rPr>
              <a:t> — unbypassable  ·  </a:t>
            </a:r>
            <a:r>
              <a:rPr sz="950" b="1" i="0">
                <a:solidFill>
                  <a:srgbClr val="B5821F"/>
                </a:solidFill>
                <a:latin typeface="Calibri"/>
              </a:rPr>
              <a:t>advisory</a:t>
            </a:r>
            <a:r>
              <a:rPr sz="950" b="0" i="0">
                <a:solidFill>
                  <a:srgbClr val="5A6B84"/>
                </a:solidFill>
                <a:latin typeface="Calibri"/>
              </a:rPr>
              <a:t> — filed as evidence, blocks nothing  ·  </a:t>
            </a:r>
            <a:r>
              <a:rPr sz="950" b="1" i="0">
                <a:solidFill>
                  <a:srgbClr val="A93B2B"/>
                </a:solidFill>
                <a:latin typeface="Calibri"/>
              </a:rPr>
              <a:t>none / n/a</a:t>
            </a:r>
            <a:r>
              <a:rPr sz="950" b="0" i="0">
                <a:solidFill>
                  <a:srgbClr val="5A6B84"/>
                </a:solidFill>
                <a:latin typeface="Calibri"/>
              </a:rPr>
              <a:t> — a facet the family does not implement: an architectural fact, not an omitted measurement</a:t>
            </a:r>
          </a:p>
          <a:p>
            <a:pPr algn="l">
              <a:lnSpc>
                <a:spcPct val="130000"/>
              </a:lnSpc>
            </a:pPr>
            <a:r>
              <a:rPr sz="950" b="1" i="0">
                <a:solidFill>
                  <a:srgbClr val="5A6B84"/>
                </a:solidFill>
                <a:latin typeface="Calibri"/>
              </a:rPr>
              <a:t>The shared version-history component is mounted for five families through per-artifact adapters: sharing the component does not share the semantics.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35000" y="6337300"/>
            <a:ext cx="6096000" cy="254000"/>
          </a:xfrm>
          <a:prstGeom prst="rect">
            <a:avLst/>
          </a:prstGeom>
          <a:noFill/>
        </p:spPr>
        <p:txBody>
          <a:bodyPr wrap="square" lIns="0" rIns="0" tIns="0" bIns="0" anchor="t">
            <a:spAutoFit/>
          </a:bodyPr>
          <a:lstStyle/>
          <a:p>
            <a:pPr algn="l">
              <a:lnSpc>
                <a:spcPct val="122000"/>
              </a:lnSpc>
            </a:pPr>
            <a:r>
              <a:rPr sz="900" b="0" i="0">
                <a:solidFill>
                  <a:srgbClr val="A3B2C4"/>
                </a:solidFill>
                <a:latin typeface="Calibri"/>
              </a:rPr>
              <a:t>CALIBER  ·  A Layered Control Plane for Governed Releases of AI-Agent Resources</a:t>
            </a:r>
          </a:p>
        </p:txBody>
      </p:sp>
      <p:sp>
        <p:nvSpPr>
          <p:cNvPr id="3" name="TextBox 2"/>
          <p:cNvSpPr txBox="1"/>
          <p:nvPr/>
        </p:nvSpPr>
        <p:spPr>
          <a:xfrm>
            <a:off x="10629900" y="6337300"/>
            <a:ext cx="914400" cy="254000"/>
          </a:xfrm>
          <a:prstGeom prst="rect">
            <a:avLst/>
          </a:prstGeom>
          <a:noFill/>
        </p:spPr>
        <p:txBody>
          <a:bodyPr wrap="square" lIns="0" rIns="0" tIns="0" bIns="0" anchor="t">
            <a:spAutoFit/>
          </a:bodyPr>
          <a:lstStyle/>
          <a:p>
            <a:pPr algn="r">
              <a:lnSpc>
                <a:spcPct val="122000"/>
              </a:lnSpc>
            </a:pPr>
            <a:r>
              <a:rPr sz="900" b="0" i="0">
                <a:solidFill>
                  <a:srgbClr val="A3B2C4"/>
                </a:solidFill>
                <a:latin typeface="Calibri"/>
              </a:rPr>
              <a:t>13</a:t>
            </a:r>
          </a:p>
        </p:txBody>
      </p:sp>
      <p:sp>
        <p:nvSpPr>
          <p:cNvPr id="4" name="TextBox 3"/>
          <p:cNvSpPr txBox="1"/>
          <p:nvPr/>
        </p:nvSpPr>
        <p:spPr>
          <a:xfrm>
            <a:off x="635000" y="381000"/>
            <a:ext cx="10909300" cy="228600"/>
          </a:xfrm>
          <a:prstGeom prst="rect">
            <a:avLst/>
          </a:prstGeom>
          <a:noFill/>
        </p:spPr>
        <p:txBody>
          <a:bodyPr wrap="square" lIns="0" rIns="0" tIns="0" bIns="0" anchor="t">
            <a:spAutoFit/>
          </a:bodyPr>
          <a:lstStyle/>
          <a:p>
            <a:pPr algn="l">
              <a:lnSpc>
                <a:spcPct val="122000"/>
              </a:lnSpc>
            </a:pPr>
            <a:r>
              <a:rPr sz="1050" b="1" i="0">
                <a:solidFill>
                  <a:srgbClr val="1F8A99"/>
                </a:solidFill>
                <a:latin typeface="Calibri"/>
              </a:rPr>
              <a:t>Per-family governance  ·  §5.1</a:t>
            </a:r>
          </a:p>
        </p:txBody>
      </p:sp>
      <p:sp>
        <p:nvSpPr>
          <p:cNvPr id="5" name="TextBox 4"/>
          <p:cNvSpPr txBox="1"/>
          <p:nvPr/>
        </p:nvSpPr>
        <p:spPr>
          <a:xfrm>
            <a:off x="635000" y="647700"/>
            <a:ext cx="10909300" cy="495300"/>
          </a:xfrm>
          <a:prstGeom prst="rect">
            <a:avLst/>
          </a:prstGeom>
          <a:noFill/>
        </p:spPr>
        <p:txBody>
          <a:bodyPr wrap="square" lIns="0" rIns="0" tIns="0" bIns="0" anchor="t">
            <a:spAutoFit/>
          </a:bodyPr>
          <a:lstStyle/>
          <a:p>
            <a:pPr algn="l">
              <a:lnSpc>
                <a:spcPct val="108000"/>
              </a:lnSpc>
            </a:pPr>
            <a:r>
              <a:rPr sz="2600" b="1" i="0">
                <a:solidFill>
                  <a:srgbClr val="0E1E3A"/>
                </a:solidFill>
                <a:latin typeface="Calibri"/>
              </a:rPr>
              <a:t>The third design, which we did not take</a:t>
            </a:r>
          </a:p>
        </p:txBody>
      </p:sp>
      <p:sp>
        <p:nvSpPr>
          <p:cNvPr id="6" name="TextBox 5"/>
          <p:cNvSpPr txBox="1"/>
          <p:nvPr/>
        </p:nvSpPr>
        <p:spPr>
          <a:xfrm>
            <a:off x="635000" y="1168400"/>
            <a:ext cx="10909300" cy="431800"/>
          </a:xfrm>
          <a:prstGeom prst="rect">
            <a:avLst/>
          </a:prstGeom>
          <a:noFill/>
        </p:spPr>
        <p:txBody>
          <a:bodyPr wrap="square" lIns="0" rIns="0" tIns="0" bIns="0" anchor="t">
            <a:spAutoFit/>
          </a:bodyPr>
          <a:lstStyle/>
          <a:p>
            <a:pPr algn="l">
              <a:lnSpc>
                <a:spcPct val="130000"/>
              </a:lnSpc>
            </a:pPr>
            <a:r>
              <a:rPr sz="1250" b="0" i="0">
                <a:solidFill>
                  <a:srgbClr val="24354F"/>
                </a:solidFill>
                <a:latin typeface="Calibri"/>
              </a:rPr>
              <a:t>Between one uniform contract and per-family wiring there is a well-known third option, and presenting the choice as binary would be a false dichotomy.</a:t>
            </a:r>
          </a:p>
        </p:txBody>
      </p:sp>
      <p:sp>
        <p:nvSpPr>
          <p:cNvPr id="7" name="Rounded Rectangle 6"/>
          <p:cNvSpPr/>
          <p:nvPr/>
        </p:nvSpPr>
        <p:spPr>
          <a:xfrm>
            <a:off x="635000" y="1701800"/>
            <a:ext cx="3517900" cy="1752600"/>
          </a:xfrm>
          <a:prstGeom prst="roundRect">
            <a:avLst>
              <a:gd name="adj" fmla="val 6521"/>
            </a:avLst>
          </a:prstGeom>
          <a:solidFill>
            <a:srgbClr val="E8F4F5"/>
          </a:solidFill>
          <a:ln w="9525">
            <a:solidFill>
              <a:srgbClr val="CFE4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76300" y="1892300"/>
            <a:ext cx="3035300" cy="170688"/>
          </a:xfrm>
          <a:prstGeom prst="rect">
            <a:avLst/>
          </a:prstGeom>
          <a:noFill/>
        </p:spPr>
        <p:txBody>
          <a:bodyPr wrap="square" lIns="0" rIns="0" tIns="0" bIns="0" anchor="t">
            <a:spAutoFit/>
          </a:bodyPr>
          <a:lstStyle/>
          <a:p>
            <a:pPr algn="l">
              <a:lnSpc>
                <a:spcPct val="112000"/>
              </a:lnSpc>
            </a:pPr>
            <a:r>
              <a:rPr sz="1200" b="1" i="0">
                <a:solidFill>
                  <a:srgbClr val="1F8A99"/>
                </a:solidFill>
                <a:latin typeface="Calibri"/>
              </a:rPr>
              <a:t>A thin base contract</a:t>
            </a:r>
          </a:p>
        </p:txBody>
      </p:sp>
      <p:sp>
        <p:nvSpPr>
          <p:cNvPr id="9" name="TextBox 8"/>
          <p:cNvSpPr txBox="1"/>
          <p:nvPr/>
        </p:nvSpPr>
        <p:spPr>
          <a:xfrm>
            <a:off x="876300" y="2151888"/>
            <a:ext cx="3035300" cy="650240"/>
          </a:xfrm>
          <a:prstGeom prst="rect">
            <a:avLst/>
          </a:prstGeom>
          <a:noFill/>
        </p:spPr>
        <p:txBody>
          <a:bodyPr wrap="square" lIns="0" rIns="0" tIns="0" bIns="0" anchor="t">
            <a:spAutoFit/>
          </a:bodyPr>
          <a:lstStyle/>
          <a:p>
            <a:pPr algn="l">
              <a:lnSpc>
                <a:spcPct val="128000"/>
              </a:lnSpc>
            </a:pPr>
            <a:r>
              <a:rPr sz="1000" b="0" i="0">
                <a:solidFill>
                  <a:srgbClr val="24354F"/>
                </a:solidFill>
                <a:latin typeface="Calibri"/>
              </a:rPr>
              <a:t>Every governed asset satisfies identity, immutable version history, an authority check, and an audit record. That much genuinely can be uniform, and CALIBER already holds it.</a:t>
            </a:r>
          </a:p>
        </p:txBody>
      </p:sp>
      <p:sp>
        <p:nvSpPr>
          <p:cNvPr id="10" name="Rounded Rectangle 9"/>
          <p:cNvSpPr/>
          <p:nvPr/>
        </p:nvSpPr>
        <p:spPr>
          <a:xfrm>
            <a:off x="4330700" y="1701800"/>
            <a:ext cx="3517900" cy="1752600"/>
          </a:xfrm>
          <a:prstGeom prst="roundRect">
            <a:avLst>
              <a:gd name="adj" fmla="val 6521"/>
            </a:avLst>
          </a:prstGeom>
          <a:solidFill>
            <a:srgbClr val="E8F4F5"/>
          </a:solidFill>
          <a:ln w="9525">
            <a:solidFill>
              <a:srgbClr val="CFE4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572000" y="1892300"/>
            <a:ext cx="3035300" cy="170688"/>
          </a:xfrm>
          <a:prstGeom prst="rect">
            <a:avLst/>
          </a:prstGeom>
          <a:noFill/>
        </p:spPr>
        <p:txBody>
          <a:bodyPr wrap="square" lIns="0" rIns="0" tIns="0" bIns="0" anchor="t">
            <a:spAutoFit/>
          </a:bodyPr>
          <a:lstStyle/>
          <a:p>
            <a:pPr algn="l">
              <a:lnSpc>
                <a:spcPct val="112000"/>
              </a:lnSpc>
            </a:pPr>
            <a:r>
              <a:rPr sz="1200" b="1" i="0">
                <a:solidFill>
                  <a:srgbClr val="1F8A99"/>
                </a:solidFill>
                <a:latin typeface="Calibri"/>
              </a:rPr>
              <a:t>Orthogonal capability interfaces</a:t>
            </a:r>
          </a:p>
        </p:txBody>
      </p:sp>
      <p:sp>
        <p:nvSpPr>
          <p:cNvPr id="12" name="TextBox 11"/>
          <p:cNvSpPr txBox="1"/>
          <p:nvPr/>
        </p:nvSpPr>
        <p:spPr>
          <a:xfrm>
            <a:off x="4572000" y="2151888"/>
            <a:ext cx="3035300" cy="650240"/>
          </a:xfrm>
          <a:prstGeom prst="rect">
            <a:avLst/>
          </a:prstGeom>
          <a:noFill/>
        </p:spPr>
        <p:txBody>
          <a:bodyPr wrap="square" lIns="0" rIns="0" tIns="0" bIns="0" anchor="t">
            <a:spAutoFit/>
          </a:bodyPr>
          <a:lstStyle/>
          <a:p>
            <a:pPr algn="l">
              <a:lnSpc>
                <a:spcPct val="128000"/>
              </a:lnSpc>
            </a:pPr>
            <a:r>
              <a:rPr sz="1000" b="0" i="0">
                <a:solidFill>
                  <a:srgbClr val="24354F"/>
                </a:solidFill>
                <a:latin typeface="Calibri"/>
              </a:rPr>
              <a:t>Releasable, Rollbackable, EvidenceBearing — implemented only by the families that possess them. Per-family variation remains, because a test set genuinely has no live target.</a:t>
            </a:r>
          </a:p>
        </p:txBody>
      </p:sp>
      <p:sp>
        <p:nvSpPr>
          <p:cNvPr id="13" name="Rounded Rectangle 12"/>
          <p:cNvSpPr/>
          <p:nvPr/>
        </p:nvSpPr>
        <p:spPr>
          <a:xfrm>
            <a:off x="8026400" y="1701800"/>
            <a:ext cx="3517900" cy="1752600"/>
          </a:xfrm>
          <a:prstGeom prst="roundRect">
            <a:avLst>
              <a:gd name="adj" fmla="val 6521"/>
            </a:avLst>
          </a:prstGeom>
          <a:solidFill>
            <a:srgbClr val="E8F4F5"/>
          </a:solidFill>
          <a:ln w="9525">
            <a:solidFill>
              <a:srgbClr val="CFE4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267700" y="1892300"/>
            <a:ext cx="3035300" cy="170688"/>
          </a:xfrm>
          <a:prstGeom prst="rect">
            <a:avLst/>
          </a:prstGeom>
          <a:noFill/>
        </p:spPr>
        <p:txBody>
          <a:bodyPr wrap="square" lIns="0" rIns="0" tIns="0" bIns="0" anchor="t">
            <a:spAutoFit/>
          </a:bodyPr>
          <a:lstStyle/>
          <a:p>
            <a:pPr algn="l">
              <a:lnSpc>
                <a:spcPct val="112000"/>
              </a:lnSpc>
            </a:pPr>
            <a:r>
              <a:rPr sz="1200" b="1" i="0">
                <a:solidFill>
                  <a:srgbClr val="1F8A99"/>
                </a:solidFill>
                <a:latin typeface="Calibri"/>
              </a:rPr>
              <a:t>Obligations checked, not documented</a:t>
            </a:r>
          </a:p>
        </p:txBody>
      </p:sp>
      <p:sp>
        <p:nvSpPr>
          <p:cNvPr id="15" name="TextBox 14"/>
          <p:cNvSpPr txBox="1"/>
          <p:nvPr/>
        </p:nvSpPr>
        <p:spPr>
          <a:xfrm>
            <a:off x="8267700" y="2151888"/>
            <a:ext cx="3035300" cy="812800"/>
          </a:xfrm>
          <a:prstGeom prst="rect">
            <a:avLst/>
          </a:prstGeom>
          <a:noFill/>
        </p:spPr>
        <p:txBody>
          <a:bodyPr wrap="square" lIns="0" rIns="0" tIns="0" bIns="0" anchor="t">
            <a:spAutoFit/>
          </a:bodyPr>
          <a:lstStyle/>
          <a:p>
            <a:pPr algn="l">
              <a:lnSpc>
                <a:spcPct val="128000"/>
              </a:lnSpc>
            </a:pPr>
            <a:r>
              <a:rPr sz="1000" b="0" i="0">
                <a:solidFill>
                  <a:srgbClr val="24354F"/>
                </a:solidFill>
                <a:latin typeface="Calibri"/>
              </a:rPr>
              <a:t>A family declaring Releasable could be required to supply a live-target resolver, a checkpoint writer, and a rollback path — checked by the type system or a start-up registry projection, not by a reviewer reading a table.</a:t>
            </a:r>
          </a:p>
        </p:txBody>
      </p:sp>
      <p:sp>
        <p:nvSpPr>
          <p:cNvPr id="16" name="Rounded Rectangle 15"/>
          <p:cNvSpPr/>
          <p:nvPr/>
        </p:nvSpPr>
        <p:spPr>
          <a:xfrm>
            <a:off x="635000" y="3632200"/>
            <a:ext cx="5353050" cy="1778000"/>
          </a:xfrm>
          <a:prstGeom prst="roundRect">
            <a:avLst>
              <a:gd name="adj" fmla="val 6428"/>
            </a:avLst>
          </a:prstGeom>
          <a:solidFill>
            <a:srgbClr val="FBF0EC"/>
          </a:solidFill>
          <a:ln w="9525">
            <a:solidFill>
              <a:srgbClr val="EFDC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63600" y="3835400"/>
            <a:ext cx="304800" cy="304800"/>
          </a:xfrm>
          <a:prstGeom prst="ellipse">
            <a:avLst/>
          </a:prstGeom>
          <a:solidFill>
            <a:srgbClr val="A93B2B"/>
          </a:solidFill>
          <a:ln w="12700">
            <a:solidFill>
              <a:srgbClr val="A93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3600" y="3901122"/>
            <a:ext cx="304800" cy="186690"/>
          </a:xfrm>
          <a:prstGeom prst="rect">
            <a:avLst/>
          </a:prstGeom>
          <a:noFill/>
        </p:spPr>
        <p:txBody>
          <a:bodyPr wrap="square" lIns="0" rIns="0" tIns="0" bIns="0" anchor="t">
            <a:spAutoFit/>
          </a:bodyPr>
          <a:lstStyle/>
          <a:p>
            <a:pPr algn="ctr">
              <a:lnSpc>
                <a:spcPct val="122000"/>
              </a:lnSpc>
            </a:pPr>
            <a:r>
              <a:rPr sz="1050" b="1" i="0">
                <a:solidFill>
                  <a:srgbClr val="FFFFFF"/>
                </a:solidFill>
                <a:latin typeface="Calibri"/>
              </a:rPr>
              <a:t>✕</a:t>
            </a:r>
          </a:p>
        </p:txBody>
      </p:sp>
      <p:sp>
        <p:nvSpPr>
          <p:cNvPr id="19" name="TextBox 18"/>
          <p:cNvSpPr txBox="1"/>
          <p:nvPr/>
        </p:nvSpPr>
        <p:spPr>
          <a:xfrm>
            <a:off x="1270000" y="3835400"/>
            <a:ext cx="4489450" cy="279400"/>
          </a:xfrm>
          <a:prstGeom prst="rect">
            <a:avLst/>
          </a:prstGeom>
          <a:noFill/>
        </p:spPr>
        <p:txBody>
          <a:bodyPr wrap="square" lIns="0" rIns="0" tIns="0" bIns="0" anchor="t">
            <a:spAutoFit/>
          </a:bodyPr>
          <a:lstStyle/>
          <a:p>
            <a:pPr algn="l">
              <a:lnSpc>
                <a:spcPct val="122000"/>
              </a:lnSpc>
            </a:pPr>
            <a:r>
              <a:rPr sz="1250" b="1" i="0">
                <a:solidFill>
                  <a:srgbClr val="A93B2B"/>
                </a:solidFill>
                <a:latin typeface="Calibri"/>
              </a:rPr>
              <a:t>Why we did not take it</a:t>
            </a:r>
          </a:p>
        </p:txBody>
      </p:sp>
      <p:sp>
        <p:nvSpPr>
          <p:cNvPr id="20" name="TextBox 19"/>
          <p:cNvSpPr txBox="1"/>
          <p:nvPr/>
        </p:nvSpPr>
        <p:spPr>
          <a:xfrm>
            <a:off x="876300" y="4292600"/>
            <a:ext cx="4870450" cy="1168400"/>
          </a:xfrm>
          <a:prstGeom prst="rect">
            <a:avLst/>
          </a:prstGeom>
          <a:noFill/>
        </p:spPr>
        <p:txBody>
          <a:bodyPr wrap="square" lIns="0" rIns="0" tIns="0" bIns="0" anchor="t">
            <a:spAutoFit/>
          </a:bodyPr>
          <a:lstStyle/>
          <a:p>
            <a:pPr algn="l">
              <a:lnSpc>
                <a:spcPct val="128000"/>
              </a:lnSpc>
            </a:pPr>
            <a:r>
              <a:rPr sz="1000" b="0" i="0">
                <a:solidFill>
                  <a:srgbClr val="5C4034"/>
                </a:solidFill>
                <a:latin typeface="Calibri"/>
              </a:rPr>
              <a:t>The reason is historical rather than principled. CALIBER's families were wired one at a time as they were needed, and by the time the common shape was visible the wiring already existed in nine places. Retrofitting capability interfaces is the natural next step, and §13 records it as such.</a:t>
            </a:r>
          </a:p>
        </p:txBody>
      </p:sp>
      <p:sp>
        <p:nvSpPr>
          <p:cNvPr id="21" name="Rounded Rectangle 20"/>
          <p:cNvSpPr/>
          <p:nvPr/>
        </p:nvSpPr>
        <p:spPr>
          <a:xfrm>
            <a:off x="6191250" y="3632200"/>
            <a:ext cx="5353050" cy="1778000"/>
          </a:xfrm>
          <a:prstGeom prst="roundRect">
            <a:avLst>
              <a:gd name="adj" fmla="val 6428"/>
            </a:avLst>
          </a:prstGeom>
          <a:solidFill>
            <a:srgbClr val="E8F4F5"/>
          </a:solidFill>
          <a:ln w="9525">
            <a:solidFill>
              <a:srgbClr val="CFE4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6419850" y="3835400"/>
            <a:ext cx="304800" cy="304800"/>
          </a:xfrm>
          <a:prstGeom prst="ellipse">
            <a:avLst/>
          </a:prstGeom>
          <a:solidFill>
            <a:srgbClr val="1F8A99"/>
          </a:solidFill>
          <a:ln w="12700">
            <a:solidFill>
              <a:srgbClr val="1F8A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19850" y="3901122"/>
            <a:ext cx="304800" cy="186690"/>
          </a:xfrm>
          <a:prstGeom prst="rect">
            <a:avLst/>
          </a:prstGeom>
          <a:noFill/>
        </p:spPr>
        <p:txBody>
          <a:bodyPr wrap="square" lIns="0" rIns="0" tIns="0" bIns="0" anchor="t">
            <a:spAutoFit/>
          </a:bodyPr>
          <a:lstStyle/>
          <a:p>
            <a:pPr algn="ctr">
              <a:lnSpc>
                <a:spcPct val="122000"/>
              </a:lnSpc>
            </a:pPr>
            <a:r>
              <a:rPr sz="1050" b="1" i="0">
                <a:solidFill>
                  <a:srgbClr val="FFFFFF"/>
                </a:solidFill>
                <a:latin typeface="Calibri"/>
              </a:rPr>
              <a:t>✓</a:t>
            </a:r>
          </a:p>
        </p:txBody>
      </p:sp>
      <p:sp>
        <p:nvSpPr>
          <p:cNvPr id="24" name="TextBox 23"/>
          <p:cNvSpPr txBox="1"/>
          <p:nvPr/>
        </p:nvSpPr>
        <p:spPr>
          <a:xfrm>
            <a:off x="6826250" y="3835400"/>
            <a:ext cx="4489450" cy="279400"/>
          </a:xfrm>
          <a:prstGeom prst="rect">
            <a:avLst/>
          </a:prstGeom>
          <a:noFill/>
        </p:spPr>
        <p:txBody>
          <a:bodyPr wrap="square" lIns="0" rIns="0" tIns="0" bIns="0" anchor="t">
            <a:spAutoFit/>
          </a:bodyPr>
          <a:lstStyle/>
          <a:p>
            <a:pPr algn="l">
              <a:lnSpc>
                <a:spcPct val="122000"/>
              </a:lnSpc>
            </a:pPr>
            <a:r>
              <a:rPr sz="1250" b="1" i="0">
                <a:solidFill>
                  <a:srgbClr val="1F8A99"/>
                </a:solidFill>
                <a:latin typeface="Calibri"/>
              </a:rPr>
              <a:t>What we therefore claim</a:t>
            </a:r>
          </a:p>
        </p:txBody>
      </p:sp>
      <p:sp>
        <p:nvSpPr>
          <p:cNvPr id="25" name="TextBox 24"/>
          <p:cNvSpPr txBox="1"/>
          <p:nvPr/>
        </p:nvSpPr>
        <p:spPr>
          <a:xfrm>
            <a:off x="6432550" y="4292600"/>
            <a:ext cx="4870450" cy="1168400"/>
          </a:xfrm>
          <a:prstGeom prst="rect">
            <a:avLst/>
          </a:prstGeom>
          <a:noFill/>
        </p:spPr>
        <p:txBody>
          <a:bodyPr wrap="square" lIns="0" rIns="0" tIns="0" bIns="0" anchor="t">
            <a:spAutoFit/>
          </a:bodyPr>
          <a:lstStyle/>
          <a:p>
            <a:pPr algn="l">
              <a:lnSpc>
                <a:spcPct val="128000"/>
              </a:lnSpc>
            </a:pPr>
            <a:r>
              <a:rPr sz="1000" b="0" i="0">
                <a:solidFill>
                  <a:srgbClr val="24354F"/>
                </a:solidFill>
                <a:latin typeface="Calibri"/>
              </a:rPr>
              <a:t>Uniform guarantees are impossible across genuinely heterogeneous families, because the guarantees differ in kind. Uniform obligations are possible, but require a mechanism CALIBER does not have. Documentation-only enforcement is technical debt, not an impossibility result.</a:t>
            </a:r>
          </a:p>
        </p:txBody>
      </p:sp>
      <p:sp>
        <p:nvSpPr>
          <p:cNvPr id="26" name="TextBox 25"/>
          <p:cNvSpPr txBox="1"/>
          <p:nvPr/>
        </p:nvSpPr>
        <p:spPr>
          <a:xfrm>
            <a:off x="635000" y="5562600"/>
            <a:ext cx="10909300" cy="228600"/>
          </a:xfrm>
          <a:prstGeom prst="rect">
            <a:avLst/>
          </a:prstGeom>
          <a:noFill/>
        </p:spPr>
        <p:txBody>
          <a:bodyPr wrap="square" lIns="0" rIns="0" tIns="0" bIns="0" anchor="t">
            <a:spAutoFit/>
          </a:bodyPr>
          <a:lstStyle/>
          <a:p>
            <a:pPr algn="l">
              <a:lnSpc>
                <a:spcPct val="122000"/>
              </a:lnSpc>
            </a:pPr>
            <a:r>
              <a:rPr sz="1050" b="1" i="0">
                <a:solidFill>
                  <a:srgbClr val="5A6B84"/>
                </a:solidFill>
                <a:latin typeface="Calibri"/>
              </a:rPr>
              <a:t>That is a narrower claim than “uniformity is impossible”, and it is the one the paper can defend.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35000" y="6337300"/>
            <a:ext cx="6096000" cy="254000"/>
          </a:xfrm>
          <a:prstGeom prst="rect">
            <a:avLst/>
          </a:prstGeom>
          <a:noFill/>
        </p:spPr>
        <p:txBody>
          <a:bodyPr wrap="square" lIns="0" rIns="0" tIns="0" bIns="0" anchor="t">
            <a:spAutoFit/>
          </a:bodyPr>
          <a:lstStyle/>
          <a:p>
            <a:pPr algn="l">
              <a:lnSpc>
                <a:spcPct val="122000"/>
              </a:lnSpc>
            </a:pPr>
            <a:r>
              <a:rPr sz="900" b="0" i="0">
                <a:solidFill>
                  <a:srgbClr val="A3B2C4"/>
                </a:solidFill>
                <a:latin typeface="Calibri"/>
              </a:rPr>
              <a:t>CALIBER  ·  A Layered Control Plane for Governed Releases of AI-Agent Resources</a:t>
            </a:r>
          </a:p>
        </p:txBody>
      </p:sp>
      <p:sp>
        <p:nvSpPr>
          <p:cNvPr id="3" name="TextBox 2"/>
          <p:cNvSpPr txBox="1"/>
          <p:nvPr/>
        </p:nvSpPr>
        <p:spPr>
          <a:xfrm>
            <a:off x="10629900" y="6337300"/>
            <a:ext cx="914400" cy="254000"/>
          </a:xfrm>
          <a:prstGeom prst="rect">
            <a:avLst/>
          </a:prstGeom>
          <a:noFill/>
        </p:spPr>
        <p:txBody>
          <a:bodyPr wrap="square" lIns="0" rIns="0" tIns="0" bIns="0" anchor="t">
            <a:spAutoFit/>
          </a:bodyPr>
          <a:lstStyle/>
          <a:p>
            <a:pPr algn="r">
              <a:lnSpc>
                <a:spcPct val="122000"/>
              </a:lnSpc>
            </a:pPr>
            <a:r>
              <a:rPr sz="900" b="0" i="0">
                <a:solidFill>
                  <a:srgbClr val="A3B2C4"/>
                </a:solidFill>
                <a:latin typeface="Calibri"/>
              </a:rPr>
              <a:t>14</a:t>
            </a:r>
          </a:p>
        </p:txBody>
      </p:sp>
      <p:sp>
        <p:nvSpPr>
          <p:cNvPr id="4" name="TextBox 3"/>
          <p:cNvSpPr txBox="1"/>
          <p:nvPr/>
        </p:nvSpPr>
        <p:spPr>
          <a:xfrm>
            <a:off x="635000" y="381000"/>
            <a:ext cx="10909300" cy="228600"/>
          </a:xfrm>
          <a:prstGeom prst="rect">
            <a:avLst/>
          </a:prstGeom>
          <a:noFill/>
        </p:spPr>
        <p:txBody>
          <a:bodyPr wrap="square" lIns="0" rIns="0" tIns="0" bIns="0" anchor="t">
            <a:spAutoFit/>
          </a:bodyPr>
          <a:lstStyle/>
          <a:p>
            <a:pPr algn="l">
              <a:lnSpc>
                <a:spcPct val="122000"/>
              </a:lnSpc>
            </a:pPr>
            <a:r>
              <a:rPr sz="1050" b="1" i="0">
                <a:solidFill>
                  <a:srgbClr val="1F8A99"/>
                </a:solidFill>
                <a:latin typeface="Calibri"/>
              </a:rPr>
              <a:t>Capabilities  ·  §7.3 and §6  ·  D3</a:t>
            </a:r>
          </a:p>
        </p:txBody>
      </p:sp>
      <p:sp>
        <p:nvSpPr>
          <p:cNvPr id="5" name="TextBox 4"/>
          <p:cNvSpPr txBox="1"/>
          <p:nvPr/>
        </p:nvSpPr>
        <p:spPr>
          <a:xfrm>
            <a:off x="635000" y="647700"/>
            <a:ext cx="10909300" cy="495300"/>
          </a:xfrm>
          <a:prstGeom prst="rect">
            <a:avLst/>
          </a:prstGeom>
          <a:noFill/>
        </p:spPr>
        <p:txBody>
          <a:bodyPr wrap="square" lIns="0" rIns="0" tIns="0" bIns="0" anchor="t">
            <a:spAutoFit/>
          </a:bodyPr>
          <a:lstStyle/>
          <a:p>
            <a:pPr algn="l">
              <a:lnSpc>
                <a:spcPct val="108000"/>
              </a:lnSpc>
            </a:pPr>
            <a:r>
              <a:rPr sz="2600" b="1" i="0">
                <a:solidFill>
                  <a:srgbClr val="0E1E3A"/>
                </a:solidFill>
                <a:latin typeface="Calibri"/>
              </a:rPr>
              <a:t>One enforced gate, one advisory verdict — and why they differ</a:t>
            </a:r>
          </a:p>
        </p:txBody>
      </p:sp>
      <p:sp>
        <p:nvSpPr>
          <p:cNvPr id="6" name="TextBox 5"/>
          <p:cNvSpPr txBox="1"/>
          <p:nvPr/>
        </p:nvSpPr>
        <p:spPr>
          <a:xfrm>
            <a:off x="635000" y="1168400"/>
            <a:ext cx="10909300" cy="431800"/>
          </a:xfrm>
          <a:prstGeom prst="rect">
            <a:avLst/>
          </a:prstGeom>
          <a:noFill/>
        </p:spPr>
        <p:txBody>
          <a:bodyPr wrap="square" lIns="0" rIns="0" tIns="0" bIns="0" anchor="t">
            <a:spAutoFit/>
          </a:bodyPr>
          <a:lstStyle/>
          <a:p>
            <a:pPr algn="l">
              <a:lnSpc>
                <a:spcPct val="130000"/>
              </a:lnSpc>
            </a:pPr>
            <a:r>
              <a:rPr sz="1250" b="0" i="0">
                <a:solidFill>
                  <a:srgbClr val="24354F"/>
                </a:solidFill>
                <a:latin typeface="Calibri"/>
              </a:rPr>
              <a:t>“Gated” names two mechanisms in CALIBER. Keeping them apart is what stops operators from routing around the system.</a:t>
            </a:r>
          </a:p>
        </p:txBody>
      </p:sp>
      <p:sp>
        <p:nvSpPr>
          <p:cNvPr id="7" name="Rounded Rectangle 6"/>
          <p:cNvSpPr/>
          <p:nvPr/>
        </p:nvSpPr>
        <p:spPr>
          <a:xfrm>
            <a:off x="635000" y="1701800"/>
            <a:ext cx="5340350" cy="1930400"/>
          </a:xfrm>
          <a:prstGeom prst="roundRect">
            <a:avLst>
              <a:gd name="adj" fmla="val 5921"/>
            </a:avLst>
          </a:prstGeom>
          <a:solidFill>
            <a:srgbClr val="E8F4F5"/>
          </a:solidFill>
          <a:ln w="9525">
            <a:solidFill>
              <a:srgbClr val="CFE4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89000" y="1930400"/>
            <a:ext cx="330200" cy="330200"/>
          </a:xfrm>
          <a:prstGeom prst="ellipse">
            <a:avLst/>
          </a:prstGeom>
          <a:solidFill>
            <a:srgbClr val="1F8A99"/>
          </a:solidFill>
          <a:ln w="12700">
            <a:solidFill>
              <a:srgbClr val="1F8A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9000" y="2004695"/>
            <a:ext cx="330200" cy="195579"/>
          </a:xfrm>
          <a:prstGeom prst="rect">
            <a:avLst/>
          </a:prstGeom>
          <a:noFill/>
        </p:spPr>
        <p:txBody>
          <a:bodyPr wrap="square" lIns="0" rIns="0" tIns="0" bIns="0" anchor="t">
            <a:spAutoFit/>
          </a:bodyPr>
          <a:lstStyle/>
          <a:p>
            <a:pPr algn="ctr">
              <a:lnSpc>
                <a:spcPct val="122000"/>
              </a:lnSpc>
            </a:pPr>
            <a:r>
              <a:rPr sz="1100" b="1" i="0">
                <a:solidFill>
                  <a:srgbClr val="FFFFFF"/>
                </a:solidFill>
                <a:latin typeface="Calibri"/>
              </a:rPr>
              <a:t>✓</a:t>
            </a:r>
          </a:p>
        </p:txBody>
      </p:sp>
      <p:sp>
        <p:nvSpPr>
          <p:cNvPr id="10" name="TextBox 9"/>
          <p:cNvSpPr txBox="1"/>
          <p:nvPr/>
        </p:nvSpPr>
        <p:spPr>
          <a:xfrm>
            <a:off x="1346200" y="1917700"/>
            <a:ext cx="4375150" cy="304800"/>
          </a:xfrm>
          <a:prstGeom prst="rect">
            <a:avLst/>
          </a:prstGeom>
          <a:noFill/>
        </p:spPr>
        <p:txBody>
          <a:bodyPr wrap="square" lIns="0" rIns="0" tIns="0" bIns="0" anchor="t">
            <a:spAutoFit/>
          </a:bodyPr>
          <a:lstStyle/>
          <a:p>
            <a:pPr algn="l">
              <a:lnSpc>
                <a:spcPct val="122000"/>
              </a:lnSpc>
            </a:pPr>
            <a:r>
              <a:rPr sz="1400" b="1" i="0">
                <a:solidFill>
                  <a:srgbClr val="1F8A99"/>
                </a:solidFill>
                <a:latin typeface="Calibri"/>
              </a:rPr>
              <a:t>Candidate-advancement gate</a:t>
            </a:r>
          </a:p>
        </p:txBody>
      </p:sp>
      <p:sp>
        <p:nvSpPr>
          <p:cNvPr id="11" name="TextBox 10"/>
          <p:cNvSpPr txBox="1"/>
          <p:nvPr/>
        </p:nvSpPr>
        <p:spPr>
          <a:xfrm>
            <a:off x="1346200" y="2222500"/>
            <a:ext cx="4375150" cy="203200"/>
          </a:xfrm>
          <a:prstGeom prst="rect">
            <a:avLst/>
          </a:prstGeom>
          <a:noFill/>
        </p:spPr>
        <p:txBody>
          <a:bodyPr wrap="square" lIns="0" rIns="0" tIns="0" bIns="0" anchor="t">
            <a:spAutoFit/>
          </a:bodyPr>
          <a:lstStyle/>
          <a:p>
            <a:pPr algn="l">
              <a:lnSpc>
                <a:spcPct val="122000"/>
              </a:lnSpc>
            </a:pPr>
            <a:r>
              <a:rPr sz="950" b="1" i="0">
                <a:solidFill>
                  <a:srgbClr val="1F8A99"/>
                </a:solidFill>
                <a:latin typeface="Calibri"/>
              </a:rPr>
              <a:t>enforced · returns control flow</a:t>
            </a:r>
          </a:p>
        </p:txBody>
      </p:sp>
      <p:sp>
        <p:nvSpPr>
          <p:cNvPr id="12" name="TextBox 11"/>
          <p:cNvSpPr txBox="1"/>
          <p:nvPr/>
        </p:nvSpPr>
        <p:spPr>
          <a:xfrm>
            <a:off x="901700" y="2540000"/>
            <a:ext cx="4806950" cy="939800"/>
          </a:xfrm>
          <a:prstGeom prst="rect">
            <a:avLst/>
          </a:prstGeom>
          <a:noFill/>
        </p:spPr>
        <p:txBody>
          <a:bodyPr wrap="square" lIns="0" rIns="0" tIns="0" bIns="0" anchor="t">
            <a:spAutoFit/>
          </a:bodyPr>
          <a:lstStyle/>
          <a:p>
            <a:pPr algn="l">
              <a:lnSpc>
                <a:spcPct val="128000"/>
              </a:lnSpc>
            </a:pPr>
            <a:r>
              <a:rPr sz="1000" b="0" i="0">
                <a:solidFill>
                  <a:srgbClr val="24354F"/>
                </a:solidFill>
                <a:latin typeface="Calibri"/>
              </a:rPr>
              <a:t>A candidate that fails it never reaches review. The review queue therefore contains only candidates that passed their own evaluation, and an operator's attention is spent on judgement rather than on triage — which matters, because operator attention is the binding constraint on this path.</a:t>
            </a:r>
          </a:p>
        </p:txBody>
      </p:sp>
      <p:sp>
        <p:nvSpPr>
          <p:cNvPr id="13" name="Rounded Rectangle 12"/>
          <p:cNvSpPr/>
          <p:nvPr/>
        </p:nvSpPr>
        <p:spPr>
          <a:xfrm>
            <a:off x="6203950" y="1701800"/>
            <a:ext cx="5340350" cy="1930400"/>
          </a:xfrm>
          <a:prstGeom prst="roundRect">
            <a:avLst>
              <a:gd name="adj" fmla="val 5921"/>
            </a:avLst>
          </a:prstGeom>
          <a:solidFill>
            <a:srgbClr val="FBF4E6"/>
          </a:solidFill>
          <a:ln w="9525">
            <a:solidFill>
              <a:srgbClr val="F0E4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457950" y="1930400"/>
            <a:ext cx="330200" cy="330200"/>
          </a:xfrm>
          <a:prstGeom prst="ellipse">
            <a:avLst/>
          </a:prstGeom>
          <a:solidFill>
            <a:srgbClr val="B5821F"/>
          </a:solidFill>
          <a:ln w="12700">
            <a:solidFill>
              <a:srgbClr val="B582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7950" y="2004695"/>
            <a:ext cx="330200" cy="195579"/>
          </a:xfrm>
          <a:prstGeom prst="rect">
            <a:avLst/>
          </a:prstGeom>
          <a:noFill/>
        </p:spPr>
        <p:txBody>
          <a:bodyPr wrap="square" lIns="0" rIns="0" tIns="0" bIns="0" anchor="t">
            <a:spAutoFit/>
          </a:bodyPr>
          <a:lstStyle/>
          <a:p>
            <a:pPr algn="ctr">
              <a:lnSpc>
                <a:spcPct val="122000"/>
              </a:lnSpc>
            </a:pPr>
            <a:r>
              <a:rPr sz="1100" b="1" i="0">
                <a:solidFill>
                  <a:srgbClr val="FFFFFF"/>
                </a:solidFill>
                <a:latin typeface="Calibri"/>
              </a:rPr>
              <a:t>!</a:t>
            </a:r>
          </a:p>
        </p:txBody>
      </p:sp>
      <p:sp>
        <p:nvSpPr>
          <p:cNvPr id="16" name="TextBox 15"/>
          <p:cNvSpPr txBox="1"/>
          <p:nvPr/>
        </p:nvSpPr>
        <p:spPr>
          <a:xfrm>
            <a:off x="6915150" y="1917700"/>
            <a:ext cx="4375150" cy="304800"/>
          </a:xfrm>
          <a:prstGeom prst="rect">
            <a:avLst/>
          </a:prstGeom>
          <a:noFill/>
        </p:spPr>
        <p:txBody>
          <a:bodyPr wrap="square" lIns="0" rIns="0" tIns="0" bIns="0" anchor="t">
            <a:spAutoFit/>
          </a:bodyPr>
          <a:lstStyle/>
          <a:p>
            <a:pPr algn="l">
              <a:lnSpc>
                <a:spcPct val="122000"/>
              </a:lnSpc>
            </a:pPr>
            <a:r>
              <a:rPr sz="1400" b="1" i="0">
                <a:solidFill>
                  <a:srgbClr val="B5821F"/>
                </a:solidFill>
                <a:latin typeface="Calibri"/>
              </a:rPr>
              <a:t>Per-version release verdict</a:t>
            </a:r>
          </a:p>
        </p:txBody>
      </p:sp>
      <p:sp>
        <p:nvSpPr>
          <p:cNvPr id="17" name="TextBox 16"/>
          <p:cNvSpPr txBox="1"/>
          <p:nvPr/>
        </p:nvSpPr>
        <p:spPr>
          <a:xfrm>
            <a:off x="6915150" y="2222500"/>
            <a:ext cx="4375150" cy="203200"/>
          </a:xfrm>
          <a:prstGeom prst="rect">
            <a:avLst/>
          </a:prstGeom>
          <a:noFill/>
        </p:spPr>
        <p:txBody>
          <a:bodyPr wrap="square" lIns="0" rIns="0" tIns="0" bIns="0" anchor="t">
            <a:spAutoFit/>
          </a:bodyPr>
          <a:lstStyle/>
          <a:p>
            <a:pPr algn="l">
              <a:lnSpc>
                <a:spcPct val="122000"/>
              </a:lnSpc>
            </a:pPr>
            <a:r>
              <a:rPr sz="950" b="1" i="0">
                <a:solidFill>
                  <a:srgbClr val="B5821F"/>
                </a:solidFill>
                <a:latin typeface="Calibri"/>
              </a:rPr>
              <a:t>advisory · returns a record</a:t>
            </a:r>
          </a:p>
        </p:txBody>
      </p:sp>
      <p:sp>
        <p:nvSpPr>
          <p:cNvPr id="18" name="TextBox 17"/>
          <p:cNvSpPr txBox="1"/>
          <p:nvPr/>
        </p:nvSpPr>
        <p:spPr>
          <a:xfrm>
            <a:off x="6470650" y="2540000"/>
            <a:ext cx="4806950" cy="939800"/>
          </a:xfrm>
          <a:prstGeom prst="rect">
            <a:avLst/>
          </a:prstGeom>
          <a:noFill/>
        </p:spPr>
        <p:txBody>
          <a:bodyPr wrap="square" lIns="0" rIns="0" tIns="0" bIns="0" anchor="t">
            <a:spAutoFit/>
          </a:bodyPr>
          <a:lstStyle/>
          <a:p>
            <a:pPr algn="l">
              <a:lnSpc>
                <a:spcPct val="128000"/>
              </a:lnSpc>
            </a:pPr>
            <a:r>
              <a:rPr sz="1000" b="0" i="0">
                <a:solidFill>
                  <a:srgbClr val="4E3529"/>
                </a:solidFill>
                <a:latin typeface="Calibri"/>
              </a:rPr>
              <a:t>Filed as evidence; it blocks nothing. Because it is advisory, an urgent release is never blocked by a stale artifact — and the override path that would otherwise erode the enforced gate never needs to exist at all.</a:t>
            </a:r>
          </a:p>
        </p:txBody>
      </p:sp>
      <p:sp>
        <p:nvSpPr>
          <p:cNvPr id="19" name="TextBox 18"/>
          <p:cNvSpPr txBox="1"/>
          <p:nvPr/>
        </p:nvSpPr>
        <p:spPr>
          <a:xfrm>
            <a:off x="635000" y="3784600"/>
            <a:ext cx="10909300" cy="190500"/>
          </a:xfrm>
          <a:prstGeom prst="rect">
            <a:avLst/>
          </a:prstGeom>
          <a:noFill/>
        </p:spPr>
        <p:txBody>
          <a:bodyPr wrap="square" lIns="0" rIns="0" tIns="0" bIns="0" anchor="t">
            <a:spAutoFit/>
          </a:bodyPr>
          <a:lstStyle/>
          <a:p>
            <a:pPr algn="l">
              <a:lnSpc>
                <a:spcPct val="122000"/>
              </a:lnSpc>
            </a:pPr>
            <a:r>
              <a:rPr sz="950" b="1" i="0">
                <a:solidFill>
                  <a:srgbClr val="1F8A99"/>
                </a:solidFill>
                <a:latin typeface="Calibri"/>
              </a:rPr>
              <a:t>The argument, and its price</a:t>
            </a:r>
          </a:p>
        </p:txBody>
      </p:sp>
      <p:sp>
        <p:nvSpPr>
          <p:cNvPr id="20" name="Rounded Rectangle 19"/>
          <p:cNvSpPr/>
          <p:nvPr/>
        </p:nvSpPr>
        <p:spPr>
          <a:xfrm>
            <a:off x="635000" y="4038600"/>
            <a:ext cx="3517900" cy="1671827"/>
          </a:xfrm>
          <a:prstGeom prst="roundRect">
            <a:avLst>
              <a:gd name="adj" fmla="val 6836"/>
            </a:avLst>
          </a:prstGeom>
          <a:solidFill>
            <a:srgbClr val="F5F9FC"/>
          </a:solidFill>
          <a:ln w="9525">
            <a:solidFill>
              <a:srgbClr val="E4ED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76300" y="4229100"/>
            <a:ext cx="3035300" cy="170688"/>
          </a:xfrm>
          <a:prstGeom prst="rect">
            <a:avLst/>
          </a:prstGeom>
          <a:noFill/>
        </p:spPr>
        <p:txBody>
          <a:bodyPr wrap="square" lIns="0" rIns="0" tIns="0" bIns="0" anchor="t">
            <a:spAutoFit/>
          </a:bodyPr>
          <a:lstStyle/>
          <a:p>
            <a:pPr algn="l">
              <a:lnSpc>
                <a:spcPct val="112000"/>
              </a:lnSpc>
            </a:pPr>
            <a:r>
              <a:rPr sz="1200" b="1" i="0">
                <a:solidFill>
                  <a:srgbClr val="24354F"/>
                </a:solidFill>
                <a:latin typeface="Calibri"/>
              </a:rPr>
              <a:t>Why not enforce on release</a:t>
            </a:r>
          </a:p>
        </p:txBody>
      </p:sp>
      <p:sp>
        <p:nvSpPr>
          <p:cNvPr id="22" name="TextBox 21"/>
          <p:cNvSpPr txBox="1"/>
          <p:nvPr/>
        </p:nvSpPr>
        <p:spPr>
          <a:xfrm>
            <a:off x="876300" y="4488688"/>
            <a:ext cx="3035300" cy="487680"/>
          </a:xfrm>
          <a:prstGeom prst="rect">
            <a:avLst/>
          </a:prstGeom>
          <a:noFill/>
        </p:spPr>
        <p:txBody>
          <a:bodyPr wrap="square" lIns="0" rIns="0" tIns="0" bIns="0" anchor="t">
            <a:spAutoFit/>
          </a:bodyPr>
          <a:lstStyle/>
          <a:p>
            <a:pPr algn="l">
              <a:lnSpc>
                <a:spcPct val="128000"/>
              </a:lnSpc>
            </a:pPr>
            <a:r>
              <a:rPr sz="1000" b="0" i="0">
                <a:solidFill>
                  <a:srgbClr val="5A6B84"/>
                </a:solidFill>
                <a:latin typeface="Calibri"/>
              </a:rPr>
              <a:t>A blocking gate must be overridable. The override becomes the normal path, and the gate stops carrying information.</a:t>
            </a:r>
          </a:p>
        </p:txBody>
      </p:sp>
      <p:sp>
        <p:nvSpPr>
          <p:cNvPr id="23" name="Rounded Rectangle 22"/>
          <p:cNvSpPr/>
          <p:nvPr/>
        </p:nvSpPr>
        <p:spPr>
          <a:xfrm>
            <a:off x="4330700" y="4038600"/>
            <a:ext cx="3517900" cy="1671827"/>
          </a:xfrm>
          <a:prstGeom prst="roundRect">
            <a:avLst>
              <a:gd name="adj" fmla="val 6836"/>
            </a:avLst>
          </a:prstGeom>
          <a:solidFill>
            <a:srgbClr val="F5F9FC"/>
          </a:solidFill>
          <a:ln w="9525">
            <a:solidFill>
              <a:srgbClr val="E4ED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4572000" y="4229100"/>
            <a:ext cx="3035300" cy="170688"/>
          </a:xfrm>
          <a:prstGeom prst="rect">
            <a:avLst/>
          </a:prstGeom>
          <a:noFill/>
        </p:spPr>
        <p:txBody>
          <a:bodyPr wrap="square" lIns="0" rIns="0" tIns="0" bIns="0" anchor="t">
            <a:spAutoFit/>
          </a:bodyPr>
          <a:lstStyle/>
          <a:p>
            <a:pPr algn="l">
              <a:lnSpc>
                <a:spcPct val="112000"/>
              </a:lnSpc>
            </a:pPr>
            <a:r>
              <a:rPr sz="1200" b="1" i="0">
                <a:solidFill>
                  <a:srgbClr val="24354F"/>
                </a:solidFill>
                <a:latin typeface="Calibri"/>
              </a:rPr>
              <a:t>What it costs</a:t>
            </a:r>
          </a:p>
        </p:txBody>
      </p:sp>
      <p:sp>
        <p:nvSpPr>
          <p:cNvPr id="25" name="TextBox 24"/>
          <p:cNvSpPr txBox="1"/>
          <p:nvPr/>
        </p:nvSpPr>
        <p:spPr>
          <a:xfrm>
            <a:off x="4572000" y="4488688"/>
            <a:ext cx="3035300" cy="325120"/>
          </a:xfrm>
          <a:prstGeom prst="rect">
            <a:avLst/>
          </a:prstGeom>
          <a:noFill/>
        </p:spPr>
        <p:txBody>
          <a:bodyPr wrap="square" lIns="0" rIns="0" tIns="0" bIns="0" anchor="t">
            <a:spAutoFit/>
          </a:bodyPr>
          <a:lstStyle/>
          <a:p>
            <a:pPr algn="l">
              <a:lnSpc>
                <a:spcPct val="128000"/>
              </a:lnSpc>
            </a:pPr>
            <a:r>
              <a:rPr sz="1000" b="0" i="0">
                <a:solidFill>
                  <a:srgbClr val="5A6B84"/>
                </a:solidFill>
                <a:latin typeface="Calibri"/>
              </a:rPr>
              <a:t>“Gated” names two mechanisms and must be stated carefully every time — including in this talk.</a:t>
            </a:r>
          </a:p>
        </p:txBody>
      </p:sp>
      <p:sp>
        <p:nvSpPr>
          <p:cNvPr id="26" name="Rounded Rectangle 25"/>
          <p:cNvSpPr/>
          <p:nvPr/>
        </p:nvSpPr>
        <p:spPr>
          <a:xfrm>
            <a:off x="8026400" y="4038600"/>
            <a:ext cx="3517900" cy="1671827"/>
          </a:xfrm>
          <a:prstGeom prst="roundRect">
            <a:avLst>
              <a:gd name="adj" fmla="val 6836"/>
            </a:avLst>
          </a:prstGeom>
          <a:solidFill>
            <a:srgbClr val="F5F9FC"/>
          </a:solidFill>
          <a:ln w="9525">
            <a:solidFill>
              <a:srgbClr val="E4ED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267700" y="4229100"/>
            <a:ext cx="3035300" cy="170688"/>
          </a:xfrm>
          <a:prstGeom prst="rect">
            <a:avLst/>
          </a:prstGeom>
          <a:noFill/>
        </p:spPr>
        <p:txBody>
          <a:bodyPr wrap="square" lIns="0" rIns="0" tIns="0" bIns="0" anchor="t">
            <a:spAutoFit/>
          </a:bodyPr>
          <a:lstStyle/>
          <a:p>
            <a:pPr algn="l">
              <a:lnSpc>
                <a:spcPct val="112000"/>
              </a:lnSpc>
            </a:pPr>
            <a:r>
              <a:rPr sz="1200" b="1" i="0">
                <a:solidFill>
                  <a:srgbClr val="24354F"/>
                </a:solidFill>
                <a:latin typeface="Calibri"/>
              </a:rPr>
              <a:t>What it is not</a:t>
            </a:r>
          </a:p>
        </p:txBody>
      </p:sp>
      <p:sp>
        <p:nvSpPr>
          <p:cNvPr id="28" name="TextBox 27"/>
          <p:cNvSpPr txBox="1"/>
          <p:nvPr/>
        </p:nvSpPr>
        <p:spPr>
          <a:xfrm>
            <a:off x="8267700" y="4488688"/>
            <a:ext cx="3035300" cy="650240"/>
          </a:xfrm>
          <a:prstGeom prst="rect">
            <a:avLst/>
          </a:prstGeom>
          <a:noFill/>
        </p:spPr>
        <p:txBody>
          <a:bodyPr wrap="square" lIns="0" rIns="0" tIns="0" bIns="0" anchor="t">
            <a:spAutoFit/>
          </a:bodyPr>
          <a:lstStyle/>
          <a:p>
            <a:pPr algn="l">
              <a:lnSpc>
                <a:spcPct val="128000"/>
              </a:lnSpc>
            </a:pPr>
            <a:r>
              <a:rPr sz="1000" b="0" i="0">
                <a:solidFill>
                  <a:srgbClr val="5A6B84"/>
                </a:solidFill>
                <a:latin typeface="Calibri"/>
              </a:rPr>
              <a:t>Not a system-wide interlock. The direct operator promotion endpoint can carry an advisory verdict and an attributed override without entering the refinement state machine.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35000" y="6337300"/>
            <a:ext cx="6096000" cy="254000"/>
          </a:xfrm>
          <a:prstGeom prst="rect">
            <a:avLst/>
          </a:prstGeom>
          <a:noFill/>
        </p:spPr>
        <p:txBody>
          <a:bodyPr wrap="square" lIns="0" rIns="0" tIns="0" bIns="0" anchor="t">
            <a:spAutoFit/>
          </a:bodyPr>
          <a:lstStyle/>
          <a:p>
            <a:pPr algn="l">
              <a:lnSpc>
                <a:spcPct val="122000"/>
              </a:lnSpc>
            </a:pPr>
            <a:r>
              <a:rPr sz="900" b="0" i="0">
                <a:solidFill>
                  <a:srgbClr val="A3B2C4"/>
                </a:solidFill>
                <a:latin typeface="Calibri"/>
              </a:rPr>
              <a:t>CALIBER  ·  A Layered Control Plane for Governed Releases of AI-Agent Resources</a:t>
            </a:r>
          </a:p>
        </p:txBody>
      </p:sp>
      <p:sp>
        <p:nvSpPr>
          <p:cNvPr id="3" name="TextBox 2"/>
          <p:cNvSpPr txBox="1"/>
          <p:nvPr/>
        </p:nvSpPr>
        <p:spPr>
          <a:xfrm>
            <a:off x="10629900" y="6337300"/>
            <a:ext cx="914400" cy="254000"/>
          </a:xfrm>
          <a:prstGeom prst="rect">
            <a:avLst/>
          </a:prstGeom>
          <a:noFill/>
        </p:spPr>
        <p:txBody>
          <a:bodyPr wrap="square" lIns="0" rIns="0" tIns="0" bIns="0" anchor="t">
            <a:spAutoFit/>
          </a:bodyPr>
          <a:lstStyle/>
          <a:p>
            <a:pPr algn="r">
              <a:lnSpc>
                <a:spcPct val="122000"/>
              </a:lnSpc>
            </a:pPr>
            <a:r>
              <a:rPr sz="900" b="0" i="0">
                <a:solidFill>
                  <a:srgbClr val="A3B2C4"/>
                </a:solidFill>
                <a:latin typeface="Calibri"/>
              </a:rPr>
              <a:t>15</a:t>
            </a:r>
          </a:p>
        </p:txBody>
      </p:sp>
      <p:sp>
        <p:nvSpPr>
          <p:cNvPr id="4" name="TextBox 3"/>
          <p:cNvSpPr txBox="1"/>
          <p:nvPr/>
        </p:nvSpPr>
        <p:spPr>
          <a:xfrm>
            <a:off x="635000" y="381000"/>
            <a:ext cx="10909300" cy="228600"/>
          </a:xfrm>
          <a:prstGeom prst="rect">
            <a:avLst/>
          </a:prstGeom>
          <a:noFill/>
        </p:spPr>
        <p:txBody>
          <a:bodyPr wrap="square" lIns="0" rIns="0" tIns="0" bIns="0" anchor="t">
            <a:spAutoFit/>
          </a:bodyPr>
          <a:lstStyle/>
          <a:p>
            <a:pPr algn="l">
              <a:lnSpc>
                <a:spcPct val="122000"/>
              </a:lnSpc>
            </a:pPr>
            <a:r>
              <a:rPr sz="1050" b="1" i="0">
                <a:solidFill>
                  <a:srgbClr val="1F8A99"/>
                </a:solidFill>
                <a:latin typeface="Calibri"/>
              </a:rPr>
              <a:t>Capabilities  ·  §7.1–7.2  ·  R2 and R3</a:t>
            </a:r>
          </a:p>
        </p:txBody>
      </p:sp>
      <p:sp>
        <p:nvSpPr>
          <p:cNvPr id="5" name="TextBox 4"/>
          <p:cNvSpPr txBox="1"/>
          <p:nvPr/>
        </p:nvSpPr>
        <p:spPr>
          <a:xfrm>
            <a:off x="635000" y="647700"/>
            <a:ext cx="10909300" cy="495300"/>
          </a:xfrm>
          <a:prstGeom prst="rect">
            <a:avLst/>
          </a:prstGeom>
          <a:noFill/>
        </p:spPr>
        <p:txBody>
          <a:bodyPr wrap="square" lIns="0" rIns="0" tIns="0" bIns="0" anchor="t">
            <a:spAutoFit/>
          </a:bodyPr>
          <a:lstStyle/>
          <a:p>
            <a:pPr algn="l">
              <a:lnSpc>
                <a:spcPct val="108000"/>
              </a:lnSpc>
            </a:pPr>
            <a:r>
              <a:rPr sz="2600" b="1" i="0">
                <a:solidFill>
                  <a:srgbClr val="0E1E3A"/>
                </a:solidFill>
                <a:latin typeface="Calibri"/>
              </a:rPr>
              <a:t>Late binding: the client resolves which version to run</a:t>
            </a:r>
          </a:p>
        </p:txBody>
      </p:sp>
      <p:sp>
        <p:nvSpPr>
          <p:cNvPr id="6" name="TextBox 5"/>
          <p:cNvSpPr txBox="1"/>
          <p:nvPr/>
        </p:nvSpPr>
        <p:spPr>
          <a:xfrm>
            <a:off x="635000" y="1168400"/>
            <a:ext cx="10909300" cy="431800"/>
          </a:xfrm>
          <a:prstGeom prst="rect">
            <a:avLst/>
          </a:prstGeom>
          <a:noFill/>
        </p:spPr>
        <p:txBody>
          <a:bodyPr wrap="square" lIns="0" rIns="0" tIns="0" bIns="0" anchor="t">
            <a:spAutoFit/>
          </a:bodyPr>
          <a:lstStyle/>
          <a:p>
            <a:pPr algn="l">
              <a:lnSpc>
                <a:spcPct val="130000"/>
              </a:lnSpc>
            </a:pPr>
            <a:r>
              <a:rPr sz="1250" b="0" i="0">
                <a:solidFill>
                  <a:srgbClr val="24354F"/>
                </a:solidFill>
                <a:latin typeface="Calibri"/>
              </a:rPr>
              <a:t>An agent loads @prod; the platform decides what @prod points to. A remediation therefore requires no client deployment.</a:t>
            </a:r>
          </a:p>
        </p:txBody>
      </p:sp>
      <p:sp>
        <p:nvSpPr>
          <p:cNvPr id="7" name="Rounded Rectangle 6"/>
          <p:cNvSpPr/>
          <p:nvPr/>
        </p:nvSpPr>
        <p:spPr>
          <a:xfrm>
            <a:off x="635000" y="1701800"/>
            <a:ext cx="2603500" cy="2133600"/>
          </a:xfrm>
          <a:prstGeom prst="roundRect">
            <a:avLst>
              <a:gd name="adj" fmla="val 5357"/>
            </a:avLst>
          </a:prstGeom>
          <a:solidFill>
            <a:srgbClr val="E8F4F5"/>
          </a:solidFill>
          <a:ln w="9525">
            <a:solidFill>
              <a:srgbClr val="CFE4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50900" y="1892300"/>
            <a:ext cx="304800" cy="304800"/>
          </a:xfrm>
          <a:prstGeom prst="ellipse">
            <a:avLst/>
          </a:prstGeom>
          <a:solidFill>
            <a:srgbClr val="1F8A99"/>
          </a:solidFill>
          <a:ln w="12700">
            <a:solidFill>
              <a:srgbClr val="1F8A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900" y="1958022"/>
            <a:ext cx="304800" cy="186690"/>
          </a:xfrm>
          <a:prstGeom prst="rect">
            <a:avLst/>
          </a:prstGeom>
          <a:noFill/>
        </p:spPr>
        <p:txBody>
          <a:bodyPr wrap="square" lIns="0" rIns="0" tIns="0" bIns="0" anchor="t">
            <a:spAutoFit/>
          </a:bodyPr>
          <a:lstStyle/>
          <a:p>
            <a:pPr algn="ctr">
              <a:lnSpc>
                <a:spcPct val="122000"/>
              </a:lnSpc>
            </a:pPr>
            <a:r>
              <a:rPr sz="1050" b="1" i="0">
                <a:solidFill>
                  <a:srgbClr val="FFFFFF"/>
                </a:solidFill>
                <a:latin typeface="Calibri"/>
              </a:rPr>
              <a:t>1</a:t>
            </a:r>
          </a:p>
        </p:txBody>
      </p:sp>
      <p:sp>
        <p:nvSpPr>
          <p:cNvPr id="10" name="TextBox 9"/>
          <p:cNvSpPr txBox="1"/>
          <p:nvPr/>
        </p:nvSpPr>
        <p:spPr>
          <a:xfrm>
            <a:off x="1244600" y="1892300"/>
            <a:ext cx="1752600" cy="341376"/>
          </a:xfrm>
          <a:prstGeom prst="rect">
            <a:avLst/>
          </a:prstGeom>
          <a:noFill/>
        </p:spPr>
        <p:txBody>
          <a:bodyPr wrap="square" lIns="0" rIns="0" tIns="0" bIns="0" anchor="t">
            <a:spAutoFit/>
          </a:bodyPr>
          <a:lstStyle/>
          <a:p>
            <a:pPr algn="l">
              <a:lnSpc>
                <a:spcPct val="112000"/>
              </a:lnSpc>
            </a:pPr>
            <a:r>
              <a:rPr sz="1200" b="1" i="0">
                <a:solidFill>
                  <a:srgbClr val="1F8A99"/>
                </a:solidFill>
                <a:latin typeface="Calibri"/>
              </a:rPr>
              <a:t>Remediation decouples from deployment</a:t>
            </a:r>
          </a:p>
        </p:txBody>
      </p:sp>
      <p:sp>
        <p:nvSpPr>
          <p:cNvPr id="11" name="TextBox 10"/>
          <p:cNvSpPr txBox="1"/>
          <p:nvPr/>
        </p:nvSpPr>
        <p:spPr>
          <a:xfrm>
            <a:off x="876300" y="2322576"/>
            <a:ext cx="2120900" cy="975360"/>
          </a:xfrm>
          <a:prstGeom prst="rect">
            <a:avLst/>
          </a:prstGeom>
          <a:noFill/>
        </p:spPr>
        <p:txBody>
          <a:bodyPr wrap="square" lIns="0" rIns="0" tIns="0" bIns="0" anchor="t">
            <a:spAutoFit/>
          </a:bodyPr>
          <a:lstStyle/>
          <a:p>
            <a:pPr algn="l">
              <a:lnSpc>
                <a:spcPct val="128000"/>
              </a:lnSpc>
            </a:pPr>
            <a:r>
              <a:rPr sz="1000" b="0" i="0">
                <a:solidFill>
                  <a:srgbClr val="24354F"/>
                </a:solidFill>
                <a:latin typeface="Calibri"/>
              </a:rPr>
              <a:t>The bound on time-to-fix becomes the refinement path plus operator attention, not the CI pipeline. Appendix C specifies how to measure this. We have not measured it.</a:t>
            </a:r>
          </a:p>
        </p:txBody>
      </p:sp>
      <p:sp>
        <p:nvSpPr>
          <p:cNvPr id="12" name="Rounded Rectangle 11"/>
          <p:cNvSpPr/>
          <p:nvPr/>
        </p:nvSpPr>
        <p:spPr>
          <a:xfrm>
            <a:off x="3403600" y="1701800"/>
            <a:ext cx="2603500" cy="2133600"/>
          </a:xfrm>
          <a:prstGeom prst="roundRect">
            <a:avLst>
              <a:gd name="adj" fmla="val 5357"/>
            </a:avLst>
          </a:prstGeom>
          <a:solidFill>
            <a:srgbClr val="E8F4F5"/>
          </a:solidFill>
          <a:ln w="9525">
            <a:solidFill>
              <a:srgbClr val="CFE4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3619500" y="1892300"/>
            <a:ext cx="304800" cy="304800"/>
          </a:xfrm>
          <a:prstGeom prst="ellipse">
            <a:avLst/>
          </a:prstGeom>
          <a:solidFill>
            <a:srgbClr val="1F8A99"/>
          </a:solidFill>
          <a:ln w="12700">
            <a:solidFill>
              <a:srgbClr val="1F8A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19500" y="1958022"/>
            <a:ext cx="304800" cy="186690"/>
          </a:xfrm>
          <a:prstGeom prst="rect">
            <a:avLst/>
          </a:prstGeom>
          <a:noFill/>
        </p:spPr>
        <p:txBody>
          <a:bodyPr wrap="square" lIns="0" rIns="0" tIns="0" bIns="0" anchor="t">
            <a:spAutoFit/>
          </a:bodyPr>
          <a:lstStyle/>
          <a:p>
            <a:pPr algn="ctr">
              <a:lnSpc>
                <a:spcPct val="122000"/>
              </a:lnSpc>
            </a:pPr>
            <a:r>
              <a:rPr sz="1050" b="1" i="0">
                <a:solidFill>
                  <a:srgbClr val="FFFFFF"/>
                </a:solidFill>
                <a:latin typeface="Calibri"/>
              </a:rPr>
              <a:t>2</a:t>
            </a:r>
          </a:p>
        </p:txBody>
      </p:sp>
      <p:sp>
        <p:nvSpPr>
          <p:cNvPr id="15" name="TextBox 14"/>
          <p:cNvSpPr txBox="1"/>
          <p:nvPr/>
        </p:nvSpPr>
        <p:spPr>
          <a:xfrm>
            <a:off x="4013200" y="1892300"/>
            <a:ext cx="1752600" cy="341376"/>
          </a:xfrm>
          <a:prstGeom prst="rect">
            <a:avLst/>
          </a:prstGeom>
          <a:noFill/>
        </p:spPr>
        <p:txBody>
          <a:bodyPr wrap="square" lIns="0" rIns="0" tIns="0" bIns="0" anchor="t">
            <a:spAutoFit/>
          </a:bodyPr>
          <a:lstStyle/>
          <a:p>
            <a:pPr algn="l">
              <a:lnSpc>
                <a:spcPct val="112000"/>
              </a:lnSpc>
            </a:pPr>
            <a:r>
              <a:rPr sz="1200" b="1" i="0">
                <a:solidFill>
                  <a:srgbClr val="1F8A99"/>
                </a:solidFill>
                <a:latin typeface="Calibri"/>
              </a:rPr>
              <a:t>Rollback is a pointer move</a:t>
            </a:r>
          </a:p>
        </p:txBody>
      </p:sp>
      <p:sp>
        <p:nvSpPr>
          <p:cNvPr id="16" name="TextBox 15"/>
          <p:cNvSpPr txBox="1"/>
          <p:nvPr/>
        </p:nvSpPr>
        <p:spPr>
          <a:xfrm>
            <a:off x="3644900" y="2322576"/>
            <a:ext cx="2120900" cy="812800"/>
          </a:xfrm>
          <a:prstGeom prst="rect">
            <a:avLst/>
          </a:prstGeom>
          <a:noFill/>
        </p:spPr>
        <p:txBody>
          <a:bodyPr wrap="square" lIns="0" rIns="0" tIns="0" bIns="0" anchor="t">
            <a:spAutoFit/>
          </a:bodyPr>
          <a:lstStyle/>
          <a:p>
            <a:pPr algn="l">
              <a:lnSpc>
                <a:spcPct val="128000"/>
              </a:lnSpc>
            </a:pPr>
            <a:r>
              <a:rPr sz="1000" b="0" i="0">
                <a:solidFill>
                  <a:srgbClr val="24354F"/>
                </a:solidFill>
                <a:latin typeface="Calibri"/>
              </a:rPr>
              <a:t>A bounded database and registry operation, and the target restored is the one the release recorded — not one inferred as “the previous number.”</a:t>
            </a:r>
          </a:p>
        </p:txBody>
      </p:sp>
      <p:sp>
        <p:nvSpPr>
          <p:cNvPr id="17" name="Rounded Rectangle 16"/>
          <p:cNvSpPr/>
          <p:nvPr/>
        </p:nvSpPr>
        <p:spPr>
          <a:xfrm>
            <a:off x="6172200" y="1701800"/>
            <a:ext cx="2603500" cy="2133600"/>
          </a:xfrm>
          <a:prstGeom prst="roundRect">
            <a:avLst>
              <a:gd name="adj" fmla="val 5357"/>
            </a:avLst>
          </a:prstGeom>
          <a:solidFill>
            <a:srgbClr val="E8F4F5"/>
          </a:solidFill>
          <a:ln w="9525">
            <a:solidFill>
              <a:srgbClr val="CFE4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388100" y="1892300"/>
            <a:ext cx="304800" cy="304800"/>
          </a:xfrm>
          <a:prstGeom prst="ellipse">
            <a:avLst/>
          </a:prstGeom>
          <a:solidFill>
            <a:srgbClr val="1F8A99"/>
          </a:solidFill>
          <a:ln w="12700">
            <a:solidFill>
              <a:srgbClr val="1F8A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88100" y="1958022"/>
            <a:ext cx="304800" cy="186690"/>
          </a:xfrm>
          <a:prstGeom prst="rect">
            <a:avLst/>
          </a:prstGeom>
          <a:noFill/>
        </p:spPr>
        <p:txBody>
          <a:bodyPr wrap="square" lIns="0" rIns="0" tIns="0" bIns="0" anchor="t">
            <a:spAutoFit/>
          </a:bodyPr>
          <a:lstStyle/>
          <a:p>
            <a:pPr algn="ctr">
              <a:lnSpc>
                <a:spcPct val="122000"/>
              </a:lnSpc>
            </a:pPr>
            <a:r>
              <a:rPr sz="1050" b="1" i="0">
                <a:solidFill>
                  <a:srgbClr val="FFFFFF"/>
                </a:solidFill>
                <a:latin typeface="Calibri"/>
              </a:rPr>
              <a:t>3</a:t>
            </a:r>
          </a:p>
        </p:txBody>
      </p:sp>
      <p:sp>
        <p:nvSpPr>
          <p:cNvPr id="20" name="TextBox 19"/>
          <p:cNvSpPr txBox="1"/>
          <p:nvPr/>
        </p:nvSpPr>
        <p:spPr>
          <a:xfrm>
            <a:off x="6781800" y="1892300"/>
            <a:ext cx="1752600" cy="341376"/>
          </a:xfrm>
          <a:prstGeom prst="rect">
            <a:avLst/>
          </a:prstGeom>
          <a:noFill/>
        </p:spPr>
        <p:txBody>
          <a:bodyPr wrap="square" lIns="0" rIns="0" tIns="0" bIns="0" anchor="t">
            <a:spAutoFit/>
          </a:bodyPr>
          <a:lstStyle/>
          <a:p>
            <a:pPr algn="l">
              <a:lnSpc>
                <a:spcPct val="112000"/>
              </a:lnSpc>
            </a:pPr>
            <a:r>
              <a:rPr sz="1200" b="1" i="0">
                <a:solidFill>
                  <a:srgbClr val="1F8A99"/>
                </a:solidFill>
                <a:latin typeface="Calibri"/>
              </a:rPr>
              <a:t>Authoring cannot move the pointer</a:t>
            </a:r>
          </a:p>
        </p:txBody>
      </p:sp>
      <p:sp>
        <p:nvSpPr>
          <p:cNvPr id="21" name="TextBox 20"/>
          <p:cNvSpPr txBox="1"/>
          <p:nvPr/>
        </p:nvSpPr>
        <p:spPr>
          <a:xfrm>
            <a:off x="6413500" y="2322576"/>
            <a:ext cx="2120900" cy="812800"/>
          </a:xfrm>
          <a:prstGeom prst="rect">
            <a:avLst/>
          </a:prstGeom>
          <a:noFill/>
        </p:spPr>
        <p:txBody>
          <a:bodyPr wrap="square" lIns="0" rIns="0" tIns="0" bIns="0" anchor="t">
            <a:spAutoFit/>
          </a:bodyPr>
          <a:lstStyle/>
          <a:p>
            <a:pPr algn="l">
              <a:lnSpc>
                <a:spcPct val="128000"/>
              </a:lnSpc>
            </a:pPr>
            <a:r>
              <a:rPr sz="1000" b="0" i="0">
                <a:solidFill>
                  <a:srgbClr val="24354F"/>
                </a:solidFill>
                <a:latin typeface="Calibri"/>
              </a:rPr>
              <a:t>Registering a version is non-live: the shared registration helper rejects a request that would also set an alias and directs the caller to the release service.</a:t>
            </a:r>
          </a:p>
        </p:txBody>
      </p:sp>
      <p:sp>
        <p:nvSpPr>
          <p:cNvPr id="22" name="Rounded Rectangle 21"/>
          <p:cNvSpPr/>
          <p:nvPr/>
        </p:nvSpPr>
        <p:spPr>
          <a:xfrm>
            <a:off x="8940800" y="1701800"/>
            <a:ext cx="2603500" cy="2133600"/>
          </a:xfrm>
          <a:prstGeom prst="roundRect">
            <a:avLst>
              <a:gd name="adj" fmla="val 5357"/>
            </a:avLst>
          </a:prstGeom>
          <a:solidFill>
            <a:srgbClr val="E8F4F5"/>
          </a:solidFill>
          <a:ln w="9525">
            <a:solidFill>
              <a:srgbClr val="CFE4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9156700" y="1892300"/>
            <a:ext cx="304800" cy="304800"/>
          </a:xfrm>
          <a:prstGeom prst="ellipse">
            <a:avLst/>
          </a:prstGeom>
          <a:solidFill>
            <a:srgbClr val="1F8A99"/>
          </a:solidFill>
          <a:ln w="12700">
            <a:solidFill>
              <a:srgbClr val="1F8A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56700" y="1958022"/>
            <a:ext cx="304800" cy="186690"/>
          </a:xfrm>
          <a:prstGeom prst="rect">
            <a:avLst/>
          </a:prstGeom>
          <a:noFill/>
        </p:spPr>
        <p:txBody>
          <a:bodyPr wrap="square" lIns="0" rIns="0" tIns="0" bIns="0" anchor="t">
            <a:spAutoFit/>
          </a:bodyPr>
          <a:lstStyle/>
          <a:p>
            <a:pPr algn="ctr">
              <a:lnSpc>
                <a:spcPct val="122000"/>
              </a:lnSpc>
            </a:pPr>
            <a:r>
              <a:rPr sz="1050" b="1" i="0">
                <a:solidFill>
                  <a:srgbClr val="FFFFFF"/>
                </a:solidFill>
                <a:latin typeface="Calibri"/>
              </a:rPr>
              <a:t>4</a:t>
            </a:r>
          </a:p>
        </p:txBody>
      </p:sp>
      <p:sp>
        <p:nvSpPr>
          <p:cNvPr id="25" name="TextBox 24"/>
          <p:cNvSpPr txBox="1"/>
          <p:nvPr/>
        </p:nvSpPr>
        <p:spPr>
          <a:xfrm>
            <a:off x="9550400" y="1892300"/>
            <a:ext cx="1752600" cy="341376"/>
          </a:xfrm>
          <a:prstGeom prst="rect">
            <a:avLst/>
          </a:prstGeom>
          <a:noFill/>
        </p:spPr>
        <p:txBody>
          <a:bodyPr wrap="square" lIns="0" rIns="0" tIns="0" bIns="0" anchor="t">
            <a:spAutoFit/>
          </a:bodyPr>
          <a:lstStyle/>
          <a:p>
            <a:pPr algn="l">
              <a:lnSpc>
                <a:spcPct val="112000"/>
              </a:lnSpc>
            </a:pPr>
            <a:r>
              <a:rPr sz="1200" b="1" i="0">
                <a:solidFill>
                  <a:srgbClr val="1F8A99"/>
                </a:solidFill>
                <a:latin typeface="Calibri"/>
              </a:rPr>
              <a:t>Authority is scope-checked</a:t>
            </a:r>
          </a:p>
        </p:txBody>
      </p:sp>
      <p:sp>
        <p:nvSpPr>
          <p:cNvPr id="26" name="TextBox 25"/>
          <p:cNvSpPr txBox="1"/>
          <p:nvPr/>
        </p:nvSpPr>
        <p:spPr>
          <a:xfrm>
            <a:off x="9182100" y="2322576"/>
            <a:ext cx="2120900" cy="975360"/>
          </a:xfrm>
          <a:prstGeom prst="rect">
            <a:avLst/>
          </a:prstGeom>
          <a:noFill/>
        </p:spPr>
        <p:txBody>
          <a:bodyPr wrap="square" lIns="0" rIns="0" tIns="0" bIns="0" anchor="t">
            <a:spAutoFit/>
          </a:bodyPr>
          <a:lstStyle/>
          <a:p>
            <a:pPr algn="l">
              <a:lnSpc>
                <a:spcPct val="128000"/>
              </a:lnSpc>
            </a:pPr>
            <a:r>
              <a:rPr sz="1000" b="0" i="0">
                <a:solidFill>
                  <a:srgbClr val="24354F"/>
                </a:solidFill>
                <a:latin typeface="Calibri"/>
              </a:rPr>
              <a:t>Rotating an alias requires the operator or admin scope. This is not separation of duties: nothing requires the applier to differ from the author, and we no longer call it that.</a:t>
            </a:r>
          </a:p>
        </p:txBody>
      </p:sp>
      <p:sp>
        <p:nvSpPr>
          <p:cNvPr id="27" name="Rounded Rectangle 26"/>
          <p:cNvSpPr/>
          <p:nvPr/>
        </p:nvSpPr>
        <p:spPr>
          <a:xfrm>
            <a:off x="635000" y="4013200"/>
            <a:ext cx="5353050" cy="1955800"/>
          </a:xfrm>
          <a:prstGeom prst="roundRect">
            <a:avLst>
              <a:gd name="adj" fmla="val 5844"/>
            </a:avLst>
          </a:prstGeom>
          <a:solidFill>
            <a:srgbClr val="F5F9FC"/>
          </a:solidFill>
          <a:ln w="9525">
            <a:solidFill>
              <a:srgbClr val="E4ED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76300" y="4191000"/>
            <a:ext cx="4870450" cy="254000"/>
          </a:xfrm>
          <a:prstGeom prst="rect">
            <a:avLst/>
          </a:prstGeom>
          <a:noFill/>
        </p:spPr>
        <p:txBody>
          <a:bodyPr wrap="square" lIns="0" rIns="0" tIns="0" bIns="0" anchor="t">
            <a:spAutoFit/>
          </a:bodyPr>
          <a:lstStyle/>
          <a:p>
            <a:pPr algn="l">
              <a:lnSpc>
                <a:spcPct val="122000"/>
              </a:lnSpc>
            </a:pPr>
            <a:r>
              <a:rPr sz="1250" b="1" i="0">
                <a:solidFill>
                  <a:srgbClr val="24354F"/>
                </a:solidFill>
                <a:latin typeface="Calibri"/>
              </a:rPr>
              <a:t>R3: evidence bound to versions</a:t>
            </a:r>
          </a:p>
        </p:txBody>
      </p:sp>
      <p:sp>
        <p:nvSpPr>
          <p:cNvPr id="29" name="TextBox 28"/>
          <p:cNvSpPr txBox="1"/>
          <p:nvPr/>
        </p:nvSpPr>
        <p:spPr>
          <a:xfrm>
            <a:off x="876300" y="4572000"/>
            <a:ext cx="4870450" cy="1219200"/>
          </a:xfrm>
          <a:prstGeom prst="rect">
            <a:avLst/>
          </a:prstGeom>
          <a:noFill/>
        </p:spPr>
        <p:txBody>
          <a:bodyPr wrap="square" lIns="0" rIns="0" tIns="0" bIns="0" anchor="t">
            <a:spAutoFit/>
          </a:bodyPr>
          <a:lstStyle/>
          <a:p>
            <a:pPr algn="l">
              <a:lnSpc>
                <a:spcPct val="126000"/>
              </a:lnSpc>
            </a:pPr>
            <a:r>
              <a:rPr sz="1000" b="0" i="0">
                <a:solidFill>
                  <a:srgbClr val="5A6B84"/>
                </a:solidFill>
                <a:latin typeface="Calibri"/>
              </a:rPr>
              <a:t>A score in a report tells you a number; a score attached to a version tells you what you knew when you shipped. CALIBER binds per-dimension scores, the corpus identity and version, the diagnosis, the selected optimizer, and the gate decision to the candidate, and mints a provenance anchor at release.</a:t>
            </a:r>
          </a:p>
        </p:txBody>
      </p:sp>
      <p:sp>
        <p:nvSpPr>
          <p:cNvPr id="30" name="Rounded Rectangle 29"/>
          <p:cNvSpPr/>
          <p:nvPr/>
        </p:nvSpPr>
        <p:spPr>
          <a:xfrm>
            <a:off x="6191250" y="4013200"/>
            <a:ext cx="5353050" cy="1955800"/>
          </a:xfrm>
          <a:prstGeom prst="roundRect">
            <a:avLst>
              <a:gd name="adj" fmla="val 5844"/>
            </a:avLst>
          </a:prstGeom>
          <a:solidFill>
            <a:srgbClr val="FBF0EC"/>
          </a:solidFill>
          <a:ln w="9525">
            <a:solidFill>
              <a:srgbClr val="EFDC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432550" y="4191000"/>
            <a:ext cx="4870450" cy="254000"/>
          </a:xfrm>
          <a:prstGeom prst="rect">
            <a:avLst/>
          </a:prstGeom>
          <a:noFill/>
        </p:spPr>
        <p:txBody>
          <a:bodyPr wrap="square" lIns="0" rIns="0" tIns="0" bIns="0" anchor="t">
            <a:spAutoFit/>
          </a:bodyPr>
          <a:lstStyle/>
          <a:p>
            <a:pPr algn="l">
              <a:lnSpc>
                <a:spcPct val="122000"/>
              </a:lnSpc>
            </a:pPr>
            <a:r>
              <a:rPr sz="1250" b="1" i="0">
                <a:solidFill>
                  <a:srgbClr val="A93B2B"/>
                </a:solidFill>
                <a:latin typeface="Calibri"/>
              </a:rPr>
              <a:t>The caveat indirection carries</a:t>
            </a:r>
          </a:p>
        </p:txBody>
      </p:sp>
      <p:sp>
        <p:nvSpPr>
          <p:cNvPr id="32" name="TextBox 31"/>
          <p:cNvSpPr txBox="1"/>
          <p:nvPr/>
        </p:nvSpPr>
        <p:spPr>
          <a:xfrm>
            <a:off x="6432550" y="4572000"/>
            <a:ext cx="4870450" cy="1219200"/>
          </a:xfrm>
          <a:prstGeom prst="rect">
            <a:avLst/>
          </a:prstGeom>
          <a:noFill/>
        </p:spPr>
        <p:txBody>
          <a:bodyPr wrap="square" lIns="0" rIns="0" tIns="0" bIns="0" anchor="t">
            <a:spAutoFit/>
          </a:bodyPr>
          <a:lstStyle/>
          <a:p>
            <a:pPr algn="l">
              <a:lnSpc>
                <a:spcPct val="126000"/>
              </a:lnSpc>
            </a:pPr>
            <a:r>
              <a:rPr sz="1000" b="0" i="0">
                <a:solidFill>
                  <a:srgbClr val="5C4034"/>
                </a:solidFill>
                <a:latin typeface="Calibri"/>
              </a:rPr>
              <a:t>A live target is mutable global state that determines production behaviour, so its integrity becomes critical. A rotation on the governed path is scope-checked, audited and checkpointed — but that answer does not yet cover every route that can perform one.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35000" y="6337300"/>
            <a:ext cx="6096000" cy="254000"/>
          </a:xfrm>
          <a:prstGeom prst="rect">
            <a:avLst/>
          </a:prstGeom>
          <a:noFill/>
        </p:spPr>
        <p:txBody>
          <a:bodyPr wrap="square" lIns="0" rIns="0" tIns="0" bIns="0" anchor="t">
            <a:spAutoFit/>
          </a:bodyPr>
          <a:lstStyle/>
          <a:p>
            <a:pPr algn="l">
              <a:lnSpc>
                <a:spcPct val="122000"/>
              </a:lnSpc>
            </a:pPr>
            <a:r>
              <a:rPr sz="900" b="0" i="0">
                <a:solidFill>
                  <a:srgbClr val="A3B2C4"/>
                </a:solidFill>
                <a:latin typeface="Calibri"/>
              </a:rPr>
              <a:t>CALIBER  ·  A Layered Control Plane for Governed Releases of AI-Agent Resources</a:t>
            </a:r>
          </a:p>
        </p:txBody>
      </p:sp>
      <p:sp>
        <p:nvSpPr>
          <p:cNvPr id="3" name="TextBox 2"/>
          <p:cNvSpPr txBox="1"/>
          <p:nvPr/>
        </p:nvSpPr>
        <p:spPr>
          <a:xfrm>
            <a:off x="10629900" y="6337300"/>
            <a:ext cx="914400" cy="254000"/>
          </a:xfrm>
          <a:prstGeom prst="rect">
            <a:avLst/>
          </a:prstGeom>
          <a:noFill/>
        </p:spPr>
        <p:txBody>
          <a:bodyPr wrap="square" lIns="0" rIns="0" tIns="0" bIns="0" anchor="t">
            <a:spAutoFit/>
          </a:bodyPr>
          <a:lstStyle/>
          <a:p>
            <a:pPr algn="r">
              <a:lnSpc>
                <a:spcPct val="122000"/>
              </a:lnSpc>
            </a:pPr>
            <a:r>
              <a:rPr sz="900" b="0" i="0">
                <a:solidFill>
                  <a:srgbClr val="A3B2C4"/>
                </a:solidFill>
                <a:latin typeface="Calibri"/>
              </a:rPr>
              <a:t>16</a:t>
            </a:r>
          </a:p>
        </p:txBody>
      </p:sp>
      <p:sp>
        <p:nvSpPr>
          <p:cNvPr id="4" name="TextBox 3"/>
          <p:cNvSpPr txBox="1"/>
          <p:nvPr/>
        </p:nvSpPr>
        <p:spPr>
          <a:xfrm>
            <a:off x="635000" y="381000"/>
            <a:ext cx="10909300" cy="228600"/>
          </a:xfrm>
          <a:prstGeom prst="rect">
            <a:avLst/>
          </a:prstGeom>
          <a:noFill/>
        </p:spPr>
        <p:txBody>
          <a:bodyPr wrap="square" lIns="0" rIns="0" tIns="0" bIns="0" anchor="t">
            <a:spAutoFit/>
          </a:bodyPr>
          <a:lstStyle/>
          <a:p>
            <a:pPr algn="l">
              <a:lnSpc>
                <a:spcPct val="122000"/>
              </a:lnSpc>
            </a:pPr>
            <a:r>
              <a:rPr sz="1050" b="1" i="0">
                <a:solidFill>
                  <a:srgbClr val="1F8A99"/>
                </a:solidFill>
                <a:latin typeface="Calibri"/>
              </a:rPr>
              <a:t>The release path  ·  §6 and §9  ·  Algorithm 2</a:t>
            </a:r>
          </a:p>
        </p:txBody>
      </p:sp>
      <p:sp>
        <p:nvSpPr>
          <p:cNvPr id="5" name="TextBox 4"/>
          <p:cNvSpPr txBox="1"/>
          <p:nvPr/>
        </p:nvSpPr>
        <p:spPr>
          <a:xfrm>
            <a:off x="635000" y="647700"/>
            <a:ext cx="10909300" cy="495300"/>
          </a:xfrm>
          <a:prstGeom prst="rect">
            <a:avLst/>
          </a:prstGeom>
          <a:noFill/>
        </p:spPr>
        <p:txBody>
          <a:bodyPr wrap="square" lIns="0" rIns="0" tIns="0" bIns="0" anchor="t">
            <a:spAutoFit/>
          </a:bodyPr>
          <a:lstStyle/>
          <a:p>
            <a:pPr algn="l">
              <a:lnSpc>
                <a:spcPct val="108000"/>
              </a:lnSpc>
            </a:pPr>
            <a:r>
              <a:rPr sz="2600" b="1" i="0">
                <a:solidFill>
                  <a:srgbClr val="0E1E3A"/>
                </a:solidFill>
                <a:latin typeface="Calibri"/>
              </a:rPr>
              <a:t>Intent-first release across a boundary no transaction spans</a:t>
            </a:r>
          </a:p>
        </p:txBody>
      </p:sp>
      <p:sp>
        <p:nvSpPr>
          <p:cNvPr id="6" name="TextBox 5"/>
          <p:cNvSpPr txBox="1"/>
          <p:nvPr/>
        </p:nvSpPr>
        <p:spPr>
          <a:xfrm>
            <a:off x="635000" y="1168400"/>
            <a:ext cx="10909300" cy="431800"/>
          </a:xfrm>
          <a:prstGeom prst="rect">
            <a:avLst/>
          </a:prstGeom>
          <a:noFill/>
        </p:spPr>
        <p:txBody>
          <a:bodyPr wrap="square" lIns="0" rIns="0" tIns="0" bIns="0" anchor="t">
            <a:spAutoFit/>
          </a:bodyPr>
          <a:lstStyle/>
          <a:p>
            <a:pPr algn="l">
              <a:lnSpc>
                <a:spcPct val="130000"/>
              </a:lnSpc>
            </a:pPr>
            <a:r>
              <a:rPr sz="1250" b="0" i="0">
                <a:solidFill>
                  <a:srgbClr val="24354F"/>
                </a:solidFill>
                <a:latin typeface="Calibri"/>
              </a:rPr>
              <a:t>Object-storage writes and external registry effects cannot join the caller's SQL transaction. Naming the two dual-write boundaries is what allows a precise audit guarantee to be stated at all.</a:t>
            </a:r>
          </a:p>
        </p:txBody>
      </p:sp>
      <p:sp>
        <p:nvSpPr>
          <p:cNvPr id="7" name="Rounded Rectangle 6"/>
          <p:cNvSpPr/>
          <p:nvPr/>
        </p:nvSpPr>
        <p:spPr>
          <a:xfrm>
            <a:off x="635000" y="1701800"/>
            <a:ext cx="2603500" cy="1778000"/>
          </a:xfrm>
          <a:prstGeom prst="roundRect">
            <a:avLst>
              <a:gd name="adj" fmla="val 6428"/>
            </a:avLst>
          </a:prstGeom>
          <a:solidFill>
            <a:srgbClr val="E8F4F5"/>
          </a:solidFill>
          <a:ln w="9525">
            <a:solidFill>
              <a:srgbClr val="CFE4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50900" y="1905000"/>
            <a:ext cx="304800" cy="304800"/>
          </a:xfrm>
          <a:prstGeom prst="ellipse">
            <a:avLst/>
          </a:prstGeom>
          <a:solidFill>
            <a:srgbClr val="1F8A99"/>
          </a:solidFill>
          <a:ln w="12700">
            <a:solidFill>
              <a:srgbClr val="1F8A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900" y="1970722"/>
            <a:ext cx="304800" cy="186690"/>
          </a:xfrm>
          <a:prstGeom prst="rect">
            <a:avLst/>
          </a:prstGeom>
          <a:noFill/>
        </p:spPr>
        <p:txBody>
          <a:bodyPr wrap="square" lIns="0" rIns="0" tIns="0" bIns="0" anchor="t">
            <a:spAutoFit/>
          </a:bodyPr>
          <a:lstStyle/>
          <a:p>
            <a:pPr algn="ctr">
              <a:lnSpc>
                <a:spcPct val="122000"/>
              </a:lnSpc>
            </a:pPr>
            <a:r>
              <a:rPr sz="1050" b="1" i="0">
                <a:solidFill>
                  <a:srgbClr val="FFFFFF"/>
                </a:solidFill>
                <a:latin typeface="Calibri"/>
              </a:rPr>
              <a:t>1</a:t>
            </a:r>
          </a:p>
        </p:txBody>
      </p:sp>
      <p:sp>
        <p:nvSpPr>
          <p:cNvPr id="10" name="TextBox 9"/>
          <p:cNvSpPr txBox="1"/>
          <p:nvPr/>
        </p:nvSpPr>
        <p:spPr>
          <a:xfrm>
            <a:off x="1257300" y="1917700"/>
            <a:ext cx="1739900" cy="279400"/>
          </a:xfrm>
          <a:prstGeom prst="rect">
            <a:avLst/>
          </a:prstGeom>
          <a:noFill/>
        </p:spPr>
        <p:txBody>
          <a:bodyPr wrap="square" lIns="0" rIns="0" tIns="0" bIns="0" anchor="t">
            <a:spAutoFit/>
          </a:bodyPr>
          <a:lstStyle/>
          <a:p>
            <a:pPr algn="l">
              <a:lnSpc>
                <a:spcPct val="122000"/>
              </a:lnSpc>
            </a:pPr>
            <a:r>
              <a:rPr sz="1200" b="1" i="0">
                <a:solidFill>
                  <a:srgbClr val="1F8A99"/>
                </a:solidFill>
                <a:latin typeface="Calibri"/>
              </a:rPr>
              <a:t>Durable intent</a:t>
            </a:r>
          </a:p>
        </p:txBody>
      </p:sp>
      <p:sp>
        <p:nvSpPr>
          <p:cNvPr id="11" name="TextBox 10"/>
          <p:cNvSpPr txBox="1"/>
          <p:nvPr/>
        </p:nvSpPr>
        <p:spPr>
          <a:xfrm>
            <a:off x="863600" y="2362200"/>
            <a:ext cx="2146300" cy="939800"/>
          </a:xfrm>
          <a:prstGeom prst="rect">
            <a:avLst/>
          </a:prstGeom>
          <a:noFill/>
        </p:spPr>
        <p:txBody>
          <a:bodyPr wrap="square" lIns="0" rIns="0" tIns="0" bIns="0" anchor="t">
            <a:spAutoFit/>
          </a:bodyPr>
          <a:lstStyle/>
          <a:p>
            <a:pPr algn="l">
              <a:lnSpc>
                <a:spcPct val="126000"/>
              </a:lnSpc>
            </a:pPr>
            <a:r>
              <a:rPr sz="1000" b="0" i="0">
                <a:solidFill>
                  <a:srgbClr val="24354F"/>
                </a:solidFill>
                <a:latin typeface="Calibri"/>
              </a:rPr>
              <a:t>The exact before and after versions are written and committed before the provider is called.</a:t>
            </a:r>
          </a:p>
        </p:txBody>
      </p:sp>
      <p:sp>
        <p:nvSpPr>
          <p:cNvPr id="12" name="TextBox 11"/>
          <p:cNvSpPr txBox="1"/>
          <p:nvPr/>
        </p:nvSpPr>
        <p:spPr>
          <a:xfrm>
            <a:off x="3238500" y="2476500"/>
            <a:ext cx="165100" cy="228600"/>
          </a:xfrm>
          <a:prstGeom prst="rect">
            <a:avLst/>
          </a:prstGeom>
          <a:noFill/>
        </p:spPr>
        <p:txBody>
          <a:bodyPr wrap="square" lIns="0" rIns="0" tIns="0" bIns="0" anchor="t">
            <a:spAutoFit/>
          </a:bodyPr>
          <a:lstStyle/>
          <a:p>
            <a:pPr algn="ctr">
              <a:lnSpc>
                <a:spcPct val="122000"/>
              </a:lnSpc>
            </a:pPr>
            <a:r>
              <a:rPr sz="1300" b="1" i="0">
                <a:solidFill>
                  <a:srgbClr val="56B3BE"/>
                </a:solidFill>
                <a:latin typeface="Calibri"/>
              </a:rPr>
              <a:t>›</a:t>
            </a:r>
          </a:p>
        </p:txBody>
      </p:sp>
      <p:sp>
        <p:nvSpPr>
          <p:cNvPr id="13" name="Rounded Rectangle 12"/>
          <p:cNvSpPr/>
          <p:nvPr/>
        </p:nvSpPr>
        <p:spPr>
          <a:xfrm>
            <a:off x="3403600" y="1701800"/>
            <a:ext cx="2603500" cy="1778000"/>
          </a:xfrm>
          <a:prstGeom prst="roundRect">
            <a:avLst>
              <a:gd name="adj" fmla="val 6428"/>
            </a:avLst>
          </a:prstGeom>
          <a:solidFill>
            <a:srgbClr val="E8F4F5"/>
          </a:solidFill>
          <a:ln w="9525">
            <a:solidFill>
              <a:srgbClr val="CFE4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619500" y="1905000"/>
            <a:ext cx="304800" cy="304800"/>
          </a:xfrm>
          <a:prstGeom prst="ellipse">
            <a:avLst/>
          </a:prstGeom>
          <a:solidFill>
            <a:srgbClr val="1F8A99"/>
          </a:solidFill>
          <a:ln w="12700">
            <a:solidFill>
              <a:srgbClr val="1F8A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19500" y="1970722"/>
            <a:ext cx="304800" cy="186690"/>
          </a:xfrm>
          <a:prstGeom prst="rect">
            <a:avLst/>
          </a:prstGeom>
          <a:noFill/>
        </p:spPr>
        <p:txBody>
          <a:bodyPr wrap="square" lIns="0" rIns="0" tIns="0" bIns="0" anchor="t">
            <a:spAutoFit/>
          </a:bodyPr>
          <a:lstStyle/>
          <a:p>
            <a:pPr algn="ctr">
              <a:lnSpc>
                <a:spcPct val="122000"/>
              </a:lnSpc>
            </a:pPr>
            <a:r>
              <a:rPr sz="1050" b="1" i="0">
                <a:solidFill>
                  <a:srgbClr val="FFFFFF"/>
                </a:solidFill>
                <a:latin typeface="Calibri"/>
              </a:rPr>
              <a:t>2</a:t>
            </a:r>
          </a:p>
        </p:txBody>
      </p:sp>
      <p:sp>
        <p:nvSpPr>
          <p:cNvPr id="16" name="TextBox 15"/>
          <p:cNvSpPr txBox="1"/>
          <p:nvPr/>
        </p:nvSpPr>
        <p:spPr>
          <a:xfrm>
            <a:off x="4025900" y="1917700"/>
            <a:ext cx="1739900" cy="279400"/>
          </a:xfrm>
          <a:prstGeom prst="rect">
            <a:avLst/>
          </a:prstGeom>
          <a:noFill/>
        </p:spPr>
        <p:txBody>
          <a:bodyPr wrap="square" lIns="0" rIns="0" tIns="0" bIns="0" anchor="t">
            <a:spAutoFit/>
          </a:bodyPr>
          <a:lstStyle/>
          <a:p>
            <a:pPr algn="l">
              <a:lnSpc>
                <a:spcPct val="122000"/>
              </a:lnSpc>
            </a:pPr>
            <a:r>
              <a:rPr sz="1200" b="1" i="0">
                <a:solidFill>
                  <a:srgbClr val="1F8A99"/>
                </a:solidFill>
                <a:latin typeface="Calibri"/>
              </a:rPr>
              <a:t>Idempotent operation</a:t>
            </a:r>
          </a:p>
        </p:txBody>
      </p:sp>
      <p:sp>
        <p:nvSpPr>
          <p:cNvPr id="17" name="TextBox 16"/>
          <p:cNvSpPr txBox="1"/>
          <p:nvPr/>
        </p:nvSpPr>
        <p:spPr>
          <a:xfrm>
            <a:off x="3632200" y="2362200"/>
            <a:ext cx="2146300" cy="939800"/>
          </a:xfrm>
          <a:prstGeom prst="rect">
            <a:avLst/>
          </a:prstGeom>
          <a:noFill/>
        </p:spPr>
        <p:txBody>
          <a:bodyPr wrap="square" lIns="0" rIns="0" tIns="0" bIns="0" anchor="t">
            <a:spAutoFit/>
          </a:bodyPr>
          <a:lstStyle/>
          <a:p>
            <a:pPr algn="l">
              <a:lnSpc>
                <a:spcPct val="126000"/>
              </a:lnSpc>
            </a:pPr>
            <a:r>
              <a:rPr sz="1000" b="0" i="0">
                <a:solidFill>
                  <a:srgbClr val="24354F"/>
                </a:solidFill>
                <a:latin typeface="Calibri"/>
              </a:rPr>
              <a:t>The provider call is safe to repeat, so a retry after an ambiguous failure is not a second effect.</a:t>
            </a:r>
          </a:p>
        </p:txBody>
      </p:sp>
      <p:sp>
        <p:nvSpPr>
          <p:cNvPr id="18" name="TextBox 17"/>
          <p:cNvSpPr txBox="1"/>
          <p:nvPr/>
        </p:nvSpPr>
        <p:spPr>
          <a:xfrm>
            <a:off x="6007100" y="2476500"/>
            <a:ext cx="165100" cy="228600"/>
          </a:xfrm>
          <a:prstGeom prst="rect">
            <a:avLst/>
          </a:prstGeom>
          <a:noFill/>
        </p:spPr>
        <p:txBody>
          <a:bodyPr wrap="square" lIns="0" rIns="0" tIns="0" bIns="0" anchor="t">
            <a:spAutoFit/>
          </a:bodyPr>
          <a:lstStyle/>
          <a:p>
            <a:pPr algn="ctr">
              <a:lnSpc>
                <a:spcPct val="122000"/>
              </a:lnSpc>
            </a:pPr>
            <a:r>
              <a:rPr sz="1300" b="1" i="0">
                <a:solidFill>
                  <a:srgbClr val="56B3BE"/>
                </a:solidFill>
                <a:latin typeface="Calibri"/>
              </a:rPr>
              <a:t>›</a:t>
            </a:r>
          </a:p>
        </p:txBody>
      </p:sp>
      <p:sp>
        <p:nvSpPr>
          <p:cNvPr id="19" name="Rounded Rectangle 18"/>
          <p:cNvSpPr/>
          <p:nvPr/>
        </p:nvSpPr>
        <p:spPr>
          <a:xfrm>
            <a:off x="6172200" y="1701800"/>
            <a:ext cx="2603500" cy="1778000"/>
          </a:xfrm>
          <a:prstGeom prst="roundRect">
            <a:avLst>
              <a:gd name="adj" fmla="val 6428"/>
            </a:avLst>
          </a:prstGeom>
          <a:solidFill>
            <a:srgbClr val="E8F4F5"/>
          </a:solidFill>
          <a:ln w="9525">
            <a:solidFill>
              <a:srgbClr val="CFE4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6388100" y="1905000"/>
            <a:ext cx="304800" cy="304800"/>
          </a:xfrm>
          <a:prstGeom prst="ellipse">
            <a:avLst/>
          </a:prstGeom>
          <a:solidFill>
            <a:srgbClr val="1F8A99"/>
          </a:solidFill>
          <a:ln w="12700">
            <a:solidFill>
              <a:srgbClr val="1F8A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88100" y="1970722"/>
            <a:ext cx="304800" cy="186690"/>
          </a:xfrm>
          <a:prstGeom prst="rect">
            <a:avLst/>
          </a:prstGeom>
          <a:noFill/>
        </p:spPr>
        <p:txBody>
          <a:bodyPr wrap="square" lIns="0" rIns="0" tIns="0" bIns="0" anchor="t">
            <a:spAutoFit/>
          </a:bodyPr>
          <a:lstStyle/>
          <a:p>
            <a:pPr algn="ctr">
              <a:lnSpc>
                <a:spcPct val="122000"/>
              </a:lnSpc>
            </a:pPr>
            <a:r>
              <a:rPr sz="1050" b="1" i="0">
                <a:solidFill>
                  <a:srgbClr val="FFFFFF"/>
                </a:solidFill>
                <a:latin typeface="Calibri"/>
              </a:rPr>
              <a:t>3</a:t>
            </a:r>
          </a:p>
        </p:txBody>
      </p:sp>
      <p:sp>
        <p:nvSpPr>
          <p:cNvPr id="22" name="TextBox 21"/>
          <p:cNvSpPr txBox="1"/>
          <p:nvPr/>
        </p:nvSpPr>
        <p:spPr>
          <a:xfrm>
            <a:off x="6794500" y="1917700"/>
            <a:ext cx="1739900" cy="279400"/>
          </a:xfrm>
          <a:prstGeom prst="rect">
            <a:avLst/>
          </a:prstGeom>
          <a:noFill/>
        </p:spPr>
        <p:txBody>
          <a:bodyPr wrap="square" lIns="0" rIns="0" tIns="0" bIns="0" anchor="t">
            <a:spAutoFit/>
          </a:bodyPr>
          <a:lstStyle/>
          <a:p>
            <a:pPr algn="l">
              <a:lnSpc>
                <a:spcPct val="122000"/>
              </a:lnSpc>
            </a:pPr>
            <a:r>
              <a:rPr sz="1200" b="1" i="0">
                <a:solidFill>
                  <a:srgbClr val="1F8A99"/>
                </a:solidFill>
                <a:latin typeface="Calibri"/>
              </a:rPr>
              <a:t>Observable state</a:t>
            </a:r>
          </a:p>
        </p:txBody>
      </p:sp>
      <p:sp>
        <p:nvSpPr>
          <p:cNvPr id="23" name="TextBox 22"/>
          <p:cNvSpPr txBox="1"/>
          <p:nvPr/>
        </p:nvSpPr>
        <p:spPr>
          <a:xfrm>
            <a:off x="6400800" y="2362200"/>
            <a:ext cx="2146300" cy="939800"/>
          </a:xfrm>
          <a:prstGeom prst="rect">
            <a:avLst/>
          </a:prstGeom>
          <a:noFill/>
        </p:spPr>
        <p:txBody>
          <a:bodyPr wrap="square" lIns="0" rIns="0" tIns="0" bIns="0" anchor="t">
            <a:spAutoFit/>
          </a:bodyPr>
          <a:lstStyle/>
          <a:p>
            <a:pPr algn="l">
              <a:lnSpc>
                <a:spcPct val="126000"/>
              </a:lnSpc>
            </a:pPr>
            <a:r>
              <a:rPr sz="1000" b="0" i="0">
                <a:solidFill>
                  <a:srgbClr val="24354F"/>
                </a:solidFill>
                <a:latin typeface="Calibri"/>
              </a:rPr>
              <a:t>A crash after alias assignment leaves the operation in applying, visible through the release-operations endpoint.</a:t>
            </a:r>
          </a:p>
        </p:txBody>
      </p:sp>
      <p:sp>
        <p:nvSpPr>
          <p:cNvPr id="24" name="TextBox 23"/>
          <p:cNvSpPr txBox="1"/>
          <p:nvPr/>
        </p:nvSpPr>
        <p:spPr>
          <a:xfrm>
            <a:off x="8775700" y="2476500"/>
            <a:ext cx="165100" cy="228600"/>
          </a:xfrm>
          <a:prstGeom prst="rect">
            <a:avLst/>
          </a:prstGeom>
          <a:noFill/>
        </p:spPr>
        <p:txBody>
          <a:bodyPr wrap="square" lIns="0" rIns="0" tIns="0" bIns="0" anchor="t">
            <a:spAutoFit/>
          </a:bodyPr>
          <a:lstStyle/>
          <a:p>
            <a:pPr algn="ctr">
              <a:lnSpc>
                <a:spcPct val="122000"/>
              </a:lnSpc>
            </a:pPr>
            <a:r>
              <a:rPr sz="1300" b="1" i="0">
                <a:solidFill>
                  <a:srgbClr val="56B3BE"/>
                </a:solidFill>
                <a:latin typeface="Calibri"/>
              </a:rPr>
              <a:t>›</a:t>
            </a:r>
          </a:p>
        </p:txBody>
      </p:sp>
      <p:sp>
        <p:nvSpPr>
          <p:cNvPr id="25" name="Rounded Rectangle 24"/>
          <p:cNvSpPr/>
          <p:nvPr/>
        </p:nvSpPr>
        <p:spPr>
          <a:xfrm>
            <a:off x="8940800" y="1701800"/>
            <a:ext cx="2603500" cy="1778000"/>
          </a:xfrm>
          <a:prstGeom prst="roundRect">
            <a:avLst>
              <a:gd name="adj" fmla="val 6428"/>
            </a:avLst>
          </a:prstGeom>
          <a:solidFill>
            <a:srgbClr val="E8F4F5"/>
          </a:solidFill>
          <a:ln w="9525">
            <a:solidFill>
              <a:srgbClr val="CFE4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9156700" y="1905000"/>
            <a:ext cx="304800" cy="304800"/>
          </a:xfrm>
          <a:prstGeom prst="ellipse">
            <a:avLst/>
          </a:prstGeom>
          <a:solidFill>
            <a:srgbClr val="1F8A99"/>
          </a:solidFill>
          <a:ln w="12700">
            <a:solidFill>
              <a:srgbClr val="1F8A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56700" y="1970722"/>
            <a:ext cx="304800" cy="186690"/>
          </a:xfrm>
          <a:prstGeom prst="rect">
            <a:avLst/>
          </a:prstGeom>
          <a:noFill/>
        </p:spPr>
        <p:txBody>
          <a:bodyPr wrap="square" lIns="0" rIns="0" tIns="0" bIns="0" anchor="t">
            <a:spAutoFit/>
          </a:bodyPr>
          <a:lstStyle/>
          <a:p>
            <a:pPr algn="ctr">
              <a:lnSpc>
                <a:spcPct val="122000"/>
              </a:lnSpc>
            </a:pPr>
            <a:r>
              <a:rPr sz="1050" b="1" i="0">
                <a:solidFill>
                  <a:srgbClr val="FFFFFF"/>
                </a:solidFill>
                <a:latin typeface="Calibri"/>
              </a:rPr>
              <a:t>4</a:t>
            </a:r>
          </a:p>
        </p:txBody>
      </p:sp>
      <p:sp>
        <p:nvSpPr>
          <p:cNvPr id="28" name="TextBox 27"/>
          <p:cNvSpPr txBox="1"/>
          <p:nvPr/>
        </p:nvSpPr>
        <p:spPr>
          <a:xfrm>
            <a:off x="9563100" y="1917700"/>
            <a:ext cx="1739900" cy="279400"/>
          </a:xfrm>
          <a:prstGeom prst="rect">
            <a:avLst/>
          </a:prstGeom>
          <a:noFill/>
        </p:spPr>
        <p:txBody>
          <a:bodyPr wrap="square" lIns="0" rIns="0" tIns="0" bIns="0" anchor="t">
            <a:spAutoFit/>
          </a:bodyPr>
          <a:lstStyle/>
          <a:p>
            <a:pPr algn="l">
              <a:lnSpc>
                <a:spcPct val="122000"/>
              </a:lnSpc>
            </a:pPr>
            <a:r>
              <a:rPr sz="1200" b="1" i="0">
                <a:solidFill>
                  <a:srgbClr val="1F8A99"/>
                </a:solidFill>
                <a:latin typeface="Calibri"/>
              </a:rPr>
              <a:t>Reconciliation</a:t>
            </a:r>
          </a:p>
        </p:txBody>
      </p:sp>
      <p:sp>
        <p:nvSpPr>
          <p:cNvPr id="29" name="TextBox 28"/>
          <p:cNvSpPr txBox="1"/>
          <p:nvPr/>
        </p:nvSpPr>
        <p:spPr>
          <a:xfrm>
            <a:off x="9169400" y="2362200"/>
            <a:ext cx="2146300" cy="939800"/>
          </a:xfrm>
          <a:prstGeom prst="rect">
            <a:avLst/>
          </a:prstGeom>
          <a:noFill/>
        </p:spPr>
        <p:txBody>
          <a:bodyPr wrap="square" lIns="0" rIns="0" tIns="0" bIns="0" anchor="t">
            <a:spAutoFit/>
          </a:bodyPr>
          <a:lstStyle/>
          <a:p>
            <a:pPr algn="l">
              <a:lnSpc>
                <a:spcPct val="126000"/>
              </a:lnSpc>
            </a:pPr>
            <a:r>
              <a:rPr sz="1000" b="0" i="0">
                <a:solidFill>
                  <a:srgbClr val="24354F"/>
                </a:solidFill>
                <a:latin typeface="Calibri"/>
              </a:rPr>
              <a:t>The reconciler observes the provider and settles applied, failed, or reconcile_required.</a:t>
            </a:r>
          </a:p>
        </p:txBody>
      </p:sp>
      <p:sp>
        <p:nvSpPr>
          <p:cNvPr id="30" name="Rounded Rectangle 29"/>
          <p:cNvSpPr/>
          <p:nvPr/>
        </p:nvSpPr>
        <p:spPr>
          <a:xfrm>
            <a:off x="635000" y="3632200"/>
            <a:ext cx="3517900" cy="1834388"/>
          </a:xfrm>
          <a:prstGeom prst="roundRect">
            <a:avLst>
              <a:gd name="adj" fmla="val 6230"/>
            </a:avLst>
          </a:prstGeom>
          <a:solidFill>
            <a:srgbClr val="F5F9FC"/>
          </a:solidFill>
          <a:ln w="9525">
            <a:solidFill>
              <a:srgbClr val="E4ED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876300" y="3822700"/>
            <a:ext cx="3035300" cy="170688"/>
          </a:xfrm>
          <a:prstGeom prst="rect">
            <a:avLst/>
          </a:prstGeom>
          <a:noFill/>
        </p:spPr>
        <p:txBody>
          <a:bodyPr wrap="square" lIns="0" rIns="0" tIns="0" bIns="0" anchor="t">
            <a:spAutoFit/>
          </a:bodyPr>
          <a:lstStyle/>
          <a:p>
            <a:pPr algn="l">
              <a:lnSpc>
                <a:spcPct val="112000"/>
              </a:lnSpc>
            </a:pPr>
            <a:r>
              <a:rPr sz="1200" b="1" i="0">
                <a:solidFill>
                  <a:srgbClr val="24354F"/>
                </a:solidFill>
                <a:latin typeface="Calibri"/>
              </a:rPr>
              <a:t>What this establishes</a:t>
            </a:r>
          </a:p>
        </p:txBody>
      </p:sp>
      <p:sp>
        <p:nvSpPr>
          <p:cNvPr id="32" name="TextBox 31"/>
          <p:cNvSpPr txBox="1"/>
          <p:nvPr/>
        </p:nvSpPr>
        <p:spPr>
          <a:xfrm>
            <a:off x="876300" y="4082288"/>
            <a:ext cx="3035300" cy="812800"/>
          </a:xfrm>
          <a:prstGeom prst="rect">
            <a:avLst/>
          </a:prstGeom>
          <a:noFill/>
        </p:spPr>
        <p:txBody>
          <a:bodyPr wrap="square" lIns="0" rIns="0" tIns="0" bIns="0" anchor="t">
            <a:spAutoFit/>
          </a:bodyPr>
          <a:lstStyle/>
          <a:p>
            <a:pPr algn="l">
              <a:lnSpc>
                <a:spcPct val="128000"/>
              </a:lnSpc>
            </a:pPr>
            <a:r>
              <a:rPr sz="1000" b="0" i="0">
                <a:solidFill>
                  <a:srgbClr val="5A6B84"/>
                </a:solidFill>
                <a:latin typeface="Calibri"/>
              </a:rPr>
              <a:t>Prompt creation and version authoring are non-live, and every in-repository prompt-alias call site uses the intent-first service. A durable reconciliation obligation exists before a prompt alias changes.</a:t>
            </a:r>
          </a:p>
        </p:txBody>
      </p:sp>
      <p:sp>
        <p:nvSpPr>
          <p:cNvPr id="33" name="Rounded Rectangle 32"/>
          <p:cNvSpPr/>
          <p:nvPr/>
        </p:nvSpPr>
        <p:spPr>
          <a:xfrm>
            <a:off x="4330700" y="3632200"/>
            <a:ext cx="3517900" cy="1834388"/>
          </a:xfrm>
          <a:prstGeom prst="roundRect">
            <a:avLst>
              <a:gd name="adj" fmla="val 6230"/>
            </a:avLst>
          </a:prstGeom>
          <a:solidFill>
            <a:srgbClr val="F5F9FC"/>
          </a:solidFill>
          <a:ln w="9525">
            <a:solidFill>
              <a:srgbClr val="E4ED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4572000" y="3822700"/>
            <a:ext cx="3035300" cy="170688"/>
          </a:xfrm>
          <a:prstGeom prst="rect">
            <a:avLst/>
          </a:prstGeom>
          <a:noFill/>
        </p:spPr>
        <p:txBody>
          <a:bodyPr wrap="square" lIns="0" rIns="0" tIns="0" bIns="0" anchor="t">
            <a:spAutoFit/>
          </a:bodyPr>
          <a:lstStyle/>
          <a:p>
            <a:pPr algn="l">
              <a:lnSpc>
                <a:spcPct val="112000"/>
              </a:lnSpc>
            </a:pPr>
            <a:r>
              <a:rPr sz="1200" b="1" i="0">
                <a:solidFill>
                  <a:srgbClr val="24354F"/>
                </a:solidFill>
                <a:latin typeface="Calibri"/>
              </a:rPr>
              <a:t>What it does not establish</a:t>
            </a:r>
          </a:p>
        </p:txBody>
      </p:sp>
      <p:sp>
        <p:nvSpPr>
          <p:cNvPr id="35" name="TextBox 34"/>
          <p:cNvSpPr txBox="1"/>
          <p:nvPr/>
        </p:nvSpPr>
        <p:spPr>
          <a:xfrm>
            <a:off x="4572000" y="4082288"/>
            <a:ext cx="3035300" cy="812800"/>
          </a:xfrm>
          <a:prstGeom prst="rect">
            <a:avLst/>
          </a:prstGeom>
          <a:noFill/>
        </p:spPr>
        <p:txBody>
          <a:bodyPr wrap="square" lIns="0" rIns="0" tIns="0" bIns="0" anchor="t">
            <a:spAutoFit/>
          </a:bodyPr>
          <a:lstStyle/>
          <a:p>
            <a:pPr algn="l">
              <a:lnSpc>
                <a:spcPct val="128000"/>
              </a:lnSpc>
            </a:pPr>
            <a:r>
              <a:rPr sz="1000" b="0" i="0">
                <a:solidFill>
                  <a:srgbClr val="5A6B84"/>
                </a:solidFill>
                <a:latin typeface="Calibri"/>
              </a:rPr>
              <a:t>It does not prove that workflow, skill, knowledge-base, or future family effects have the same ordering. Their guarantees remain the ones in Table 3. The claim is path- and family-scoped, not universal.</a:t>
            </a:r>
          </a:p>
        </p:txBody>
      </p:sp>
      <p:sp>
        <p:nvSpPr>
          <p:cNvPr id="36" name="Rounded Rectangle 35"/>
          <p:cNvSpPr/>
          <p:nvPr/>
        </p:nvSpPr>
        <p:spPr>
          <a:xfrm>
            <a:off x="8026400" y="3632200"/>
            <a:ext cx="3517900" cy="1834388"/>
          </a:xfrm>
          <a:prstGeom prst="roundRect">
            <a:avLst>
              <a:gd name="adj" fmla="val 6230"/>
            </a:avLst>
          </a:prstGeom>
          <a:solidFill>
            <a:srgbClr val="F5F9FC"/>
          </a:solidFill>
          <a:ln w="9525">
            <a:solidFill>
              <a:srgbClr val="E4ED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267700" y="3822700"/>
            <a:ext cx="3035300" cy="170688"/>
          </a:xfrm>
          <a:prstGeom prst="rect">
            <a:avLst/>
          </a:prstGeom>
          <a:noFill/>
        </p:spPr>
        <p:txBody>
          <a:bodyPr wrap="square" lIns="0" rIns="0" tIns="0" bIns="0" anchor="t">
            <a:spAutoFit/>
          </a:bodyPr>
          <a:lstStyle/>
          <a:p>
            <a:pPr algn="l">
              <a:lnSpc>
                <a:spcPct val="112000"/>
              </a:lnSpc>
            </a:pPr>
            <a:r>
              <a:rPr sz="1200" b="1" i="0">
                <a:solidFill>
                  <a:srgbClr val="24354F"/>
                </a:solidFill>
                <a:latin typeface="Calibri"/>
              </a:rPr>
              <a:t>What remains impossible</a:t>
            </a:r>
          </a:p>
        </p:txBody>
      </p:sp>
      <p:sp>
        <p:nvSpPr>
          <p:cNvPr id="38" name="TextBox 37"/>
          <p:cNvSpPr txBox="1"/>
          <p:nvPr/>
        </p:nvSpPr>
        <p:spPr>
          <a:xfrm>
            <a:off x="8267700" y="4082288"/>
            <a:ext cx="3035300" cy="812800"/>
          </a:xfrm>
          <a:prstGeom prst="rect">
            <a:avLst/>
          </a:prstGeom>
          <a:noFill/>
        </p:spPr>
        <p:txBody>
          <a:bodyPr wrap="square" lIns="0" rIns="0" tIns="0" bIns="0" anchor="t">
            <a:spAutoFit/>
          </a:bodyPr>
          <a:lstStyle/>
          <a:p>
            <a:pPr algn="l">
              <a:lnSpc>
                <a:spcPct val="128000"/>
              </a:lnSpc>
            </a:pPr>
            <a:r>
              <a:rPr sz="1000" b="0" i="0">
                <a:solidFill>
                  <a:srgbClr val="5A6B84"/>
                </a:solidFill>
                <a:latin typeface="Calibri"/>
              </a:rPr>
              <a:t>A durable intent is not distributed atomicity. The provider call and the SQL settlement still cannot commit together. This removes silent divergence; it does not remove the need to operate the reconciler.</a:t>
            </a:r>
          </a:p>
        </p:txBody>
      </p:sp>
      <p:sp>
        <p:nvSpPr>
          <p:cNvPr id="39" name="TextBox 38"/>
          <p:cNvSpPr txBox="1"/>
          <p:nvPr/>
        </p:nvSpPr>
        <p:spPr>
          <a:xfrm>
            <a:off x="635000" y="5644388"/>
            <a:ext cx="10909300" cy="228600"/>
          </a:xfrm>
          <a:prstGeom prst="rect">
            <a:avLst/>
          </a:prstGeom>
          <a:noFill/>
        </p:spPr>
        <p:txBody>
          <a:bodyPr wrap="square" lIns="0" rIns="0" tIns="0" bIns="0" anchor="t">
            <a:spAutoFit/>
          </a:bodyPr>
          <a:lstStyle/>
          <a:p>
            <a:pPr algn="l">
              <a:lnSpc>
                <a:spcPct val="122000"/>
              </a:lnSpc>
            </a:pPr>
            <a:r>
              <a:rPr sz="1050" b="1" i="0">
                <a:solidFill>
                  <a:srgbClr val="5A6B84"/>
                </a:solidFill>
                <a:latin typeface="Calibri"/>
              </a:rPr>
              <a:t>Nor does a repository call-site inventory prevent an external administrator from changing an MLflow alias outside CALIBER.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35000" y="6337300"/>
            <a:ext cx="6096000" cy="254000"/>
          </a:xfrm>
          <a:prstGeom prst="rect">
            <a:avLst/>
          </a:prstGeom>
          <a:noFill/>
        </p:spPr>
        <p:txBody>
          <a:bodyPr wrap="square" lIns="0" rIns="0" tIns="0" bIns="0" anchor="t">
            <a:spAutoFit/>
          </a:bodyPr>
          <a:lstStyle/>
          <a:p>
            <a:pPr algn="l">
              <a:lnSpc>
                <a:spcPct val="122000"/>
              </a:lnSpc>
            </a:pPr>
            <a:r>
              <a:rPr sz="900" b="0" i="0">
                <a:solidFill>
                  <a:srgbClr val="A3B2C4"/>
                </a:solidFill>
                <a:latin typeface="Calibri"/>
              </a:rPr>
              <a:t>CALIBER  ·  A Layered Control Plane for Governed Releases of AI-Agent Resources</a:t>
            </a:r>
          </a:p>
        </p:txBody>
      </p:sp>
      <p:sp>
        <p:nvSpPr>
          <p:cNvPr id="3" name="TextBox 2"/>
          <p:cNvSpPr txBox="1"/>
          <p:nvPr/>
        </p:nvSpPr>
        <p:spPr>
          <a:xfrm>
            <a:off x="10629900" y="6337300"/>
            <a:ext cx="914400" cy="254000"/>
          </a:xfrm>
          <a:prstGeom prst="rect">
            <a:avLst/>
          </a:prstGeom>
          <a:noFill/>
        </p:spPr>
        <p:txBody>
          <a:bodyPr wrap="square" lIns="0" rIns="0" tIns="0" bIns="0" anchor="t">
            <a:spAutoFit/>
          </a:bodyPr>
          <a:lstStyle/>
          <a:p>
            <a:pPr algn="r">
              <a:lnSpc>
                <a:spcPct val="122000"/>
              </a:lnSpc>
            </a:pPr>
            <a:r>
              <a:rPr sz="900" b="0" i="0">
                <a:solidFill>
                  <a:srgbClr val="A3B2C4"/>
                </a:solidFill>
                <a:latin typeface="Calibri"/>
              </a:rPr>
              <a:t>17</a:t>
            </a:r>
          </a:p>
        </p:txBody>
      </p:sp>
      <p:sp>
        <p:nvSpPr>
          <p:cNvPr id="4" name="TextBox 3"/>
          <p:cNvSpPr txBox="1"/>
          <p:nvPr/>
        </p:nvSpPr>
        <p:spPr>
          <a:xfrm>
            <a:off x="635000" y="381000"/>
            <a:ext cx="10909300" cy="228600"/>
          </a:xfrm>
          <a:prstGeom prst="rect">
            <a:avLst/>
          </a:prstGeom>
          <a:noFill/>
        </p:spPr>
        <p:txBody>
          <a:bodyPr wrap="square" lIns="0" rIns="0" tIns="0" bIns="0" anchor="t">
            <a:spAutoFit/>
          </a:bodyPr>
          <a:lstStyle/>
          <a:p>
            <a:pPr algn="l">
              <a:lnSpc>
                <a:spcPct val="122000"/>
              </a:lnSpc>
            </a:pPr>
            <a:r>
              <a:rPr sz="1050" b="1" i="0">
                <a:solidFill>
                  <a:srgbClr val="1F8A99"/>
                </a:solidFill>
                <a:latin typeface="Calibri"/>
              </a:rPr>
              <a:t>Execution  ·  §5.6  ·  Table 4  ·  Algorithm 1</a:t>
            </a:r>
          </a:p>
        </p:txBody>
      </p:sp>
      <p:sp>
        <p:nvSpPr>
          <p:cNvPr id="5" name="TextBox 4"/>
          <p:cNvSpPr txBox="1"/>
          <p:nvPr/>
        </p:nvSpPr>
        <p:spPr>
          <a:xfrm>
            <a:off x="635000" y="647700"/>
            <a:ext cx="10909300" cy="495300"/>
          </a:xfrm>
          <a:prstGeom prst="rect">
            <a:avLst/>
          </a:prstGeom>
          <a:noFill/>
        </p:spPr>
        <p:txBody>
          <a:bodyPr wrap="square" lIns="0" rIns="0" tIns="0" bIns="0" anchor="t">
            <a:spAutoFit/>
          </a:bodyPr>
          <a:lstStyle/>
          <a:p>
            <a:pPr algn="l">
              <a:lnSpc>
                <a:spcPct val="108000"/>
              </a:lnSpc>
            </a:pPr>
            <a:r>
              <a:rPr sz="2600" b="1" i="0">
                <a:solidFill>
                  <a:srgbClr val="0E1E3A"/>
                </a:solidFill>
                <a:latin typeface="Calibri"/>
              </a:rPr>
              <a:t>Ten loops, and no single delivery guarantee</a:t>
            </a:r>
          </a:p>
        </p:txBody>
      </p:sp>
      <p:sp>
        <p:nvSpPr>
          <p:cNvPr id="6" name="TextBox 5"/>
          <p:cNvSpPr txBox="1"/>
          <p:nvPr/>
        </p:nvSpPr>
        <p:spPr>
          <a:xfrm>
            <a:off x="635000" y="1168400"/>
            <a:ext cx="10909300" cy="431800"/>
          </a:xfrm>
          <a:prstGeom prst="rect">
            <a:avLst/>
          </a:prstGeom>
          <a:noFill/>
        </p:spPr>
        <p:txBody>
          <a:bodyPr wrap="square" lIns="0" rIns="0" tIns="0" bIns="0" anchor="t">
            <a:spAutoFit/>
          </a:bodyPr>
          <a:lstStyle/>
          <a:p>
            <a:pPr algn="l">
              <a:lnSpc>
                <a:spcPct val="130000"/>
              </a:lnSpc>
            </a:pPr>
            <a:r>
              <a:rPr sz="1250" b="0" i="0">
                <a:solidFill>
                  <a:srgbClr val="24354F"/>
                </a:solidFill>
                <a:latin typeface="Calibri"/>
              </a:rPr>
              <a:t>The conditional claim predicate is shared and establishes concurrent mutual exclusion for all of them. Recovery after the owner dies is not shared — and that is what determines delivery semantics.</a:t>
            </a:r>
          </a:p>
        </p:txBody>
      </p:sp>
      <p:sp>
        <p:nvSpPr>
          <p:cNvPr id="7" name="Rectangle 6"/>
          <p:cNvSpPr/>
          <p:nvPr/>
        </p:nvSpPr>
        <p:spPr>
          <a:xfrm>
            <a:off x="635000" y="1701800"/>
            <a:ext cx="10909300" cy="325373"/>
          </a:xfrm>
          <a:prstGeom prst="rect">
            <a:avLst/>
          </a:prstGeom>
          <a:solidFill>
            <a:srgbClr val="1F8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300" y="1790700"/>
            <a:ext cx="1549400" cy="147573"/>
          </a:xfrm>
          <a:prstGeom prst="rect">
            <a:avLst/>
          </a:prstGeom>
          <a:noFill/>
        </p:spPr>
        <p:txBody>
          <a:bodyPr wrap="square" lIns="0" rIns="0" tIns="0" bIns="0" anchor="t">
            <a:spAutoFit/>
          </a:bodyPr>
          <a:lstStyle/>
          <a:p>
            <a:pPr algn="l">
              <a:lnSpc>
                <a:spcPct val="122000"/>
              </a:lnSpc>
            </a:pPr>
            <a:r>
              <a:rPr sz="900" b="1" i="0">
                <a:solidFill>
                  <a:srgbClr val="FFFFFF"/>
                </a:solidFill>
                <a:latin typeface="Calibri"/>
              </a:rPr>
              <a:t>Loop</a:t>
            </a:r>
          </a:p>
        </p:txBody>
      </p:sp>
      <p:sp>
        <p:nvSpPr>
          <p:cNvPr id="9" name="TextBox 8"/>
          <p:cNvSpPr txBox="1"/>
          <p:nvPr/>
        </p:nvSpPr>
        <p:spPr>
          <a:xfrm>
            <a:off x="2527300" y="1790700"/>
            <a:ext cx="1041400" cy="147573"/>
          </a:xfrm>
          <a:prstGeom prst="rect">
            <a:avLst/>
          </a:prstGeom>
          <a:noFill/>
        </p:spPr>
        <p:txBody>
          <a:bodyPr wrap="square" lIns="0" rIns="0" tIns="0" bIns="0" anchor="t">
            <a:spAutoFit/>
          </a:bodyPr>
          <a:lstStyle/>
          <a:p>
            <a:pPr algn="l">
              <a:lnSpc>
                <a:spcPct val="122000"/>
              </a:lnSpc>
            </a:pPr>
            <a:r>
              <a:rPr sz="900" b="1" i="0">
                <a:solidFill>
                  <a:srgbClr val="FFFFFF"/>
                </a:solidFill>
                <a:latin typeface="Calibri"/>
              </a:rPr>
              <a:t>Lease</a:t>
            </a:r>
          </a:p>
        </p:txBody>
      </p:sp>
      <p:sp>
        <p:nvSpPr>
          <p:cNvPr id="10" name="TextBox 9"/>
          <p:cNvSpPr txBox="1"/>
          <p:nvPr/>
        </p:nvSpPr>
        <p:spPr>
          <a:xfrm>
            <a:off x="3797300" y="1790700"/>
            <a:ext cx="3962400" cy="147573"/>
          </a:xfrm>
          <a:prstGeom prst="rect">
            <a:avLst/>
          </a:prstGeom>
          <a:noFill/>
        </p:spPr>
        <p:txBody>
          <a:bodyPr wrap="square" lIns="0" rIns="0" tIns="0" bIns="0" anchor="t">
            <a:spAutoFit/>
          </a:bodyPr>
          <a:lstStyle/>
          <a:p>
            <a:pPr algn="l">
              <a:lnSpc>
                <a:spcPct val="122000"/>
              </a:lnSpc>
            </a:pPr>
            <a:r>
              <a:rPr sz="900" b="1" i="0">
                <a:solidFill>
                  <a:srgbClr val="FFFFFF"/>
                </a:solidFill>
                <a:latin typeface="Calibri"/>
              </a:rPr>
              <a:t>Recovery after owner death</a:t>
            </a:r>
          </a:p>
        </p:txBody>
      </p:sp>
      <p:sp>
        <p:nvSpPr>
          <p:cNvPr id="11" name="TextBox 10"/>
          <p:cNvSpPr txBox="1"/>
          <p:nvPr/>
        </p:nvSpPr>
        <p:spPr>
          <a:xfrm>
            <a:off x="7988300" y="1790700"/>
            <a:ext cx="3441700" cy="147573"/>
          </a:xfrm>
          <a:prstGeom prst="rect">
            <a:avLst/>
          </a:prstGeom>
          <a:noFill/>
        </p:spPr>
        <p:txBody>
          <a:bodyPr wrap="square" lIns="0" rIns="0" tIns="0" bIns="0" anchor="t">
            <a:spAutoFit/>
          </a:bodyPr>
          <a:lstStyle/>
          <a:p>
            <a:pPr algn="l">
              <a:lnSpc>
                <a:spcPct val="122000"/>
              </a:lnSpc>
            </a:pPr>
            <a:r>
              <a:rPr sz="900" b="1" i="0">
                <a:solidFill>
                  <a:srgbClr val="FFFFFF"/>
                </a:solidFill>
                <a:latin typeface="Calibri"/>
              </a:rPr>
              <a:t>Delivery semantics</a:t>
            </a:r>
          </a:p>
        </p:txBody>
      </p:sp>
      <p:sp>
        <p:nvSpPr>
          <p:cNvPr id="12" name="Rectangle 11"/>
          <p:cNvSpPr/>
          <p:nvPr/>
        </p:nvSpPr>
        <p:spPr>
          <a:xfrm>
            <a:off x="635000" y="2309749"/>
            <a:ext cx="10909300" cy="7620"/>
          </a:xfrm>
          <a:prstGeom prst="rect">
            <a:avLst/>
          </a:prstGeom>
          <a:solidFill>
            <a:srgbClr val="D5E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300" y="2116074"/>
            <a:ext cx="1549400" cy="112395"/>
          </a:xfrm>
          <a:prstGeom prst="rect">
            <a:avLst/>
          </a:prstGeom>
          <a:noFill/>
        </p:spPr>
        <p:txBody>
          <a:bodyPr wrap="square" lIns="0" rIns="0" tIns="0" bIns="0" anchor="ctr">
            <a:spAutoFit/>
          </a:bodyPr>
          <a:lstStyle/>
          <a:p>
            <a:pPr algn="l">
              <a:lnSpc>
                <a:spcPct val="118000"/>
              </a:lnSpc>
            </a:pPr>
            <a:r>
              <a:rPr sz="750" b="0" i="0">
                <a:solidFill>
                  <a:srgbClr val="24354F"/>
                </a:solidFill>
                <a:latin typeface="Calibri"/>
              </a:rPr>
              <a:t>Refinement</a:t>
            </a:r>
          </a:p>
        </p:txBody>
      </p:sp>
      <p:sp>
        <p:nvSpPr>
          <p:cNvPr id="14" name="TextBox 13"/>
          <p:cNvSpPr txBox="1"/>
          <p:nvPr/>
        </p:nvSpPr>
        <p:spPr>
          <a:xfrm>
            <a:off x="2527300" y="2116074"/>
            <a:ext cx="1041400" cy="112395"/>
          </a:xfrm>
          <a:prstGeom prst="rect">
            <a:avLst/>
          </a:prstGeom>
          <a:noFill/>
        </p:spPr>
        <p:txBody>
          <a:bodyPr wrap="square" lIns="0" rIns="0" tIns="0" bIns="0" anchor="ctr">
            <a:spAutoFit/>
          </a:bodyPr>
          <a:lstStyle/>
          <a:p>
            <a:pPr algn="l">
              <a:lnSpc>
                <a:spcPct val="118000"/>
              </a:lnSpc>
            </a:pPr>
            <a:r>
              <a:rPr sz="750" b="0" i="0">
                <a:solidFill>
                  <a:srgbClr val="24354F"/>
                </a:solidFill>
                <a:latin typeface="Calibri"/>
              </a:rPr>
              <a:t>heartbeat</a:t>
            </a:r>
          </a:p>
        </p:txBody>
      </p:sp>
      <p:sp>
        <p:nvSpPr>
          <p:cNvPr id="15" name="TextBox 14"/>
          <p:cNvSpPr txBox="1"/>
          <p:nvPr/>
        </p:nvSpPr>
        <p:spPr>
          <a:xfrm>
            <a:off x="3797300" y="2116074"/>
            <a:ext cx="3962400" cy="112395"/>
          </a:xfrm>
          <a:prstGeom prst="rect">
            <a:avLst/>
          </a:prstGeom>
          <a:noFill/>
        </p:spPr>
        <p:txBody>
          <a:bodyPr wrap="square" lIns="0" rIns="0" tIns="0" bIns="0" anchor="ctr">
            <a:spAutoFit/>
          </a:bodyPr>
          <a:lstStyle/>
          <a:p>
            <a:pPr algn="l">
              <a:lnSpc>
                <a:spcPct val="118000"/>
              </a:lnSpc>
            </a:pPr>
            <a:r>
              <a:rPr sz="750" b="0" i="0">
                <a:solidFill>
                  <a:srgbClr val="24354F"/>
                </a:solidFill>
                <a:latin typeface="Calibri"/>
              </a:rPr>
              <a:t>janitor marks the job failed after a stale heartbeat; it is not requeued</a:t>
            </a:r>
          </a:p>
        </p:txBody>
      </p:sp>
      <p:sp>
        <p:nvSpPr>
          <p:cNvPr id="16" name="TextBox 15"/>
          <p:cNvSpPr txBox="1"/>
          <p:nvPr/>
        </p:nvSpPr>
        <p:spPr>
          <a:xfrm>
            <a:off x="7988300" y="2116074"/>
            <a:ext cx="3441700" cy="112395"/>
          </a:xfrm>
          <a:prstGeom prst="rect">
            <a:avLst/>
          </a:prstGeom>
          <a:noFill/>
        </p:spPr>
        <p:txBody>
          <a:bodyPr wrap="square" lIns="0" rIns="0" tIns="0" bIns="0" anchor="ctr">
            <a:spAutoFit/>
          </a:bodyPr>
          <a:lstStyle/>
          <a:p>
            <a:pPr algn="l">
              <a:lnSpc>
                <a:spcPct val="118000"/>
              </a:lnSpc>
            </a:pPr>
            <a:r>
              <a:rPr sz="750" b="0" i="0">
                <a:solidFill>
                  <a:srgbClr val="24354F"/>
                </a:solidFill>
                <a:latin typeface="Calibri"/>
              </a:rPr>
              <a:t>at-most-once; a crash loses progress and needs operator action</a:t>
            </a:r>
          </a:p>
        </p:txBody>
      </p:sp>
      <p:sp>
        <p:nvSpPr>
          <p:cNvPr id="17" name="Rectangle 16"/>
          <p:cNvSpPr/>
          <p:nvPr/>
        </p:nvSpPr>
        <p:spPr>
          <a:xfrm>
            <a:off x="635000" y="2317369"/>
            <a:ext cx="10909300" cy="290195"/>
          </a:xfrm>
          <a:prstGeom prst="rect">
            <a:avLst/>
          </a:prstGeom>
          <a:solidFill>
            <a:srgbClr val="F5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5000" y="2599944"/>
            <a:ext cx="10909300" cy="7620"/>
          </a:xfrm>
          <a:prstGeom prst="rect">
            <a:avLst/>
          </a:prstGeom>
          <a:solidFill>
            <a:srgbClr val="D5E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300" y="2406269"/>
            <a:ext cx="1549400" cy="112395"/>
          </a:xfrm>
          <a:prstGeom prst="rect">
            <a:avLst/>
          </a:prstGeom>
          <a:noFill/>
        </p:spPr>
        <p:txBody>
          <a:bodyPr wrap="square" lIns="0" rIns="0" tIns="0" bIns="0" anchor="ctr">
            <a:spAutoFit/>
          </a:bodyPr>
          <a:lstStyle/>
          <a:p>
            <a:pPr algn="l">
              <a:lnSpc>
                <a:spcPct val="118000"/>
              </a:lnSpc>
            </a:pPr>
            <a:r>
              <a:rPr sz="750" b="0" i="0">
                <a:solidFill>
                  <a:srgbClr val="24354F"/>
                </a:solidFill>
                <a:latin typeface="Calibri"/>
              </a:rPr>
              <a:t>WorkflowRun</a:t>
            </a:r>
          </a:p>
        </p:txBody>
      </p:sp>
      <p:sp>
        <p:nvSpPr>
          <p:cNvPr id="20" name="TextBox 19"/>
          <p:cNvSpPr txBox="1"/>
          <p:nvPr/>
        </p:nvSpPr>
        <p:spPr>
          <a:xfrm>
            <a:off x="2527300" y="2406269"/>
            <a:ext cx="1041400" cy="112395"/>
          </a:xfrm>
          <a:prstGeom prst="rect">
            <a:avLst/>
          </a:prstGeom>
          <a:noFill/>
        </p:spPr>
        <p:txBody>
          <a:bodyPr wrap="square" lIns="0" rIns="0" tIns="0" bIns="0" anchor="ctr">
            <a:spAutoFit/>
          </a:bodyPr>
          <a:lstStyle/>
          <a:p>
            <a:pPr algn="l">
              <a:lnSpc>
                <a:spcPct val="118000"/>
              </a:lnSpc>
            </a:pPr>
            <a:r>
              <a:rPr sz="750" b="0" i="0">
                <a:solidFill>
                  <a:srgbClr val="24354F"/>
                </a:solidFill>
                <a:latin typeface="Calibri"/>
              </a:rPr>
              <a:t>lease + heartbeat</a:t>
            </a:r>
          </a:p>
        </p:txBody>
      </p:sp>
      <p:sp>
        <p:nvSpPr>
          <p:cNvPr id="21" name="TextBox 20"/>
          <p:cNvSpPr txBox="1"/>
          <p:nvPr/>
        </p:nvSpPr>
        <p:spPr>
          <a:xfrm>
            <a:off x="3797300" y="2406269"/>
            <a:ext cx="3962400" cy="112395"/>
          </a:xfrm>
          <a:prstGeom prst="rect">
            <a:avLst/>
          </a:prstGeom>
          <a:noFill/>
        </p:spPr>
        <p:txBody>
          <a:bodyPr wrap="square" lIns="0" rIns="0" tIns="0" bIns="0" anchor="ctr">
            <a:spAutoFit/>
          </a:bodyPr>
          <a:lstStyle/>
          <a:p>
            <a:pPr algn="l">
              <a:lnSpc>
                <a:spcPct val="118000"/>
              </a:lnSpc>
            </a:pPr>
            <a:r>
              <a:rPr sz="750" b="0" i="0">
                <a:solidFill>
                  <a:srgbClr val="24354F"/>
                </a:solidFill>
                <a:latin typeface="Calibri"/>
              </a:rPr>
              <a:t>lease expiry requeues the run, which resumes from its last checkpoint</a:t>
            </a:r>
          </a:p>
        </p:txBody>
      </p:sp>
      <p:sp>
        <p:nvSpPr>
          <p:cNvPr id="22" name="TextBox 21"/>
          <p:cNvSpPr txBox="1"/>
          <p:nvPr/>
        </p:nvSpPr>
        <p:spPr>
          <a:xfrm>
            <a:off x="7988300" y="2406269"/>
            <a:ext cx="3441700" cy="112395"/>
          </a:xfrm>
          <a:prstGeom prst="rect">
            <a:avLst/>
          </a:prstGeom>
          <a:noFill/>
        </p:spPr>
        <p:txBody>
          <a:bodyPr wrap="square" lIns="0" rIns="0" tIns="0" bIns="0" anchor="ctr">
            <a:spAutoFit/>
          </a:bodyPr>
          <a:lstStyle/>
          <a:p>
            <a:pPr algn="l">
              <a:lnSpc>
                <a:spcPct val="118000"/>
              </a:lnSpc>
            </a:pPr>
            <a:r>
              <a:rPr sz="750" b="0" i="0">
                <a:solidFill>
                  <a:srgbClr val="24354F"/>
                </a:solidFill>
                <a:latin typeface="Calibri"/>
              </a:rPr>
              <a:t>at-least-once at the step boundary; the effect ledger suppresses repeats</a:t>
            </a:r>
          </a:p>
        </p:txBody>
      </p:sp>
      <p:sp>
        <p:nvSpPr>
          <p:cNvPr id="23" name="Rectangle 22"/>
          <p:cNvSpPr/>
          <p:nvPr/>
        </p:nvSpPr>
        <p:spPr>
          <a:xfrm>
            <a:off x="635000" y="3002534"/>
            <a:ext cx="10909300" cy="7620"/>
          </a:xfrm>
          <a:prstGeom prst="rect">
            <a:avLst/>
          </a:prstGeom>
          <a:solidFill>
            <a:srgbClr val="D5E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9300" y="2696464"/>
            <a:ext cx="1549400" cy="224790"/>
          </a:xfrm>
          <a:prstGeom prst="rect">
            <a:avLst/>
          </a:prstGeom>
          <a:noFill/>
        </p:spPr>
        <p:txBody>
          <a:bodyPr wrap="square" lIns="0" rIns="0" tIns="0" bIns="0" anchor="ctr">
            <a:spAutoFit/>
          </a:bodyPr>
          <a:lstStyle/>
          <a:p>
            <a:pPr algn="l">
              <a:lnSpc>
                <a:spcPct val="118000"/>
              </a:lnSpc>
            </a:pPr>
            <a:r>
              <a:rPr sz="750" b="0" i="0">
                <a:solidFill>
                  <a:srgbClr val="24354F"/>
                </a:solidFill>
                <a:latin typeface="Calibri"/>
              </a:rPr>
              <a:t>CalibrationDrain</a:t>
            </a:r>
          </a:p>
        </p:txBody>
      </p:sp>
      <p:sp>
        <p:nvSpPr>
          <p:cNvPr id="25" name="TextBox 24"/>
          <p:cNvSpPr txBox="1"/>
          <p:nvPr/>
        </p:nvSpPr>
        <p:spPr>
          <a:xfrm>
            <a:off x="2527300" y="2696464"/>
            <a:ext cx="1041400" cy="224790"/>
          </a:xfrm>
          <a:prstGeom prst="rect">
            <a:avLst/>
          </a:prstGeom>
          <a:noFill/>
        </p:spPr>
        <p:txBody>
          <a:bodyPr wrap="square" lIns="0" rIns="0" tIns="0" bIns="0" anchor="ctr">
            <a:spAutoFit/>
          </a:bodyPr>
          <a:lstStyle/>
          <a:p>
            <a:pPr algn="l">
              <a:lnSpc>
                <a:spcPct val="118000"/>
              </a:lnSpc>
            </a:pPr>
            <a:r>
              <a:rPr sz="750" b="1" i="0">
                <a:solidFill>
                  <a:srgbClr val="A93B2B"/>
                </a:solidFill>
                <a:latin typeface="Calibri"/>
              </a:rPr>
              <a:t>none</a:t>
            </a:r>
          </a:p>
        </p:txBody>
      </p:sp>
      <p:sp>
        <p:nvSpPr>
          <p:cNvPr id="26" name="TextBox 25"/>
          <p:cNvSpPr txBox="1"/>
          <p:nvPr/>
        </p:nvSpPr>
        <p:spPr>
          <a:xfrm>
            <a:off x="3797300" y="2696464"/>
            <a:ext cx="3962400" cy="224790"/>
          </a:xfrm>
          <a:prstGeom prst="rect">
            <a:avLst/>
          </a:prstGeom>
          <a:noFill/>
        </p:spPr>
        <p:txBody>
          <a:bodyPr wrap="square" lIns="0" rIns="0" tIns="0" bIns="0" anchor="ctr">
            <a:spAutoFit/>
          </a:bodyPr>
          <a:lstStyle/>
          <a:p>
            <a:pPr algn="l">
              <a:lnSpc>
                <a:spcPct val="118000"/>
              </a:lnSpc>
            </a:pPr>
            <a:r>
              <a:rPr sz="750" b="0" i="0">
                <a:solidFill>
                  <a:srgbClr val="24354F"/>
                </a:solidFill>
                <a:latin typeface="Calibri"/>
              </a:rPr>
              <a:t>none automatic: a row stays running until an operator abandons it or creates a lineage-linked retry</a:t>
            </a:r>
          </a:p>
        </p:txBody>
      </p:sp>
      <p:sp>
        <p:nvSpPr>
          <p:cNvPr id="27" name="TextBox 26"/>
          <p:cNvSpPr txBox="1"/>
          <p:nvPr/>
        </p:nvSpPr>
        <p:spPr>
          <a:xfrm>
            <a:off x="7988300" y="2696464"/>
            <a:ext cx="3441700" cy="224790"/>
          </a:xfrm>
          <a:prstGeom prst="rect">
            <a:avLst/>
          </a:prstGeom>
          <a:noFill/>
        </p:spPr>
        <p:txBody>
          <a:bodyPr wrap="square" lIns="0" rIns="0" tIns="0" bIns="0" anchor="ctr">
            <a:spAutoFit/>
          </a:bodyPr>
          <a:lstStyle/>
          <a:p>
            <a:pPr algn="l">
              <a:lnSpc>
                <a:spcPct val="118000"/>
              </a:lnSpc>
            </a:pPr>
            <a:r>
              <a:rPr sz="750" b="0" i="0">
                <a:solidFill>
                  <a:srgbClr val="24354F"/>
                </a:solidFill>
                <a:latin typeface="Calibri"/>
              </a:rPr>
              <a:t>at-most-once per job; retries are explicit new jobs</a:t>
            </a:r>
          </a:p>
        </p:txBody>
      </p:sp>
      <p:sp>
        <p:nvSpPr>
          <p:cNvPr id="28" name="Rectangle 27"/>
          <p:cNvSpPr/>
          <p:nvPr/>
        </p:nvSpPr>
        <p:spPr>
          <a:xfrm>
            <a:off x="635000" y="3010154"/>
            <a:ext cx="10909300" cy="290195"/>
          </a:xfrm>
          <a:prstGeom prst="rect">
            <a:avLst/>
          </a:prstGeom>
          <a:solidFill>
            <a:srgbClr val="F5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35000" y="3292729"/>
            <a:ext cx="10909300" cy="7620"/>
          </a:xfrm>
          <a:prstGeom prst="rect">
            <a:avLst/>
          </a:prstGeom>
          <a:solidFill>
            <a:srgbClr val="D5E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9300" y="3099054"/>
            <a:ext cx="1549400" cy="112395"/>
          </a:xfrm>
          <a:prstGeom prst="rect">
            <a:avLst/>
          </a:prstGeom>
          <a:noFill/>
        </p:spPr>
        <p:txBody>
          <a:bodyPr wrap="square" lIns="0" rIns="0" tIns="0" bIns="0" anchor="ctr">
            <a:spAutoFit/>
          </a:bodyPr>
          <a:lstStyle/>
          <a:p>
            <a:pPr algn="l">
              <a:lnSpc>
                <a:spcPct val="118000"/>
              </a:lnSpc>
            </a:pPr>
            <a:r>
              <a:rPr sz="750" b="0" i="0">
                <a:solidFill>
                  <a:srgbClr val="24354F"/>
                </a:solidFill>
                <a:latin typeface="Calibri"/>
              </a:rPr>
              <a:t>KnowledgeBase</a:t>
            </a:r>
          </a:p>
        </p:txBody>
      </p:sp>
      <p:sp>
        <p:nvSpPr>
          <p:cNvPr id="31" name="TextBox 30"/>
          <p:cNvSpPr txBox="1"/>
          <p:nvPr/>
        </p:nvSpPr>
        <p:spPr>
          <a:xfrm>
            <a:off x="2527300" y="3099054"/>
            <a:ext cx="1041400" cy="112395"/>
          </a:xfrm>
          <a:prstGeom prst="rect">
            <a:avLst/>
          </a:prstGeom>
          <a:noFill/>
        </p:spPr>
        <p:txBody>
          <a:bodyPr wrap="square" lIns="0" rIns="0" tIns="0" bIns="0" anchor="ctr">
            <a:spAutoFit/>
          </a:bodyPr>
          <a:lstStyle/>
          <a:p>
            <a:pPr algn="l">
              <a:lnSpc>
                <a:spcPct val="118000"/>
              </a:lnSpc>
            </a:pPr>
            <a:r>
              <a:rPr sz="750" b="0" i="0">
                <a:solidFill>
                  <a:srgbClr val="24354F"/>
                </a:solidFill>
                <a:latin typeface="Calibri"/>
              </a:rPr>
              <a:t>claim</a:t>
            </a:r>
          </a:p>
        </p:txBody>
      </p:sp>
      <p:sp>
        <p:nvSpPr>
          <p:cNvPr id="32" name="TextBox 31"/>
          <p:cNvSpPr txBox="1"/>
          <p:nvPr/>
        </p:nvSpPr>
        <p:spPr>
          <a:xfrm>
            <a:off x="3797300" y="3099054"/>
            <a:ext cx="3962400" cy="112395"/>
          </a:xfrm>
          <a:prstGeom prst="rect">
            <a:avLst/>
          </a:prstGeom>
          <a:noFill/>
        </p:spPr>
        <p:txBody>
          <a:bodyPr wrap="square" lIns="0" rIns="0" tIns="0" bIns="0" anchor="ctr">
            <a:spAutoFit/>
          </a:bodyPr>
          <a:lstStyle/>
          <a:p>
            <a:pPr algn="l">
              <a:lnSpc>
                <a:spcPct val="118000"/>
              </a:lnSpc>
            </a:pPr>
            <a:r>
              <a:rPr sz="750" b="0" i="0">
                <a:solidFill>
                  <a:srgbClr val="24354F"/>
                </a:solidFill>
                <a:latin typeface="Calibri"/>
              </a:rPr>
              <a:t>re-ingest is idempotent per source, so a repeat is absorbed</a:t>
            </a:r>
          </a:p>
        </p:txBody>
      </p:sp>
      <p:sp>
        <p:nvSpPr>
          <p:cNvPr id="33" name="TextBox 32"/>
          <p:cNvSpPr txBox="1"/>
          <p:nvPr/>
        </p:nvSpPr>
        <p:spPr>
          <a:xfrm>
            <a:off x="7988300" y="3099054"/>
            <a:ext cx="3441700" cy="112395"/>
          </a:xfrm>
          <a:prstGeom prst="rect">
            <a:avLst/>
          </a:prstGeom>
          <a:noFill/>
        </p:spPr>
        <p:txBody>
          <a:bodyPr wrap="square" lIns="0" rIns="0" tIns="0" bIns="0" anchor="ctr">
            <a:spAutoFit/>
          </a:bodyPr>
          <a:lstStyle/>
          <a:p>
            <a:pPr algn="l">
              <a:lnSpc>
                <a:spcPct val="118000"/>
              </a:lnSpc>
            </a:pPr>
            <a:r>
              <a:rPr sz="750" b="0" i="0">
                <a:solidFill>
                  <a:srgbClr val="24354F"/>
                </a:solidFill>
                <a:latin typeface="Calibri"/>
              </a:rPr>
              <a:t>at-least-once, idempotent</a:t>
            </a:r>
          </a:p>
        </p:txBody>
      </p:sp>
      <p:sp>
        <p:nvSpPr>
          <p:cNvPr id="34" name="Rectangle 33"/>
          <p:cNvSpPr/>
          <p:nvPr/>
        </p:nvSpPr>
        <p:spPr>
          <a:xfrm>
            <a:off x="635000" y="3582924"/>
            <a:ext cx="10909300" cy="7620"/>
          </a:xfrm>
          <a:prstGeom prst="rect">
            <a:avLst/>
          </a:prstGeom>
          <a:solidFill>
            <a:srgbClr val="D5E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49300" y="3389249"/>
            <a:ext cx="1549400" cy="112395"/>
          </a:xfrm>
          <a:prstGeom prst="rect">
            <a:avLst/>
          </a:prstGeom>
          <a:noFill/>
        </p:spPr>
        <p:txBody>
          <a:bodyPr wrap="square" lIns="0" rIns="0" tIns="0" bIns="0" anchor="ctr">
            <a:spAutoFit/>
          </a:bodyPr>
          <a:lstStyle/>
          <a:p>
            <a:pPr algn="l">
              <a:lnSpc>
                <a:spcPct val="118000"/>
              </a:lnSpc>
            </a:pPr>
            <a:r>
              <a:rPr sz="750" b="0" i="0">
                <a:solidFill>
                  <a:srgbClr val="24354F"/>
                </a:solidFill>
                <a:latin typeface="Calibri"/>
              </a:rPr>
              <a:t>WebhookDispatcher</a:t>
            </a:r>
          </a:p>
        </p:txBody>
      </p:sp>
      <p:sp>
        <p:nvSpPr>
          <p:cNvPr id="36" name="TextBox 35"/>
          <p:cNvSpPr txBox="1"/>
          <p:nvPr/>
        </p:nvSpPr>
        <p:spPr>
          <a:xfrm>
            <a:off x="2527300" y="3389249"/>
            <a:ext cx="1041400" cy="112395"/>
          </a:xfrm>
          <a:prstGeom prst="rect">
            <a:avLst/>
          </a:prstGeom>
          <a:noFill/>
        </p:spPr>
        <p:txBody>
          <a:bodyPr wrap="square" lIns="0" rIns="0" tIns="0" bIns="0" anchor="ctr">
            <a:spAutoFit/>
          </a:bodyPr>
          <a:lstStyle/>
          <a:p>
            <a:pPr algn="l">
              <a:lnSpc>
                <a:spcPct val="118000"/>
              </a:lnSpc>
            </a:pPr>
            <a:r>
              <a:rPr sz="750" b="0" i="0">
                <a:solidFill>
                  <a:srgbClr val="24354F"/>
                </a:solidFill>
                <a:latin typeface="Calibri"/>
              </a:rPr>
              <a:t>claim</a:t>
            </a:r>
          </a:p>
        </p:txBody>
      </p:sp>
      <p:sp>
        <p:nvSpPr>
          <p:cNvPr id="37" name="TextBox 36"/>
          <p:cNvSpPr txBox="1"/>
          <p:nvPr/>
        </p:nvSpPr>
        <p:spPr>
          <a:xfrm>
            <a:off x="3797300" y="3389249"/>
            <a:ext cx="3962400" cy="112395"/>
          </a:xfrm>
          <a:prstGeom prst="rect">
            <a:avLst/>
          </a:prstGeom>
          <a:noFill/>
        </p:spPr>
        <p:txBody>
          <a:bodyPr wrap="square" lIns="0" rIns="0" tIns="0" bIns="0" anchor="ctr">
            <a:spAutoFit/>
          </a:bodyPr>
          <a:lstStyle/>
          <a:p>
            <a:pPr algn="l">
              <a:lnSpc>
                <a:spcPct val="118000"/>
              </a:lnSpc>
            </a:pPr>
            <a:r>
              <a:rPr sz="750" b="0" i="0">
                <a:solidFill>
                  <a:srgbClr val="24354F"/>
                </a:solidFill>
                <a:latin typeface="Calibri"/>
              </a:rPr>
              <a:t>redelivery with settlement and a dead-letter path</a:t>
            </a:r>
          </a:p>
        </p:txBody>
      </p:sp>
      <p:sp>
        <p:nvSpPr>
          <p:cNvPr id="38" name="TextBox 37"/>
          <p:cNvSpPr txBox="1"/>
          <p:nvPr/>
        </p:nvSpPr>
        <p:spPr>
          <a:xfrm>
            <a:off x="7988300" y="3389249"/>
            <a:ext cx="3441700" cy="112395"/>
          </a:xfrm>
          <a:prstGeom prst="rect">
            <a:avLst/>
          </a:prstGeom>
          <a:noFill/>
        </p:spPr>
        <p:txBody>
          <a:bodyPr wrap="square" lIns="0" rIns="0" tIns="0" bIns="0" anchor="ctr">
            <a:spAutoFit/>
          </a:bodyPr>
          <a:lstStyle/>
          <a:p>
            <a:pPr algn="l">
              <a:lnSpc>
                <a:spcPct val="118000"/>
              </a:lnSpc>
            </a:pPr>
            <a:r>
              <a:rPr sz="750" b="0" i="0">
                <a:solidFill>
                  <a:srgbClr val="24354F"/>
                </a:solidFill>
                <a:latin typeface="Calibri"/>
              </a:rPr>
              <a:t>at-least-once, by design</a:t>
            </a:r>
          </a:p>
        </p:txBody>
      </p:sp>
      <p:sp>
        <p:nvSpPr>
          <p:cNvPr id="39" name="Rectangle 38"/>
          <p:cNvSpPr/>
          <p:nvPr/>
        </p:nvSpPr>
        <p:spPr>
          <a:xfrm>
            <a:off x="635000" y="3590544"/>
            <a:ext cx="10909300" cy="290195"/>
          </a:xfrm>
          <a:prstGeom prst="rect">
            <a:avLst/>
          </a:prstGeom>
          <a:solidFill>
            <a:srgbClr val="F5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35000" y="3873119"/>
            <a:ext cx="10909300" cy="7620"/>
          </a:xfrm>
          <a:prstGeom prst="rect">
            <a:avLst/>
          </a:prstGeom>
          <a:solidFill>
            <a:srgbClr val="D5E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49300" y="3679444"/>
            <a:ext cx="1549400" cy="112395"/>
          </a:xfrm>
          <a:prstGeom prst="rect">
            <a:avLst/>
          </a:prstGeom>
          <a:noFill/>
        </p:spPr>
        <p:txBody>
          <a:bodyPr wrap="square" lIns="0" rIns="0" tIns="0" bIns="0" anchor="ctr">
            <a:spAutoFit/>
          </a:bodyPr>
          <a:lstStyle/>
          <a:p>
            <a:pPr algn="l">
              <a:lnSpc>
                <a:spcPct val="118000"/>
              </a:lnSpc>
            </a:pPr>
            <a:r>
              <a:rPr sz="750" b="0" i="0">
                <a:solidFill>
                  <a:srgbClr val="24354F"/>
                </a:solidFill>
                <a:latin typeface="Calibri"/>
              </a:rPr>
              <a:t>WorkspaceImport</a:t>
            </a:r>
          </a:p>
        </p:txBody>
      </p:sp>
      <p:sp>
        <p:nvSpPr>
          <p:cNvPr id="42" name="TextBox 41"/>
          <p:cNvSpPr txBox="1"/>
          <p:nvPr/>
        </p:nvSpPr>
        <p:spPr>
          <a:xfrm>
            <a:off x="2527300" y="3679444"/>
            <a:ext cx="1041400" cy="112395"/>
          </a:xfrm>
          <a:prstGeom prst="rect">
            <a:avLst/>
          </a:prstGeom>
          <a:noFill/>
        </p:spPr>
        <p:txBody>
          <a:bodyPr wrap="square" lIns="0" rIns="0" tIns="0" bIns="0" anchor="ctr">
            <a:spAutoFit/>
          </a:bodyPr>
          <a:lstStyle/>
          <a:p>
            <a:pPr algn="l">
              <a:lnSpc>
                <a:spcPct val="118000"/>
              </a:lnSpc>
            </a:pPr>
            <a:r>
              <a:rPr sz="750" b="0" i="0">
                <a:solidFill>
                  <a:srgbClr val="24354F"/>
                </a:solidFill>
                <a:latin typeface="Calibri"/>
              </a:rPr>
              <a:t>claim + heartbeat</a:t>
            </a:r>
          </a:p>
        </p:txBody>
      </p:sp>
      <p:sp>
        <p:nvSpPr>
          <p:cNvPr id="43" name="TextBox 42"/>
          <p:cNvSpPr txBox="1"/>
          <p:nvPr/>
        </p:nvSpPr>
        <p:spPr>
          <a:xfrm>
            <a:off x="3797300" y="3679444"/>
            <a:ext cx="3962400" cy="112395"/>
          </a:xfrm>
          <a:prstGeom prst="rect">
            <a:avLst/>
          </a:prstGeom>
          <a:noFill/>
        </p:spPr>
        <p:txBody>
          <a:bodyPr wrap="square" lIns="0" rIns="0" tIns="0" bIns="0" anchor="ctr">
            <a:spAutoFit/>
          </a:bodyPr>
          <a:lstStyle/>
          <a:p>
            <a:pPr algn="l">
              <a:lnSpc>
                <a:spcPct val="118000"/>
              </a:lnSpc>
            </a:pPr>
            <a:r>
              <a:rPr sz="750" b="0" i="0">
                <a:solidFill>
                  <a:srgbClr val="24354F"/>
                </a:solidFill>
                <a:latin typeface="Calibri"/>
              </a:rPr>
              <a:t>lease expiry marks the job for reconciliation, not requeued automatically</a:t>
            </a:r>
          </a:p>
        </p:txBody>
      </p:sp>
      <p:sp>
        <p:nvSpPr>
          <p:cNvPr id="44" name="TextBox 43"/>
          <p:cNvSpPr txBox="1"/>
          <p:nvPr/>
        </p:nvSpPr>
        <p:spPr>
          <a:xfrm>
            <a:off x="7988300" y="3679444"/>
            <a:ext cx="3441700" cy="112395"/>
          </a:xfrm>
          <a:prstGeom prst="rect">
            <a:avLst/>
          </a:prstGeom>
          <a:noFill/>
        </p:spPr>
        <p:txBody>
          <a:bodyPr wrap="square" lIns="0" rIns="0" tIns="0" bIns="0" anchor="ctr">
            <a:spAutoFit/>
          </a:bodyPr>
          <a:lstStyle/>
          <a:p>
            <a:pPr algn="l">
              <a:lnSpc>
                <a:spcPct val="118000"/>
              </a:lnSpc>
            </a:pPr>
            <a:r>
              <a:rPr sz="750" b="0" i="0">
                <a:solidFill>
                  <a:srgbClr val="24354F"/>
                </a:solidFill>
                <a:latin typeface="Calibri"/>
              </a:rPr>
              <a:t>at-most-once per attempt; a retry safely replays the committed revision</a:t>
            </a:r>
          </a:p>
        </p:txBody>
      </p:sp>
      <p:sp>
        <p:nvSpPr>
          <p:cNvPr id="45" name="Rectangle 44"/>
          <p:cNvSpPr/>
          <p:nvPr/>
        </p:nvSpPr>
        <p:spPr>
          <a:xfrm>
            <a:off x="635000" y="4163314"/>
            <a:ext cx="10909300" cy="7620"/>
          </a:xfrm>
          <a:prstGeom prst="rect">
            <a:avLst/>
          </a:prstGeom>
          <a:solidFill>
            <a:srgbClr val="D5E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49300" y="3969639"/>
            <a:ext cx="1549400" cy="112395"/>
          </a:xfrm>
          <a:prstGeom prst="rect">
            <a:avLst/>
          </a:prstGeom>
          <a:noFill/>
        </p:spPr>
        <p:txBody>
          <a:bodyPr wrap="square" lIns="0" rIns="0" tIns="0" bIns="0" anchor="ctr">
            <a:spAutoFit/>
          </a:bodyPr>
          <a:lstStyle/>
          <a:p>
            <a:pPr algn="l">
              <a:lnSpc>
                <a:spcPct val="118000"/>
              </a:lnSpc>
            </a:pPr>
            <a:r>
              <a:rPr sz="750" b="0" i="0">
                <a:solidFill>
                  <a:srgbClr val="24354F"/>
                </a:solidFill>
                <a:latin typeface="Calibri"/>
              </a:rPr>
              <a:t>WorkflowScheduler</a:t>
            </a:r>
          </a:p>
        </p:txBody>
      </p:sp>
      <p:sp>
        <p:nvSpPr>
          <p:cNvPr id="47" name="TextBox 46"/>
          <p:cNvSpPr txBox="1"/>
          <p:nvPr/>
        </p:nvSpPr>
        <p:spPr>
          <a:xfrm>
            <a:off x="2527300" y="3969639"/>
            <a:ext cx="1041400" cy="112395"/>
          </a:xfrm>
          <a:prstGeom prst="rect">
            <a:avLst/>
          </a:prstGeom>
          <a:noFill/>
        </p:spPr>
        <p:txBody>
          <a:bodyPr wrap="square" lIns="0" rIns="0" tIns="0" bIns="0" anchor="ctr">
            <a:spAutoFit/>
          </a:bodyPr>
          <a:lstStyle/>
          <a:p>
            <a:pPr algn="l">
              <a:lnSpc>
                <a:spcPct val="118000"/>
              </a:lnSpc>
            </a:pPr>
            <a:r>
              <a:rPr sz="750" b="1" i="0">
                <a:solidFill>
                  <a:srgbClr val="A93B2B"/>
                </a:solidFill>
                <a:latin typeface="Calibri"/>
              </a:rPr>
              <a:t>none</a:t>
            </a:r>
          </a:p>
        </p:txBody>
      </p:sp>
      <p:sp>
        <p:nvSpPr>
          <p:cNvPr id="48" name="TextBox 47"/>
          <p:cNvSpPr txBox="1"/>
          <p:nvPr/>
        </p:nvSpPr>
        <p:spPr>
          <a:xfrm>
            <a:off x="3797300" y="3969639"/>
            <a:ext cx="3962400" cy="112395"/>
          </a:xfrm>
          <a:prstGeom prst="rect">
            <a:avLst/>
          </a:prstGeom>
          <a:noFill/>
        </p:spPr>
        <p:txBody>
          <a:bodyPr wrap="square" lIns="0" rIns="0" tIns="0" bIns="0" anchor="ctr">
            <a:spAutoFit/>
          </a:bodyPr>
          <a:lstStyle/>
          <a:p>
            <a:pPr algn="l">
              <a:lnSpc>
                <a:spcPct val="118000"/>
              </a:lnSpc>
            </a:pPr>
            <a:r>
              <a:rPr sz="750" b="0" i="0">
                <a:solidFill>
                  <a:srgbClr val="24354F"/>
                </a:solidFill>
                <a:latin typeface="Calibri"/>
              </a:rPr>
              <a:t>idempotent by a minute-bucketed key behind a unique partial index</a:t>
            </a:r>
          </a:p>
        </p:txBody>
      </p:sp>
      <p:sp>
        <p:nvSpPr>
          <p:cNvPr id="49" name="TextBox 48"/>
          <p:cNvSpPr txBox="1"/>
          <p:nvPr/>
        </p:nvSpPr>
        <p:spPr>
          <a:xfrm>
            <a:off x="7988300" y="3969639"/>
            <a:ext cx="3441700" cy="112395"/>
          </a:xfrm>
          <a:prstGeom prst="rect">
            <a:avLst/>
          </a:prstGeom>
          <a:noFill/>
        </p:spPr>
        <p:txBody>
          <a:bodyPr wrap="square" lIns="0" rIns="0" tIns="0" bIns="0" anchor="ctr">
            <a:spAutoFit/>
          </a:bodyPr>
          <a:lstStyle/>
          <a:p>
            <a:pPr algn="l">
              <a:lnSpc>
                <a:spcPct val="118000"/>
              </a:lnSpc>
            </a:pPr>
            <a:r>
              <a:rPr sz="750" b="0" i="0">
                <a:solidFill>
                  <a:srgbClr val="24354F"/>
                </a:solidFill>
                <a:latin typeface="Calibri"/>
              </a:rPr>
              <a:t>exactly-once firing; the work it enqueues then follows WorkflowRun</a:t>
            </a:r>
          </a:p>
        </p:txBody>
      </p:sp>
      <p:sp>
        <p:nvSpPr>
          <p:cNvPr id="50" name="Rectangle 49"/>
          <p:cNvSpPr/>
          <p:nvPr/>
        </p:nvSpPr>
        <p:spPr>
          <a:xfrm>
            <a:off x="635000" y="4170934"/>
            <a:ext cx="10909300" cy="290195"/>
          </a:xfrm>
          <a:prstGeom prst="rect">
            <a:avLst/>
          </a:prstGeom>
          <a:solidFill>
            <a:srgbClr val="F5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35000" y="4453509"/>
            <a:ext cx="10909300" cy="7620"/>
          </a:xfrm>
          <a:prstGeom prst="rect">
            <a:avLst/>
          </a:prstGeom>
          <a:solidFill>
            <a:srgbClr val="D5E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49300" y="4259834"/>
            <a:ext cx="1549400" cy="112395"/>
          </a:xfrm>
          <a:prstGeom prst="rect">
            <a:avLst/>
          </a:prstGeom>
          <a:noFill/>
        </p:spPr>
        <p:txBody>
          <a:bodyPr wrap="square" lIns="0" rIns="0" tIns="0" bIns="0" anchor="ctr">
            <a:spAutoFit/>
          </a:bodyPr>
          <a:lstStyle/>
          <a:p>
            <a:pPr algn="l">
              <a:lnSpc>
                <a:spcPct val="118000"/>
              </a:lnSpc>
            </a:pPr>
            <a:r>
              <a:rPr sz="750" b="0" i="0">
                <a:solidFill>
                  <a:srgbClr val="24354F"/>
                </a:solidFill>
                <a:latin typeface="Calibri"/>
              </a:rPr>
              <a:t>Janitor</a:t>
            </a:r>
          </a:p>
        </p:txBody>
      </p:sp>
      <p:sp>
        <p:nvSpPr>
          <p:cNvPr id="53" name="TextBox 52"/>
          <p:cNvSpPr txBox="1"/>
          <p:nvPr/>
        </p:nvSpPr>
        <p:spPr>
          <a:xfrm>
            <a:off x="2527300" y="4259834"/>
            <a:ext cx="1041400" cy="112395"/>
          </a:xfrm>
          <a:prstGeom prst="rect">
            <a:avLst/>
          </a:prstGeom>
          <a:noFill/>
        </p:spPr>
        <p:txBody>
          <a:bodyPr wrap="square" lIns="0" rIns="0" tIns="0" bIns="0" anchor="ctr">
            <a:spAutoFit/>
          </a:bodyPr>
          <a:lstStyle/>
          <a:p>
            <a:pPr algn="l">
              <a:lnSpc>
                <a:spcPct val="118000"/>
              </a:lnSpc>
            </a:pPr>
            <a:r>
              <a:rPr sz="750" b="1" i="0">
                <a:solidFill>
                  <a:srgbClr val="A93B2B"/>
                </a:solidFill>
                <a:latin typeface="Calibri"/>
              </a:rPr>
              <a:t>none</a:t>
            </a:r>
          </a:p>
        </p:txBody>
      </p:sp>
      <p:sp>
        <p:nvSpPr>
          <p:cNvPr id="54" name="TextBox 53"/>
          <p:cNvSpPr txBox="1"/>
          <p:nvPr/>
        </p:nvSpPr>
        <p:spPr>
          <a:xfrm>
            <a:off x="3797300" y="4259834"/>
            <a:ext cx="3962400" cy="112395"/>
          </a:xfrm>
          <a:prstGeom prst="rect">
            <a:avLst/>
          </a:prstGeom>
          <a:noFill/>
        </p:spPr>
        <p:txBody>
          <a:bodyPr wrap="square" lIns="0" rIns="0" tIns="0" bIns="0" anchor="ctr">
            <a:spAutoFit/>
          </a:bodyPr>
          <a:lstStyle/>
          <a:p>
            <a:pPr algn="l">
              <a:lnSpc>
                <a:spcPct val="118000"/>
              </a:lnSpc>
            </a:pPr>
            <a:r>
              <a:rPr sz="750" b="0" i="0">
                <a:solidFill>
                  <a:srgbClr val="24354F"/>
                </a:solidFill>
                <a:latin typeface="Calibri"/>
              </a:rPr>
              <a:t>an idempotent sweep; repeating it changes nothing</a:t>
            </a:r>
          </a:p>
        </p:txBody>
      </p:sp>
      <p:sp>
        <p:nvSpPr>
          <p:cNvPr id="55" name="TextBox 54"/>
          <p:cNvSpPr txBox="1"/>
          <p:nvPr/>
        </p:nvSpPr>
        <p:spPr>
          <a:xfrm>
            <a:off x="7988300" y="4259834"/>
            <a:ext cx="3441700" cy="112395"/>
          </a:xfrm>
          <a:prstGeom prst="rect">
            <a:avLst/>
          </a:prstGeom>
          <a:noFill/>
        </p:spPr>
        <p:txBody>
          <a:bodyPr wrap="square" lIns="0" rIns="0" tIns="0" bIns="0" anchor="ctr">
            <a:spAutoFit/>
          </a:bodyPr>
          <a:lstStyle/>
          <a:p>
            <a:pPr algn="l">
              <a:lnSpc>
                <a:spcPct val="118000"/>
              </a:lnSpc>
            </a:pPr>
            <a:r>
              <a:rPr sz="750" b="0" i="0">
                <a:solidFill>
                  <a:srgbClr val="24354F"/>
                </a:solidFill>
                <a:latin typeface="Calibri"/>
              </a:rPr>
              <a:t>idempotent</a:t>
            </a:r>
          </a:p>
        </p:txBody>
      </p:sp>
      <p:sp>
        <p:nvSpPr>
          <p:cNvPr id="56" name="Rectangle 55"/>
          <p:cNvSpPr/>
          <p:nvPr/>
        </p:nvSpPr>
        <p:spPr>
          <a:xfrm>
            <a:off x="635000" y="4743704"/>
            <a:ext cx="10909300" cy="7620"/>
          </a:xfrm>
          <a:prstGeom prst="rect">
            <a:avLst/>
          </a:prstGeom>
          <a:solidFill>
            <a:srgbClr val="D5E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49300" y="4550029"/>
            <a:ext cx="1549400" cy="112395"/>
          </a:xfrm>
          <a:prstGeom prst="rect">
            <a:avLst/>
          </a:prstGeom>
          <a:noFill/>
        </p:spPr>
        <p:txBody>
          <a:bodyPr wrap="square" lIns="0" rIns="0" tIns="0" bIns="0" anchor="ctr">
            <a:spAutoFit/>
          </a:bodyPr>
          <a:lstStyle/>
          <a:p>
            <a:pPr algn="l">
              <a:lnSpc>
                <a:spcPct val="118000"/>
              </a:lnSpc>
            </a:pPr>
            <a:r>
              <a:rPr sz="750" b="0" i="0">
                <a:solidFill>
                  <a:srgbClr val="24354F"/>
                </a:solidFill>
                <a:latin typeface="Calibri"/>
              </a:rPr>
              <a:t>AriaPlan</a:t>
            </a:r>
          </a:p>
        </p:txBody>
      </p:sp>
      <p:sp>
        <p:nvSpPr>
          <p:cNvPr id="58" name="TextBox 57"/>
          <p:cNvSpPr txBox="1"/>
          <p:nvPr/>
        </p:nvSpPr>
        <p:spPr>
          <a:xfrm>
            <a:off x="2527300" y="4550029"/>
            <a:ext cx="1041400" cy="112395"/>
          </a:xfrm>
          <a:prstGeom prst="rect">
            <a:avLst/>
          </a:prstGeom>
          <a:noFill/>
        </p:spPr>
        <p:txBody>
          <a:bodyPr wrap="square" lIns="0" rIns="0" tIns="0" bIns="0" anchor="ctr">
            <a:spAutoFit/>
          </a:bodyPr>
          <a:lstStyle/>
          <a:p>
            <a:pPr algn="l">
              <a:lnSpc>
                <a:spcPct val="118000"/>
              </a:lnSpc>
            </a:pPr>
            <a:r>
              <a:rPr sz="750" b="1" i="0">
                <a:solidFill>
                  <a:srgbClr val="A93B2B"/>
                </a:solidFill>
                <a:latin typeface="Calibri"/>
              </a:rPr>
              <a:t>none</a:t>
            </a:r>
          </a:p>
        </p:txBody>
      </p:sp>
      <p:sp>
        <p:nvSpPr>
          <p:cNvPr id="59" name="TextBox 58"/>
          <p:cNvSpPr txBox="1"/>
          <p:nvPr/>
        </p:nvSpPr>
        <p:spPr>
          <a:xfrm>
            <a:off x="3797300" y="4550029"/>
            <a:ext cx="3962400" cy="112395"/>
          </a:xfrm>
          <a:prstGeom prst="rect">
            <a:avLst/>
          </a:prstGeom>
          <a:noFill/>
        </p:spPr>
        <p:txBody>
          <a:bodyPr wrap="square" lIns="0" rIns="0" tIns="0" bIns="0" anchor="ctr">
            <a:spAutoFit/>
          </a:bodyPr>
          <a:lstStyle/>
          <a:p>
            <a:pPr algn="l">
              <a:lnSpc>
                <a:spcPct val="118000"/>
              </a:lnSpc>
            </a:pPr>
            <a:r>
              <a:rPr sz="750" b="0" i="0">
                <a:solidFill>
                  <a:srgbClr val="24354F"/>
                </a:solidFill>
                <a:latin typeface="Calibri"/>
              </a:rPr>
              <a:t>polls for plans parked on settled jobs; no claim is taken</a:t>
            </a:r>
          </a:p>
        </p:txBody>
      </p:sp>
      <p:sp>
        <p:nvSpPr>
          <p:cNvPr id="60" name="TextBox 59"/>
          <p:cNvSpPr txBox="1"/>
          <p:nvPr/>
        </p:nvSpPr>
        <p:spPr>
          <a:xfrm>
            <a:off x="7988300" y="4550029"/>
            <a:ext cx="3441700" cy="112395"/>
          </a:xfrm>
          <a:prstGeom prst="rect">
            <a:avLst/>
          </a:prstGeom>
          <a:noFill/>
        </p:spPr>
        <p:txBody>
          <a:bodyPr wrap="square" lIns="0" rIns="0" tIns="0" bIns="0" anchor="ctr">
            <a:spAutoFit/>
          </a:bodyPr>
          <a:lstStyle/>
          <a:p>
            <a:pPr algn="l">
              <a:lnSpc>
                <a:spcPct val="118000"/>
              </a:lnSpc>
            </a:pPr>
            <a:r>
              <a:rPr sz="750" b="0" i="0">
                <a:solidFill>
                  <a:srgbClr val="24354F"/>
                </a:solidFill>
                <a:latin typeface="Calibri"/>
              </a:rPr>
              <a:t>at-least-once resume</a:t>
            </a:r>
          </a:p>
        </p:txBody>
      </p:sp>
      <p:sp>
        <p:nvSpPr>
          <p:cNvPr id="61" name="Rectangle 60"/>
          <p:cNvSpPr/>
          <p:nvPr/>
        </p:nvSpPr>
        <p:spPr>
          <a:xfrm>
            <a:off x="635000" y="4751324"/>
            <a:ext cx="10909300" cy="290195"/>
          </a:xfrm>
          <a:prstGeom prst="rect">
            <a:avLst/>
          </a:prstGeom>
          <a:solidFill>
            <a:srgbClr val="F5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635000" y="5033899"/>
            <a:ext cx="10909300" cy="7620"/>
          </a:xfrm>
          <a:prstGeom prst="rect">
            <a:avLst/>
          </a:prstGeom>
          <a:solidFill>
            <a:srgbClr val="D5E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49300" y="4840224"/>
            <a:ext cx="1549400" cy="112395"/>
          </a:xfrm>
          <a:prstGeom prst="rect">
            <a:avLst/>
          </a:prstGeom>
          <a:noFill/>
        </p:spPr>
        <p:txBody>
          <a:bodyPr wrap="square" lIns="0" rIns="0" tIns="0" bIns="0" anchor="ctr">
            <a:spAutoFit/>
          </a:bodyPr>
          <a:lstStyle/>
          <a:p>
            <a:pPr algn="l">
              <a:lnSpc>
                <a:spcPct val="118000"/>
              </a:lnSpc>
            </a:pPr>
            <a:r>
              <a:rPr sz="750" b="0" i="0">
                <a:solidFill>
                  <a:srgbClr val="24354F"/>
                </a:solidFill>
                <a:latin typeface="Calibri"/>
              </a:rPr>
              <a:t>ReleaseReconciler</a:t>
            </a:r>
          </a:p>
        </p:txBody>
      </p:sp>
      <p:sp>
        <p:nvSpPr>
          <p:cNvPr id="64" name="TextBox 63"/>
          <p:cNvSpPr txBox="1"/>
          <p:nvPr/>
        </p:nvSpPr>
        <p:spPr>
          <a:xfrm>
            <a:off x="2527300" y="4840224"/>
            <a:ext cx="1041400" cy="112395"/>
          </a:xfrm>
          <a:prstGeom prst="rect">
            <a:avLst/>
          </a:prstGeom>
          <a:noFill/>
        </p:spPr>
        <p:txBody>
          <a:bodyPr wrap="square" lIns="0" rIns="0" tIns="0" bIns="0" anchor="ctr">
            <a:spAutoFit/>
          </a:bodyPr>
          <a:lstStyle/>
          <a:p>
            <a:pPr algn="l">
              <a:lnSpc>
                <a:spcPct val="118000"/>
              </a:lnSpc>
            </a:pPr>
            <a:r>
              <a:rPr sz="750" b="1" i="0">
                <a:solidFill>
                  <a:srgbClr val="A93B2B"/>
                </a:solidFill>
                <a:latin typeface="Calibri"/>
              </a:rPr>
              <a:t>none</a:t>
            </a:r>
          </a:p>
        </p:txBody>
      </p:sp>
      <p:sp>
        <p:nvSpPr>
          <p:cNvPr id="65" name="TextBox 64"/>
          <p:cNvSpPr txBox="1"/>
          <p:nvPr/>
        </p:nvSpPr>
        <p:spPr>
          <a:xfrm>
            <a:off x="3797300" y="4840224"/>
            <a:ext cx="3962400" cy="112395"/>
          </a:xfrm>
          <a:prstGeom prst="rect">
            <a:avLst/>
          </a:prstGeom>
          <a:noFill/>
        </p:spPr>
        <p:txBody>
          <a:bodyPr wrap="square" lIns="0" rIns="0" tIns="0" bIns="0" anchor="ctr">
            <a:spAutoFit/>
          </a:bodyPr>
          <a:lstStyle/>
          <a:p>
            <a:pPr algn="l">
              <a:lnSpc>
                <a:spcPct val="118000"/>
              </a:lnSpc>
            </a:pPr>
            <a:r>
              <a:rPr sz="750" b="0" i="0">
                <a:solidFill>
                  <a:srgbClr val="24354F"/>
                </a:solidFill>
                <a:latin typeface="Calibri"/>
              </a:rPr>
              <a:t>none needed: the next tick re-observes the alias; prepared rows are never touched</a:t>
            </a:r>
          </a:p>
        </p:txBody>
      </p:sp>
      <p:sp>
        <p:nvSpPr>
          <p:cNvPr id="66" name="TextBox 65"/>
          <p:cNvSpPr txBox="1"/>
          <p:nvPr/>
        </p:nvSpPr>
        <p:spPr>
          <a:xfrm>
            <a:off x="7988300" y="4840224"/>
            <a:ext cx="3441700" cy="112395"/>
          </a:xfrm>
          <a:prstGeom prst="rect">
            <a:avLst/>
          </a:prstGeom>
          <a:noFill/>
        </p:spPr>
        <p:txBody>
          <a:bodyPr wrap="square" lIns="0" rIns="0" tIns="0" bIns="0" anchor="ctr">
            <a:spAutoFit/>
          </a:bodyPr>
          <a:lstStyle/>
          <a:p>
            <a:pPr algn="l">
              <a:lnSpc>
                <a:spcPct val="118000"/>
              </a:lnSpc>
            </a:pPr>
            <a:r>
              <a:rPr sz="750" b="0" i="0">
                <a:solidFill>
                  <a:srgbClr val="24354F"/>
                </a:solidFill>
                <a:latin typeface="Calibri"/>
              </a:rPr>
              <a:t>idempotent convergence</a:t>
            </a:r>
          </a:p>
        </p:txBody>
      </p:sp>
      <p:sp>
        <p:nvSpPr>
          <p:cNvPr id="67" name="Rounded Rectangle 66"/>
          <p:cNvSpPr/>
          <p:nvPr/>
        </p:nvSpPr>
        <p:spPr>
          <a:xfrm>
            <a:off x="635000" y="5219319"/>
            <a:ext cx="10909300" cy="909319"/>
          </a:xfrm>
          <a:prstGeom prst="roundRect">
            <a:avLst>
              <a:gd name="adj" fmla="val 12569"/>
            </a:avLst>
          </a:prstGeom>
          <a:solidFill>
            <a:srgbClr val="FBF4E6"/>
          </a:solidFill>
          <a:ln w="9525">
            <a:solidFill>
              <a:srgbClr val="F0E4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Box 67"/>
          <p:cNvSpPr txBox="1"/>
          <p:nvPr/>
        </p:nvSpPr>
        <p:spPr>
          <a:xfrm>
            <a:off x="889000" y="5359019"/>
            <a:ext cx="10401300" cy="177800"/>
          </a:xfrm>
          <a:prstGeom prst="rect">
            <a:avLst/>
          </a:prstGeom>
          <a:noFill/>
        </p:spPr>
        <p:txBody>
          <a:bodyPr wrap="square" lIns="0" rIns="0" tIns="0" bIns="0" anchor="t">
            <a:spAutoFit/>
          </a:bodyPr>
          <a:lstStyle/>
          <a:p>
            <a:pPr algn="l">
              <a:lnSpc>
                <a:spcPct val="122000"/>
              </a:lnSpc>
            </a:pPr>
            <a:r>
              <a:rPr sz="950" b="1" i="0">
                <a:solidFill>
                  <a:srgbClr val="B5821F"/>
                </a:solidFill>
                <a:latin typeface="Calibri"/>
              </a:rPr>
              <a:t>External effects are a separate question from job delivery</a:t>
            </a:r>
          </a:p>
        </p:txBody>
      </p:sp>
      <p:sp>
        <p:nvSpPr>
          <p:cNvPr id="69" name="TextBox 68"/>
          <p:cNvSpPr txBox="1"/>
          <p:nvPr/>
        </p:nvSpPr>
        <p:spPr>
          <a:xfrm>
            <a:off x="889000" y="5587619"/>
            <a:ext cx="10401300" cy="325120"/>
          </a:xfrm>
          <a:prstGeom prst="rect">
            <a:avLst/>
          </a:prstGeom>
          <a:noFill/>
        </p:spPr>
        <p:txBody>
          <a:bodyPr wrap="square" lIns="0" rIns="0" tIns="0" bIns="0" anchor="t">
            <a:spAutoFit/>
          </a:bodyPr>
          <a:lstStyle/>
          <a:p>
            <a:pPr algn="l">
              <a:lnSpc>
                <a:spcPct val="128000"/>
              </a:lnSpc>
            </a:pPr>
            <a:r>
              <a:rPr sz="1000" b="0" i="0">
                <a:solidFill>
                  <a:srgbClr val="4E3529"/>
                </a:solidFill>
                <a:latin typeface="Calibri"/>
              </a:rPr>
              <a:t>The workflow effect ledger records an in_progress external call whose outcome after a crash is indeterminate — neither confirmed nor safely repeatable — and surfaces it as such rather than guessing.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E1E3A"/>
        </a:solidFill>
        <a:effectLst/>
      </p:bgPr>
    </p:bg>
    <p:spTree>
      <p:nvGrpSpPr>
        <p:cNvPr id="1" name=""/>
        <p:cNvGrpSpPr/>
        <p:nvPr/>
      </p:nvGrpSpPr>
      <p:grpSpPr/>
      <p:sp>
        <p:nvSpPr>
          <p:cNvPr id="2" name="TextBox 1"/>
          <p:cNvSpPr txBox="1"/>
          <p:nvPr/>
        </p:nvSpPr>
        <p:spPr>
          <a:xfrm>
            <a:off x="635000" y="6337300"/>
            <a:ext cx="6096000" cy="254000"/>
          </a:xfrm>
          <a:prstGeom prst="rect">
            <a:avLst/>
          </a:prstGeom>
          <a:noFill/>
        </p:spPr>
        <p:txBody>
          <a:bodyPr wrap="square" lIns="0" rIns="0" tIns="0" bIns="0" anchor="t">
            <a:spAutoFit/>
          </a:bodyPr>
          <a:lstStyle/>
          <a:p>
            <a:pPr algn="l">
              <a:lnSpc>
                <a:spcPct val="122000"/>
              </a:lnSpc>
            </a:pPr>
            <a:r>
              <a:rPr sz="900" b="0" i="0">
                <a:solidFill>
                  <a:srgbClr val="43597C"/>
                </a:solidFill>
                <a:latin typeface="Calibri"/>
              </a:rPr>
              <a:t>CALIBER  ·  A Layered Control Plane for Governed Releases of AI-Agent Resources</a:t>
            </a:r>
          </a:p>
        </p:txBody>
      </p:sp>
      <p:sp>
        <p:nvSpPr>
          <p:cNvPr id="3" name="TextBox 2"/>
          <p:cNvSpPr txBox="1"/>
          <p:nvPr/>
        </p:nvSpPr>
        <p:spPr>
          <a:xfrm>
            <a:off x="10629900" y="6337300"/>
            <a:ext cx="914400" cy="254000"/>
          </a:xfrm>
          <a:prstGeom prst="rect">
            <a:avLst/>
          </a:prstGeom>
          <a:noFill/>
        </p:spPr>
        <p:txBody>
          <a:bodyPr wrap="square" lIns="0" rIns="0" tIns="0" bIns="0" anchor="t">
            <a:spAutoFit/>
          </a:bodyPr>
          <a:lstStyle/>
          <a:p>
            <a:pPr algn="r">
              <a:lnSpc>
                <a:spcPct val="122000"/>
              </a:lnSpc>
            </a:pPr>
            <a:r>
              <a:rPr sz="900" b="0" i="0">
                <a:solidFill>
                  <a:srgbClr val="43597C"/>
                </a:solidFill>
                <a:latin typeface="Calibri"/>
              </a:rPr>
              <a:t>18</a:t>
            </a:r>
          </a:p>
        </p:txBody>
      </p:sp>
      <p:sp>
        <p:nvSpPr>
          <p:cNvPr id="4" name="Oval 3"/>
          <p:cNvSpPr/>
          <p:nvPr/>
        </p:nvSpPr>
        <p:spPr>
          <a:xfrm>
            <a:off x="9321800" y="914400"/>
            <a:ext cx="5118100" cy="5118100"/>
          </a:xfrm>
          <a:prstGeom prst="ellipse">
            <a:avLst/>
          </a:prstGeom>
          <a:solidFill>
            <a:srgbClr val="1A3563"/>
          </a:solidFill>
          <a:ln w="12700">
            <a:solidFill>
              <a:srgbClr val="1A35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604500" y="2184400"/>
            <a:ext cx="2552700" cy="2552700"/>
          </a:xfrm>
          <a:prstGeom prst="ellipse">
            <a:avLst/>
          </a:prstGeom>
          <a:solidFill>
            <a:srgbClr val="1F8A99"/>
          </a:solidFill>
          <a:ln w="12700">
            <a:solidFill>
              <a:srgbClr val="1F8A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379200" y="2959100"/>
            <a:ext cx="1003300" cy="1003300"/>
          </a:xfrm>
          <a:prstGeom prst="ellipse">
            <a:avLst/>
          </a:prstGeom>
          <a:solidFill>
            <a:srgbClr val="56B3BE"/>
          </a:solidFill>
          <a:ln w="12700">
            <a:solidFill>
              <a:srgbClr val="56B3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5000" y="2146300"/>
            <a:ext cx="1651000" cy="1371600"/>
          </a:xfrm>
          <a:prstGeom prst="rect">
            <a:avLst/>
          </a:prstGeom>
          <a:noFill/>
        </p:spPr>
        <p:txBody>
          <a:bodyPr wrap="square" lIns="0" rIns="0" tIns="0" bIns="0" anchor="t">
            <a:spAutoFit/>
          </a:bodyPr>
          <a:lstStyle/>
          <a:p>
            <a:pPr algn="l">
              <a:lnSpc>
                <a:spcPct val="100000"/>
              </a:lnSpc>
            </a:pPr>
            <a:r>
              <a:rPr sz="7600" b="1" i="0">
                <a:solidFill>
                  <a:srgbClr val="56B3BE"/>
                </a:solidFill>
                <a:latin typeface="Calibri"/>
              </a:rPr>
              <a:t>III</a:t>
            </a:r>
          </a:p>
        </p:txBody>
      </p:sp>
      <p:sp>
        <p:nvSpPr>
          <p:cNvPr id="8" name="TextBox 7"/>
          <p:cNvSpPr txBox="1"/>
          <p:nvPr/>
        </p:nvSpPr>
        <p:spPr>
          <a:xfrm>
            <a:off x="2362200" y="2286000"/>
            <a:ext cx="6350000" cy="685800"/>
          </a:xfrm>
          <a:prstGeom prst="rect">
            <a:avLst/>
          </a:prstGeom>
          <a:noFill/>
        </p:spPr>
        <p:txBody>
          <a:bodyPr wrap="square" lIns="0" rIns="0" tIns="0" bIns="0" anchor="t">
            <a:spAutoFit/>
          </a:bodyPr>
          <a:lstStyle/>
          <a:p>
            <a:pPr algn="l">
              <a:lnSpc>
                <a:spcPct val="105000"/>
              </a:lnSpc>
            </a:pPr>
            <a:r>
              <a:rPr sz="3400" b="1" i="0">
                <a:solidFill>
                  <a:srgbClr val="FFFFFF"/>
                </a:solidFill>
                <a:latin typeface="Calibri"/>
              </a:rPr>
              <a:t>Evidence and limits</a:t>
            </a:r>
          </a:p>
        </p:txBody>
      </p:sp>
      <p:sp>
        <p:nvSpPr>
          <p:cNvPr id="9" name="TextBox 8"/>
          <p:cNvSpPr txBox="1"/>
          <p:nvPr/>
        </p:nvSpPr>
        <p:spPr>
          <a:xfrm>
            <a:off x="2387600" y="3048000"/>
            <a:ext cx="6350000" cy="762000"/>
          </a:xfrm>
          <a:prstGeom prst="rect">
            <a:avLst/>
          </a:prstGeom>
          <a:noFill/>
        </p:spPr>
        <p:txBody>
          <a:bodyPr wrap="square" lIns="0" rIns="0" tIns="0" bIns="0" anchor="t">
            <a:spAutoFit/>
          </a:bodyPr>
          <a:lstStyle/>
          <a:p>
            <a:pPr algn="l">
              <a:lnSpc>
                <a:spcPct val="132000"/>
              </a:lnSpc>
            </a:pPr>
            <a:r>
              <a:rPr sz="1350" b="0" i="0">
                <a:solidFill>
                  <a:srgbClr val="9BD0D6"/>
                </a:solidFill>
                <a:latin typeface="Calibri"/>
              </a:rPr>
              <a:t>What is measured, what is merely specified, what the comparison costs, and what this work does not establish.</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35000" y="6337300"/>
            <a:ext cx="6096000" cy="254000"/>
          </a:xfrm>
          <a:prstGeom prst="rect">
            <a:avLst/>
          </a:prstGeom>
          <a:noFill/>
        </p:spPr>
        <p:txBody>
          <a:bodyPr wrap="square" lIns="0" rIns="0" tIns="0" bIns="0" anchor="t">
            <a:spAutoFit/>
          </a:bodyPr>
          <a:lstStyle/>
          <a:p>
            <a:pPr algn="l">
              <a:lnSpc>
                <a:spcPct val="122000"/>
              </a:lnSpc>
            </a:pPr>
            <a:r>
              <a:rPr sz="900" b="0" i="0">
                <a:solidFill>
                  <a:srgbClr val="A3B2C4"/>
                </a:solidFill>
                <a:latin typeface="Calibri"/>
              </a:rPr>
              <a:t>CALIBER  ·  A Layered Control Plane for Governed Releases of AI-Agent Resources</a:t>
            </a:r>
          </a:p>
        </p:txBody>
      </p:sp>
      <p:sp>
        <p:nvSpPr>
          <p:cNvPr id="3" name="TextBox 2"/>
          <p:cNvSpPr txBox="1"/>
          <p:nvPr/>
        </p:nvSpPr>
        <p:spPr>
          <a:xfrm>
            <a:off x="10629900" y="6337300"/>
            <a:ext cx="914400" cy="254000"/>
          </a:xfrm>
          <a:prstGeom prst="rect">
            <a:avLst/>
          </a:prstGeom>
          <a:noFill/>
        </p:spPr>
        <p:txBody>
          <a:bodyPr wrap="square" lIns="0" rIns="0" tIns="0" bIns="0" anchor="t">
            <a:spAutoFit/>
          </a:bodyPr>
          <a:lstStyle/>
          <a:p>
            <a:pPr algn="r">
              <a:lnSpc>
                <a:spcPct val="122000"/>
              </a:lnSpc>
            </a:pPr>
            <a:r>
              <a:rPr sz="900" b="0" i="0">
                <a:solidFill>
                  <a:srgbClr val="A3B2C4"/>
                </a:solidFill>
                <a:latin typeface="Calibri"/>
              </a:rPr>
              <a:t>19</a:t>
            </a:r>
          </a:p>
        </p:txBody>
      </p:sp>
      <p:sp>
        <p:nvSpPr>
          <p:cNvPr id="4" name="TextBox 3"/>
          <p:cNvSpPr txBox="1"/>
          <p:nvPr/>
        </p:nvSpPr>
        <p:spPr>
          <a:xfrm>
            <a:off x="635000" y="381000"/>
            <a:ext cx="10909300" cy="228600"/>
          </a:xfrm>
          <a:prstGeom prst="rect">
            <a:avLst/>
          </a:prstGeom>
          <a:noFill/>
        </p:spPr>
        <p:txBody>
          <a:bodyPr wrap="square" lIns="0" rIns="0" tIns="0" bIns="0" anchor="t">
            <a:spAutoFit/>
          </a:bodyPr>
          <a:lstStyle/>
          <a:p>
            <a:pPr algn="l">
              <a:lnSpc>
                <a:spcPct val="122000"/>
              </a:lnSpc>
            </a:pPr>
            <a:r>
              <a:rPr sz="1050" b="1" i="0">
                <a:solidFill>
                  <a:srgbClr val="1F8A99"/>
                </a:solidFill>
                <a:latin typeface="Calibri"/>
              </a:rPr>
              <a:t>Evaluation  ·  §10  ·  Table 5</a:t>
            </a:r>
          </a:p>
        </p:txBody>
      </p:sp>
      <p:sp>
        <p:nvSpPr>
          <p:cNvPr id="5" name="TextBox 4"/>
          <p:cNvSpPr txBox="1"/>
          <p:nvPr/>
        </p:nvSpPr>
        <p:spPr>
          <a:xfrm>
            <a:off x="635000" y="647700"/>
            <a:ext cx="10909300" cy="495300"/>
          </a:xfrm>
          <a:prstGeom prst="rect">
            <a:avLst/>
          </a:prstGeom>
          <a:noFill/>
        </p:spPr>
        <p:txBody>
          <a:bodyPr wrap="square" lIns="0" rIns="0" tIns="0" bIns="0" anchor="t">
            <a:spAutoFit/>
          </a:bodyPr>
          <a:lstStyle/>
          <a:p>
            <a:pPr algn="l">
              <a:lnSpc>
                <a:spcPct val="108000"/>
              </a:lnSpc>
            </a:pPr>
            <a:r>
              <a:rPr sz="2600" b="1" i="0">
                <a:solidFill>
                  <a:srgbClr val="0E1E3A"/>
                </a:solidFill>
                <a:latin typeface="Calibri"/>
              </a:rPr>
              <a:t>The quantitative evaluation is specified and unrun</a:t>
            </a:r>
          </a:p>
        </p:txBody>
      </p:sp>
      <p:sp>
        <p:nvSpPr>
          <p:cNvPr id="6" name="TextBox 5"/>
          <p:cNvSpPr txBox="1"/>
          <p:nvPr/>
        </p:nvSpPr>
        <p:spPr>
          <a:xfrm>
            <a:off x="635000" y="1168400"/>
            <a:ext cx="10909300" cy="431800"/>
          </a:xfrm>
          <a:prstGeom prst="rect">
            <a:avLst/>
          </a:prstGeom>
          <a:noFill/>
        </p:spPr>
        <p:txBody>
          <a:bodyPr wrap="square" lIns="0" rIns="0" tIns="0" bIns="0" anchor="t">
            <a:spAutoFit/>
          </a:bodyPr>
          <a:lstStyle/>
          <a:p>
            <a:pPr algn="l">
              <a:lnSpc>
                <a:spcPct val="130000"/>
              </a:lnSpc>
            </a:pPr>
            <a:r>
              <a:rPr sz="1250" b="0" i="0">
                <a:solidFill>
                  <a:srgbClr val="24354F"/>
                </a:solidFill>
                <a:latin typeface="Calibri"/>
              </a:rPr>
              <a:t>This is the paper's primary limitation and it is not mitigated by anything else in it. Every quantitative cell renders as TBM rather than as an estimate.</a:t>
            </a:r>
          </a:p>
        </p:txBody>
      </p:sp>
      <p:sp>
        <p:nvSpPr>
          <p:cNvPr id="7" name="Rounded Rectangle 6"/>
          <p:cNvSpPr/>
          <p:nvPr/>
        </p:nvSpPr>
        <p:spPr>
          <a:xfrm>
            <a:off x="635000" y="1701800"/>
            <a:ext cx="10909300" cy="762000"/>
          </a:xfrm>
          <a:prstGeom prst="roundRect">
            <a:avLst>
              <a:gd name="adj" fmla="val 15000"/>
            </a:avLst>
          </a:prstGeom>
          <a:solidFill>
            <a:srgbClr val="FBF0EC"/>
          </a:solidFill>
          <a:ln w="9525">
            <a:solidFill>
              <a:srgbClr val="EFDC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89000" y="1930400"/>
            <a:ext cx="330200" cy="330200"/>
          </a:xfrm>
          <a:prstGeom prst="ellipse">
            <a:avLst/>
          </a:prstGeom>
          <a:solidFill>
            <a:srgbClr val="A93B2B"/>
          </a:solidFill>
          <a:ln w="12700">
            <a:solidFill>
              <a:srgbClr val="A93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9000" y="2004695"/>
            <a:ext cx="330200" cy="195579"/>
          </a:xfrm>
          <a:prstGeom prst="rect">
            <a:avLst/>
          </a:prstGeom>
          <a:noFill/>
        </p:spPr>
        <p:txBody>
          <a:bodyPr wrap="square" lIns="0" rIns="0" tIns="0" bIns="0" anchor="t">
            <a:spAutoFit/>
          </a:bodyPr>
          <a:lstStyle/>
          <a:p>
            <a:pPr algn="ctr">
              <a:lnSpc>
                <a:spcPct val="122000"/>
              </a:lnSpc>
            </a:pPr>
            <a:r>
              <a:rPr sz="1100" b="1" i="0">
                <a:solidFill>
                  <a:srgbClr val="FFFFFF"/>
                </a:solidFill>
                <a:latin typeface="Calibri"/>
              </a:rPr>
              <a:t>!</a:t>
            </a:r>
          </a:p>
        </p:txBody>
      </p:sp>
      <p:sp>
        <p:nvSpPr>
          <p:cNvPr id="10" name="TextBox 9"/>
          <p:cNvSpPr txBox="1"/>
          <p:nvPr/>
        </p:nvSpPr>
        <p:spPr>
          <a:xfrm>
            <a:off x="1371600" y="1892300"/>
            <a:ext cx="9893300" cy="457200"/>
          </a:xfrm>
          <a:prstGeom prst="rect">
            <a:avLst/>
          </a:prstGeom>
          <a:noFill/>
        </p:spPr>
        <p:txBody>
          <a:bodyPr wrap="square" lIns="0" rIns="0" tIns="0" bIns="0" anchor="t">
            <a:spAutoFit/>
          </a:bodyPr>
          <a:lstStyle/>
          <a:p>
            <a:pPr algn="l">
              <a:lnSpc>
                <a:spcPct val="128000"/>
              </a:lnSpc>
            </a:pPr>
            <a:r>
              <a:rPr sz="1100" b="0" i="0">
                <a:solidFill>
                  <a:srgbClr val="5C4034"/>
                </a:solidFill>
                <a:latin typeface="Calibri"/>
              </a:rPr>
              <a:t>An empty cell is honest and can be filled; a plausible wrong number cannot be unfilled. Numbers that were projected, carried over from an earlier configuration, or produced under undisclosed conditions are indistinguishable from measured ones to a reader, and they propagate into citations.</a:t>
            </a:r>
          </a:p>
        </p:txBody>
      </p:sp>
      <p:sp>
        <p:nvSpPr>
          <p:cNvPr id="11" name="TextBox 10"/>
          <p:cNvSpPr txBox="1"/>
          <p:nvPr/>
        </p:nvSpPr>
        <p:spPr>
          <a:xfrm>
            <a:off x="635000" y="2616200"/>
            <a:ext cx="10909300" cy="190500"/>
          </a:xfrm>
          <a:prstGeom prst="rect">
            <a:avLst/>
          </a:prstGeom>
          <a:noFill/>
        </p:spPr>
        <p:txBody>
          <a:bodyPr wrap="square" lIns="0" rIns="0" tIns="0" bIns="0" anchor="t">
            <a:spAutoFit/>
          </a:bodyPr>
          <a:lstStyle/>
          <a:p>
            <a:pPr algn="l">
              <a:lnSpc>
                <a:spcPct val="122000"/>
              </a:lnSpc>
            </a:pPr>
            <a:r>
              <a:rPr sz="950" b="1" i="0">
                <a:solidFill>
                  <a:srgbClr val="1F8A99"/>
                </a:solidFill>
                <a:latin typeface="Calibri"/>
              </a:rPr>
              <a:t>What does execute: eight deterministic structural checks</a:t>
            </a:r>
          </a:p>
        </p:txBody>
      </p:sp>
      <p:sp>
        <p:nvSpPr>
          <p:cNvPr id="12" name="Rounded Rectangle 11"/>
          <p:cNvSpPr/>
          <p:nvPr/>
        </p:nvSpPr>
        <p:spPr>
          <a:xfrm>
            <a:off x="635000" y="2870200"/>
            <a:ext cx="2622550" cy="482600"/>
          </a:xfrm>
          <a:prstGeom prst="roundRect">
            <a:avLst>
              <a:gd name="adj" fmla="val 23684"/>
            </a:avLst>
          </a:prstGeom>
          <a:solidFill>
            <a:srgbClr val="E8F4F5"/>
          </a:solidFill>
          <a:ln w="9525">
            <a:solidFill>
              <a:srgbClr val="CFE4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87400" y="3022600"/>
            <a:ext cx="2317750" cy="203200"/>
          </a:xfrm>
          <a:prstGeom prst="rect">
            <a:avLst/>
          </a:prstGeom>
          <a:noFill/>
        </p:spPr>
        <p:txBody>
          <a:bodyPr wrap="square" lIns="0" rIns="0" tIns="0" bIns="0" anchor="t">
            <a:spAutoFit/>
          </a:bodyPr>
          <a:lstStyle/>
          <a:p>
            <a:pPr algn="l">
              <a:lnSpc>
                <a:spcPct val="122000"/>
              </a:lnSpc>
            </a:pPr>
            <a:r>
              <a:rPr sz="950" b="1" i="0">
                <a:solidFill>
                  <a:srgbClr val="1F8A99"/>
                </a:solidFill>
                <a:latin typeface="Calibri"/>
              </a:rPr>
              <a:t>Conditional queue ownership</a:t>
            </a:r>
          </a:p>
        </p:txBody>
      </p:sp>
      <p:sp>
        <p:nvSpPr>
          <p:cNvPr id="14" name="Rounded Rectangle 13"/>
          <p:cNvSpPr/>
          <p:nvPr/>
        </p:nvSpPr>
        <p:spPr>
          <a:xfrm>
            <a:off x="3397250" y="2870200"/>
            <a:ext cx="2622550" cy="482600"/>
          </a:xfrm>
          <a:prstGeom prst="roundRect">
            <a:avLst>
              <a:gd name="adj" fmla="val 23684"/>
            </a:avLst>
          </a:prstGeom>
          <a:solidFill>
            <a:srgbClr val="E8F4F5"/>
          </a:solidFill>
          <a:ln w="9525">
            <a:solidFill>
              <a:srgbClr val="CFE4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49650" y="3022600"/>
            <a:ext cx="2317750" cy="203200"/>
          </a:xfrm>
          <a:prstGeom prst="rect">
            <a:avLst/>
          </a:prstGeom>
          <a:noFill/>
        </p:spPr>
        <p:txBody>
          <a:bodyPr wrap="square" lIns="0" rIns="0" tIns="0" bIns="0" anchor="t">
            <a:spAutoFit/>
          </a:bodyPr>
          <a:lstStyle/>
          <a:p>
            <a:pPr algn="l">
              <a:lnSpc>
                <a:spcPct val="122000"/>
              </a:lnSpc>
            </a:pPr>
            <a:r>
              <a:rPr sz="950" b="1" i="0">
                <a:solidFill>
                  <a:srgbClr val="1F8A99"/>
                </a:solidFill>
                <a:latin typeface="Calibri"/>
              </a:rPr>
              <a:t>Operator fencing of late results</a:t>
            </a:r>
          </a:p>
        </p:txBody>
      </p:sp>
      <p:sp>
        <p:nvSpPr>
          <p:cNvPr id="16" name="Rounded Rectangle 15"/>
          <p:cNvSpPr/>
          <p:nvPr/>
        </p:nvSpPr>
        <p:spPr>
          <a:xfrm>
            <a:off x="6159500" y="2870200"/>
            <a:ext cx="2622550" cy="482600"/>
          </a:xfrm>
          <a:prstGeom prst="roundRect">
            <a:avLst>
              <a:gd name="adj" fmla="val 23684"/>
            </a:avLst>
          </a:prstGeom>
          <a:solidFill>
            <a:srgbClr val="E8F4F5"/>
          </a:solidFill>
          <a:ln w="9525">
            <a:solidFill>
              <a:srgbClr val="CFE4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311900" y="3022600"/>
            <a:ext cx="2317750" cy="203200"/>
          </a:xfrm>
          <a:prstGeom prst="rect">
            <a:avLst/>
          </a:prstGeom>
          <a:noFill/>
        </p:spPr>
        <p:txBody>
          <a:bodyPr wrap="square" lIns="0" rIns="0" tIns="0" bIns="0" anchor="t">
            <a:spAutoFit/>
          </a:bodyPr>
          <a:lstStyle/>
          <a:p>
            <a:pPr algn="l">
              <a:lnSpc>
                <a:spcPct val="122000"/>
              </a:lnSpc>
            </a:pPr>
            <a:r>
              <a:rPr sz="950" b="1" i="0">
                <a:solidFill>
                  <a:srgbClr val="1F8A99"/>
                </a:solidFill>
                <a:latin typeface="Calibri"/>
              </a:rPr>
              <a:t>Release intent ordering</a:t>
            </a:r>
          </a:p>
        </p:txBody>
      </p:sp>
      <p:sp>
        <p:nvSpPr>
          <p:cNvPr id="18" name="Rounded Rectangle 17"/>
          <p:cNvSpPr/>
          <p:nvPr/>
        </p:nvSpPr>
        <p:spPr>
          <a:xfrm>
            <a:off x="8921750" y="2870200"/>
            <a:ext cx="2622550" cy="482600"/>
          </a:xfrm>
          <a:prstGeom prst="roundRect">
            <a:avLst>
              <a:gd name="adj" fmla="val 23684"/>
            </a:avLst>
          </a:prstGeom>
          <a:solidFill>
            <a:srgbClr val="E8F4F5"/>
          </a:solidFill>
          <a:ln w="9525">
            <a:solidFill>
              <a:srgbClr val="CFE4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074150" y="3022600"/>
            <a:ext cx="2317750" cy="203200"/>
          </a:xfrm>
          <a:prstGeom prst="rect">
            <a:avLst/>
          </a:prstGeom>
          <a:noFill/>
        </p:spPr>
        <p:txBody>
          <a:bodyPr wrap="square" lIns="0" rIns="0" tIns="0" bIns="0" anchor="t">
            <a:spAutoFit/>
          </a:bodyPr>
          <a:lstStyle/>
          <a:p>
            <a:pPr algn="l">
              <a:lnSpc>
                <a:spcPct val="122000"/>
              </a:lnSpc>
            </a:pPr>
            <a:r>
              <a:rPr sz="950" b="1" i="0">
                <a:solidFill>
                  <a:srgbClr val="1F8A99"/>
                </a:solidFill>
                <a:latin typeface="Calibri"/>
              </a:rPr>
              <a:t>Reconciliation settlement</a:t>
            </a:r>
          </a:p>
        </p:txBody>
      </p:sp>
      <p:sp>
        <p:nvSpPr>
          <p:cNvPr id="20" name="Rounded Rectangle 19"/>
          <p:cNvSpPr/>
          <p:nvPr/>
        </p:nvSpPr>
        <p:spPr>
          <a:xfrm>
            <a:off x="635000" y="3454400"/>
            <a:ext cx="2622550" cy="482600"/>
          </a:xfrm>
          <a:prstGeom prst="roundRect">
            <a:avLst>
              <a:gd name="adj" fmla="val 23684"/>
            </a:avLst>
          </a:prstGeom>
          <a:solidFill>
            <a:srgbClr val="E8F4F5"/>
          </a:solidFill>
          <a:ln w="9525">
            <a:solidFill>
              <a:srgbClr val="CFE4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87400" y="3606800"/>
            <a:ext cx="2317750" cy="203200"/>
          </a:xfrm>
          <a:prstGeom prst="rect">
            <a:avLst/>
          </a:prstGeom>
          <a:noFill/>
        </p:spPr>
        <p:txBody>
          <a:bodyPr wrap="square" lIns="0" rIns="0" tIns="0" bIns="0" anchor="t">
            <a:spAutoFit/>
          </a:bodyPr>
          <a:lstStyle/>
          <a:p>
            <a:pPr algn="l">
              <a:lnSpc>
                <a:spcPct val="122000"/>
              </a:lnSpc>
            </a:pPr>
            <a:r>
              <a:rPr sz="950" b="1" i="0">
                <a:solidFill>
                  <a:srgbClr val="1F8A99"/>
                </a:solidFill>
                <a:latin typeface="Calibri"/>
              </a:rPr>
              <a:t>Prepared release abandonment</a:t>
            </a:r>
          </a:p>
        </p:txBody>
      </p:sp>
      <p:sp>
        <p:nvSpPr>
          <p:cNvPr id="22" name="Rounded Rectangle 21"/>
          <p:cNvSpPr/>
          <p:nvPr/>
        </p:nvSpPr>
        <p:spPr>
          <a:xfrm>
            <a:off x="3397250" y="3454400"/>
            <a:ext cx="2622550" cy="482600"/>
          </a:xfrm>
          <a:prstGeom prst="roundRect">
            <a:avLst>
              <a:gd name="adj" fmla="val 23684"/>
            </a:avLst>
          </a:prstGeom>
          <a:solidFill>
            <a:srgbClr val="E8F4F5"/>
          </a:solidFill>
          <a:ln w="9525">
            <a:solidFill>
              <a:srgbClr val="CFE4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3549650" y="3606800"/>
            <a:ext cx="2317750" cy="203200"/>
          </a:xfrm>
          <a:prstGeom prst="rect">
            <a:avLst/>
          </a:prstGeom>
          <a:noFill/>
        </p:spPr>
        <p:txBody>
          <a:bodyPr wrap="square" lIns="0" rIns="0" tIns="0" bIns="0" anchor="t">
            <a:spAutoFit/>
          </a:bodyPr>
          <a:lstStyle/>
          <a:p>
            <a:pPr algn="l">
              <a:lnSpc>
                <a:spcPct val="122000"/>
              </a:lnSpc>
            </a:pPr>
            <a:r>
              <a:rPr sz="950" b="1" i="0">
                <a:solidFill>
                  <a:srgbClr val="1F8A99"/>
                </a:solidFill>
                <a:latin typeface="Calibri"/>
              </a:rPr>
              <a:t>Resolver outage fallback</a:t>
            </a:r>
          </a:p>
        </p:txBody>
      </p:sp>
      <p:sp>
        <p:nvSpPr>
          <p:cNvPr id="24" name="Rounded Rectangle 23"/>
          <p:cNvSpPr/>
          <p:nvPr/>
        </p:nvSpPr>
        <p:spPr>
          <a:xfrm>
            <a:off x="6159500" y="3454400"/>
            <a:ext cx="2622550" cy="482600"/>
          </a:xfrm>
          <a:prstGeom prst="roundRect">
            <a:avLst>
              <a:gd name="adj" fmla="val 23684"/>
            </a:avLst>
          </a:prstGeom>
          <a:solidFill>
            <a:srgbClr val="E8F4F5"/>
          </a:solidFill>
          <a:ln w="9525">
            <a:solidFill>
              <a:srgbClr val="CFE4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311900" y="3606800"/>
            <a:ext cx="2317750" cy="203200"/>
          </a:xfrm>
          <a:prstGeom prst="rect">
            <a:avLst/>
          </a:prstGeom>
          <a:noFill/>
        </p:spPr>
        <p:txBody>
          <a:bodyPr wrap="square" lIns="0" rIns="0" tIns="0" bIns="0" anchor="t">
            <a:spAutoFit/>
          </a:bodyPr>
          <a:lstStyle/>
          <a:p>
            <a:pPr algn="l">
              <a:lnSpc>
                <a:spcPct val="122000"/>
              </a:lnSpc>
            </a:pPr>
            <a:r>
              <a:rPr sz="950" b="1" i="0">
                <a:solidFill>
                  <a:srgbClr val="1F8A99"/>
                </a:solidFill>
                <a:latin typeface="Calibri"/>
              </a:rPr>
              <a:t>Synchronous publication gating</a:t>
            </a:r>
          </a:p>
        </p:txBody>
      </p:sp>
      <p:sp>
        <p:nvSpPr>
          <p:cNvPr id="26" name="Rounded Rectangle 25"/>
          <p:cNvSpPr/>
          <p:nvPr/>
        </p:nvSpPr>
        <p:spPr>
          <a:xfrm>
            <a:off x="8921750" y="3454400"/>
            <a:ext cx="2622550" cy="482600"/>
          </a:xfrm>
          <a:prstGeom prst="roundRect">
            <a:avLst>
              <a:gd name="adj" fmla="val 23684"/>
            </a:avLst>
          </a:prstGeom>
          <a:solidFill>
            <a:srgbClr val="E8F4F5"/>
          </a:solidFill>
          <a:ln w="9525">
            <a:solidFill>
              <a:srgbClr val="CFE4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074150" y="3606800"/>
            <a:ext cx="2317750" cy="203200"/>
          </a:xfrm>
          <a:prstGeom prst="rect">
            <a:avLst/>
          </a:prstGeom>
          <a:noFill/>
        </p:spPr>
        <p:txBody>
          <a:bodyPr wrap="square" lIns="0" rIns="0" tIns="0" bIns="0" anchor="t">
            <a:spAutoFit/>
          </a:bodyPr>
          <a:lstStyle/>
          <a:p>
            <a:pPr algn="l">
              <a:lnSpc>
                <a:spcPct val="122000"/>
              </a:lnSpc>
            </a:pPr>
            <a:r>
              <a:rPr sz="950" b="1" i="0">
                <a:solidFill>
                  <a:srgbClr val="1F8A99"/>
                </a:solidFill>
                <a:latin typeface="Calibri"/>
              </a:rPr>
              <a:t>Conflicting-select interleaving</a:t>
            </a:r>
          </a:p>
        </p:txBody>
      </p:sp>
      <p:sp>
        <p:nvSpPr>
          <p:cNvPr id="28" name="TextBox 27"/>
          <p:cNvSpPr txBox="1"/>
          <p:nvPr/>
        </p:nvSpPr>
        <p:spPr>
          <a:xfrm>
            <a:off x="635000" y="4140200"/>
            <a:ext cx="10909300" cy="190500"/>
          </a:xfrm>
          <a:prstGeom prst="rect">
            <a:avLst/>
          </a:prstGeom>
          <a:noFill/>
        </p:spPr>
        <p:txBody>
          <a:bodyPr wrap="square" lIns="0" rIns="0" tIns="0" bIns="0" anchor="t">
            <a:spAutoFit/>
          </a:bodyPr>
          <a:lstStyle/>
          <a:p>
            <a:pPr algn="l">
              <a:lnSpc>
                <a:spcPct val="122000"/>
              </a:lnSpc>
            </a:pPr>
            <a:r>
              <a:rPr sz="950" b="1" i="0">
                <a:solidFill>
                  <a:srgbClr val="5A6B84"/>
                </a:solidFill>
                <a:latin typeface="Calibri"/>
              </a:rPr>
              <a:t>Five question groups, each able to falsify a claim made earlier</a:t>
            </a:r>
          </a:p>
        </p:txBody>
      </p:sp>
      <p:sp>
        <p:nvSpPr>
          <p:cNvPr id="29" name="Rounded Rectangle 28"/>
          <p:cNvSpPr/>
          <p:nvPr/>
        </p:nvSpPr>
        <p:spPr>
          <a:xfrm>
            <a:off x="635000" y="4394200"/>
            <a:ext cx="2070100" cy="1498600"/>
          </a:xfrm>
          <a:prstGeom prst="roundRect">
            <a:avLst>
              <a:gd name="adj" fmla="val 7627"/>
            </a:avLst>
          </a:prstGeom>
          <a:solidFill>
            <a:srgbClr val="F5F9FC"/>
          </a:solidFill>
          <a:ln w="9525">
            <a:solidFill>
              <a:srgbClr val="E4ED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00100" y="4546600"/>
            <a:ext cx="330200" cy="190500"/>
          </a:xfrm>
          <a:prstGeom prst="rect">
            <a:avLst/>
          </a:prstGeom>
          <a:noFill/>
        </p:spPr>
        <p:txBody>
          <a:bodyPr wrap="square" lIns="0" rIns="0" tIns="0" bIns="0" anchor="t">
            <a:spAutoFit/>
          </a:bodyPr>
          <a:lstStyle/>
          <a:p>
            <a:pPr algn="l">
              <a:lnSpc>
                <a:spcPct val="122000"/>
              </a:lnSpc>
            </a:pPr>
            <a:r>
              <a:rPr sz="1000" b="1" i="0">
                <a:solidFill>
                  <a:srgbClr val="5A6B84"/>
                </a:solidFill>
                <a:latin typeface="Calibri"/>
              </a:rPr>
              <a:t>E1</a:t>
            </a:r>
          </a:p>
        </p:txBody>
      </p:sp>
      <p:sp>
        <p:nvSpPr>
          <p:cNvPr id="31" name="TextBox 30"/>
          <p:cNvSpPr txBox="1"/>
          <p:nvPr/>
        </p:nvSpPr>
        <p:spPr>
          <a:xfrm>
            <a:off x="800100" y="4762500"/>
            <a:ext cx="1739900" cy="330200"/>
          </a:xfrm>
          <a:prstGeom prst="rect">
            <a:avLst/>
          </a:prstGeom>
          <a:noFill/>
        </p:spPr>
        <p:txBody>
          <a:bodyPr wrap="square" lIns="0" rIns="0" tIns="0" bIns="0" anchor="t">
            <a:spAutoFit/>
          </a:bodyPr>
          <a:lstStyle/>
          <a:p>
            <a:pPr algn="l">
              <a:lnSpc>
                <a:spcPct val="110000"/>
              </a:lnSpc>
            </a:pPr>
            <a:r>
              <a:rPr sz="1000" b="1" i="0">
                <a:solidFill>
                  <a:srgbClr val="24354F"/>
                </a:solidFill>
                <a:latin typeface="Calibri"/>
              </a:rPr>
              <a:t>Control-plane cost</a:t>
            </a:r>
          </a:p>
        </p:txBody>
      </p:sp>
      <p:sp>
        <p:nvSpPr>
          <p:cNvPr id="32" name="TextBox 31"/>
          <p:cNvSpPr txBox="1"/>
          <p:nvPr/>
        </p:nvSpPr>
        <p:spPr>
          <a:xfrm>
            <a:off x="800100" y="5156200"/>
            <a:ext cx="1739900" cy="558800"/>
          </a:xfrm>
          <a:prstGeom prst="rect">
            <a:avLst/>
          </a:prstGeom>
          <a:noFill/>
        </p:spPr>
        <p:txBody>
          <a:bodyPr wrap="square" lIns="0" rIns="0" tIns="0" bIns="0" anchor="t">
            <a:spAutoFit/>
          </a:bodyPr>
          <a:lstStyle/>
          <a:p>
            <a:pPr algn="l">
              <a:lnSpc>
                <a:spcPct val="124000"/>
              </a:lnSpc>
            </a:pPr>
            <a:r>
              <a:rPr sz="850" b="0" i="0">
                <a:solidFill>
                  <a:srgbClr val="5A6B84"/>
                </a:solidFill>
                <a:latin typeface="Calibri"/>
              </a:rPr>
              <a:t>falsified by a resolution cost large enough that teams would cache around it</a:t>
            </a:r>
          </a:p>
        </p:txBody>
      </p:sp>
      <p:sp>
        <p:nvSpPr>
          <p:cNvPr id="33" name="Rounded Rectangle 32"/>
          <p:cNvSpPr/>
          <p:nvPr/>
        </p:nvSpPr>
        <p:spPr>
          <a:xfrm>
            <a:off x="2844800" y="4394200"/>
            <a:ext cx="2070100" cy="1498600"/>
          </a:xfrm>
          <a:prstGeom prst="roundRect">
            <a:avLst>
              <a:gd name="adj" fmla="val 7627"/>
            </a:avLst>
          </a:prstGeom>
          <a:solidFill>
            <a:srgbClr val="F5F9FC"/>
          </a:solidFill>
          <a:ln w="9525">
            <a:solidFill>
              <a:srgbClr val="E4ED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3009900" y="4546600"/>
            <a:ext cx="330200" cy="190500"/>
          </a:xfrm>
          <a:prstGeom prst="rect">
            <a:avLst/>
          </a:prstGeom>
          <a:noFill/>
        </p:spPr>
        <p:txBody>
          <a:bodyPr wrap="square" lIns="0" rIns="0" tIns="0" bIns="0" anchor="t">
            <a:spAutoFit/>
          </a:bodyPr>
          <a:lstStyle/>
          <a:p>
            <a:pPr algn="l">
              <a:lnSpc>
                <a:spcPct val="122000"/>
              </a:lnSpc>
            </a:pPr>
            <a:r>
              <a:rPr sz="1000" b="1" i="0">
                <a:solidFill>
                  <a:srgbClr val="5A6B84"/>
                </a:solidFill>
                <a:latin typeface="Calibri"/>
              </a:rPr>
              <a:t>E2</a:t>
            </a:r>
          </a:p>
        </p:txBody>
      </p:sp>
      <p:sp>
        <p:nvSpPr>
          <p:cNvPr id="35" name="TextBox 34"/>
          <p:cNvSpPr txBox="1"/>
          <p:nvPr/>
        </p:nvSpPr>
        <p:spPr>
          <a:xfrm>
            <a:off x="3009900" y="4762500"/>
            <a:ext cx="1739900" cy="330200"/>
          </a:xfrm>
          <a:prstGeom prst="rect">
            <a:avLst/>
          </a:prstGeom>
          <a:noFill/>
        </p:spPr>
        <p:txBody>
          <a:bodyPr wrap="square" lIns="0" rIns="0" tIns="0" bIns="0" anchor="t">
            <a:spAutoFit/>
          </a:bodyPr>
          <a:lstStyle/>
          <a:p>
            <a:pPr algn="l">
              <a:lnSpc>
                <a:spcPct val="110000"/>
              </a:lnSpc>
            </a:pPr>
            <a:r>
              <a:rPr sz="1000" b="1" i="0">
                <a:solidFill>
                  <a:srgbClr val="24354F"/>
                </a:solidFill>
                <a:latin typeface="Calibri"/>
              </a:rPr>
              <a:t>Queue arbitration</a:t>
            </a:r>
          </a:p>
        </p:txBody>
      </p:sp>
      <p:sp>
        <p:nvSpPr>
          <p:cNvPr id="36" name="TextBox 35"/>
          <p:cNvSpPr txBox="1"/>
          <p:nvPr/>
        </p:nvSpPr>
        <p:spPr>
          <a:xfrm>
            <a:off x="3009900" y="5156200"/>
            <a:ext cx="1739900" cy="558800"/>
          </a:xfrm>
          <a:prstGeom prst="rect">
            <a:avLst/>
          </a:prstGeom>
          <a:noFill/>
        </p:spPr>
        <p:txBody>
          <a:bodyPr wrap="square" lIns="0" rIns="0" tIns="0" bIns="0" anchor="t">
            <a:spAutoFit/>
          </a:bodyPr>
          <a:lstStyle/>
          <a:p>
            <a:pPr algn="l">
              <a:lnSpc>
                <a:spcPct val="124000"/>
              </a:lnSpc>
            </a:pPr>
            <a:r>
              <a:rPr sz="850" b="0" i="0">
                <a:solidFill>
                  <a:srgbClr val="5A6B84"/>
                </a:solidFill>
                <a:latin typeface="Calibri"/>
              </a:rPr>
              <a:t>falsified by two workers holding one row, or a loop whose recovery differs from Table 4</a:t>
            </a:r>
          </a:p>
        </p:txBody>
      </p:sp>
      <p:sp>
        <p:nvSpPr>
          <p:cNvPr id="37" name="Rounded Rectangle 36"/>
          <p:cNvSpPr/>
          <p:nvPr/>
        </p:nvSpPr>
        <p:spPr>
          <a:xfrm>
            <a:off x="5054600" y="4394200"/>
            <a:ext cx="2070100" cy="1498600"/>
          </a:xfrm>
          <a:prstGeom prst="roundRect">
            <a:avLst>
              <a:gd name="adj" fmla="val 7627"/>
            </a:avLst>
          </a:prstGeom>
          <a:solidFill>
            <a:srgbClr val="F5F9FC"/>
          </a:solidFill>
          <a:ln w="9525">
            <a:solidFill>
              <a:srgbClr val="E4ED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5219700" y="4546600"/>
            <a:ext cx="330200" cy="190500"/>
          </a:xfrm>
          <a:prstGeom prst="rect">
            <a:avLst/>
          </a:prstGeom>
          <a:noFill/>
        </p:spPr>
        <p:txBody>
          <a:bodyPr wrap="square" lIns="0" rIns="0" tIns="0" bIns="0" anchor="t">
            <a:spAutoFit/>
          </a:bodyPr>
          <a:lstStyle/>
          <a:p>
            <a:pPr algn="l">
              <a:lnSpc>
                <a:spcPct val="122000"/>
              </a:lnSpc>
            </a:pPr>
            <a:r>
              <a:rPr sz="1000" b="1" i="0">
                <a:solidFill>
                  <a:srgbClr val="5A6B84"/>
                </a:solidFill>
                <a:latin typeface="Calibri"/>
              </a:rPr>
              <a:t>E3</a:t>
            </a:r>
          </a:p>
        </p:txBody>
      </p:sp>
      <p:sp>
        <p:nvSpPr>
          <p:cNvPr id="39" name="TextBox 38"/>
          <p:cNvSpPr txBox="1"/>
          <p:nvPr/>
        </p:nvSpPr>
        <p:spPr>
          <a:xfrm>
            <a:off x="5219700" y="4762500"/>
            <a:ext cx="1739900" cy="330200"/>
          </a:xfrm>
          <a:prstGeom prst="rect">
            <a:avLst/>
          </a:prstGeom>
          <a:noFill/>
        </p:spPr>
        <p:txBody>
          <a:bodyPr wrap="square" lIns="0" rIns="0" tIns="0" bIns="0" anchor="t">
            <a:spAutoFit/>
          </a:bodyPr>
          <a:lstStyle/>
          <a:p>
            <a:pPr algn="l">
              <a:lnSpc>
                <a:spcPct val="110000"/>
              </a:lnSpc>
            </a:pPr>
            <a:r>
              <a:rPr sz="1000" b="1" i="0">
                <a:solidFill>
                  <a:srgbClr val="24354F"/>
                </a:solidFill>
                <a:latin typeface="Calibri"/>
              </a:rPr>
              <a:t>The refinement path</a:t>
            </a:r>
          </a:p>
        </p:txBody>
      </p:sp>
      <p:sp>
        <p:nvSpPr>
          <p:cNvPr id="40" name="TextBox 39"/>
          <p:cNvSpPr txBox="1"/>
          <p:nvPr/>
        </p:nvSpPr>
        <p:spPr>
          <a:xfrm>
            <a:off x="5219700" y="5156200"/>
            <a:ext cx="1739900" cy="558800"/>
          </a:xfrm>
          <a:prstGeom prst="rect">
            <a:avLst/>
          </a:prstGeom>
          <a:noFill/>
        </p:spPr>
        <p:txBody>
          <a:bodyPr wrap="square" lIns="0" rIns="0" tIns="0" bIns="0" anchor="t">
            <a:spAutoFit/>
          </a:bodyPr>
          <a:lstStyle/>
          <a:p>
            <a:pPr algn="l">
              <a:lnSpc>
                <a:spcPct val="124000"/>
              </a:lnSpc>
            </a:pPr>
            <a:r>
              <a:rPr sz="850" b="0" i="0">
                <a:solidFill>
                  <a:srgbClr val="5A6B84"/>
                </a:solidFill>
                <a:latin typeface="Calibri"/>
              </a:rPr>
              <a:t>the gate's agreement with expert judgement, and whether authored judges track humans</a:t>
            </a:r>
          </a:p>
        </p:txBody>
      </p:sp>
      <p:sp>
        <p:nvSpPr>
          <p:cNvPr id="41" name="Rounded Rectangle 40"/>
          <p:cNvSpPr/>
          <p:nvPr/>
        </p:nvSpPr>
        <p:spPr>
          <a:xfrm>
            <a:off x="7264400" y="4394200"/>
            <a:ext cx="2070100" cy="1498600"/>
          </a:xfrm>
          <a:prstGeom prst="roundRect">
            <a:avLst>
              <a:gd name="adj" fmla="val 7627"/>
            </a:avLst>
          </a:prstGeom>
          <a:solidFill>
            <a:srgbClr val="F5F9FC"/>
          </a:solidFill>
          <a:ln w="9525">
            <a:solidFill>
              <a:srgbClr val="E4ED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7429500" y="4546600"/>
            <a:ext cx="330200" cy="190500"/>
          </a:xfrm>
          <a:prstGeom prst="rect">
            <a:avLst/>
          </a:prstGeom>
          <a:noFill/>
        </p:spPr>
        <p:txBody>
          <a:bodyPr wrap="square" lIns="0" rIns="0" tIns="0" bIns="0" anchor="t">
            <a:spAutoFit/>
          </a:bodyPr>
          <a:lstStyle/>
          <a:p>
            <a:pPr algn="l">
              <a:lnSpc>
                <a:spcPct val="122000"/>
              </a:lnSpc>
            </a:pPr>
            <a:r>
              <a:rPr sz="1000" b="1" i="0">
                <a:solidFill>
                  <a:srgbClr val="5A6B84"/>
                </a:solidFill>
                <a:latin typeface="Calibri"/>
              </a:rPr>
              <a:t>E4</a:t>
            </a:r>
          </a:p>
        </p:txBody>
      </p:sp>
      <p:sp>
        <p:nvSpPr>
          <p:cNvPr id="43" name="TextBox 42"/>
          <p:cNvSpPr txBox="1"/>
          <p:nvPr/>
        </p:nvSpPr>
        <p:spPr>
          <a:xfrm>
            <a:off x="7429500" y="4762500"/>
            <a:ext cx="1739900" cy="330200"/>
          </a:xfrm>
          <a:prstGeom prst="rect">
            <a:avLst/>
          </a:prstGeom>
          <a:noFill/>
        </p:spPr>
        <p:txBody>
          <a:bodyPr wrap="square" lIns="0" rIns="0" tIns="0" bIns="0" anchor="t">
            <a:spAutoFit/>
          </a:bodyPr>
          <a:lstStyle/>
          <a:p>
            <a:pPr algn="l">
              <a:lnSpc>
                <a:spcPct val="110000"/>
              </a:lnSpc>
            </a:pPr>
            <a:r>
              <a:rPr sz="1000" b="1" i="0">
                <a:solidFill>
                  <a:srgbClr val="24354F"/>
                </a:solidFill>
                <a:latin typeface="Calibri"/>
              </a:rPr>
              <a:t>Scale and fault behaviour</a:t>
            </a:r>
          </a:p>
        </p:txBody>
      </p:sp>
      <p:sp>
        <p:nvSpPr>
          <p:cNvPr id="44" name="TextBox 43"/>
          <p:cNvSpPr txBox="1"/>
          <p:nvPr/>
        </p:nvSpPr>
        <p:spPr>
          <a:xfrm>
            <a:off x="7429500" y="5156200"/>
            <a:ext cx="1739900" cy="558800"/>
          </a:xfrm>
          <a:prstGeom prst="rect">
            <a:avLst/>
          </a:prstGeom>
          <a:noFill/>
        </p:spPr>
        <p:txBody>
          <a:bodyPr wrap="square" lIns="0" rIns="0" tIns="0" bIns="0" anchor="t">
            <a:spAutoFit/>
          </a:bodyPr>
          <a:lstStyle/>
          <a:p>
            <a:pPr algn="l">
              <a:lnSpc>
                <a:spcPct val="124000"/>
              </a:lnSpc>
            </a:pPr>
            <a:r>
              <a:rPr sz="850" b="0" i="0">
                <a:solidFill>
                  <a:srgbClr val="5A6B84"/>
                </a:solidFill>
                <a:latin typeface="Calibri"/>
              </a:rPr>
              <a:t>replica-scale stress and the fault-injection matrix specified in Appendix C</a:t>
            </a:r>
          </a:p>
        </p:txBody>
      </p:sp>
      <p:sp>
        <p:nvSpPr>
          <p:cNvPr id="45" name="Rounded Rectangle 44"/>
          <p:cNvSpPr/>
          <p:nvPr/>
        </p:nvSpPr>
        <p:spPr>
          <a:xfrm>
            <a:off x="9474200" y="4394200"/>
            <a:ext cx="2070100" cy="1498600"/>
          </a:xfrm>
          <a:prstGeom prst="roundRect">
            <a:avLst>
              <a:gd name="adj" fmla="val 7627"/>
            </a:avLst>
          </a:prstGeom>
          <a:solidFill>
            <a:srgbClr val="F5F9FC"/>
          </a:solidFill>
          <a:ln w="9525">
            <a:solidFill>
              <a:srgbClr val="E4ED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9639300" y="4546600"/>
            <a:ext cx="330200" cy="190500"/>
          </a:xfrm>
          <a:prstGeom prst="rect">
            <a:avLst/>
          </a:prstGeom>
          <a:noFill/>
        </p:spPr>
        <p:txBody>
          <a:bodyPr wrap="square" lIns="0" rIns="0" tIns="0" bIns="0" anchor="t">
            <a:spAutoFit/>
          </a:bodyPr>
          <a:lstStyle/>
          <a:p>
            <a:pPr algn="l">
              <a:lnSpc>
                <a:spcPct val="122000"/>
              </a:lnSpc>
            </a:pPr>
            <a:r>
              <a:rPr sz="1000" b="1" i="0">
                <a:solidFill>
                  <a:srgbClr val="5A6B84"/>
                </a:solidFill>
                <a:latin typeface="Calibri"/>
              </a:rPr>
              <a:t>E5</a:t>
            </a:r>
          </a:p>
        </p:txBody>
      </p:sp>
      <p:sp>
        <p:nvSpPr>
          <p:cNvPr id="47" name="TextBox 46"/>
          <p:cNvSpPr txBox="1"/>
          <p:nvPr/>
        </p:nvSpPr>
        <p:spPr>
          <a:xfrm>
            <a:off x="9639300" y="4762500"/>
            <a:ext cx="1739900" cy="330200"/>
          </a:xfrm>
          <a:prstGeom prst="rect">
            <a:avLst/>
          </a:prstGeom>
          <a:noFill/>
        </p:spPr>
        <p:txBody>
          <a:bodyPr wrap="square" lIns="0" rIns="0" tIns="0" bIns="0" anchor="t">
            <a:spAutoFit/>
          </a:bodyPr>
          <a:lstStyle/>
          <a:p>
            <a:pPr algn="l">
              <a:lnSpc>
                <a:spcPct val="110000"/>
              </a:lnSpc>
            </a:pPr>
            <a:r>
              <a:rPr sz="1000" b="1" i="0">
                <a:solidFill>
                  <a:srgbClr val="24354F"/>
                </a:solidFill>
                <a:latin typeface="Calibri"/>
              </a:rPr>
              <a:t>Reviewability</a:t>
            </a:r>
          </a:p>
        </p:txBody>
      </p:sp>
      <p:sp>
        <p:nvSpPr>
          <p:cNvPr id="48" name="TextBox 47"/>
          <p:cNvSpPr txBox="1"/>
          <p:nvPr/>
        </p:nvSpPr>
        <p:spPr>
          <a:xfrm>
            <a:off x="9639300" y="5156200"/>
            <a:ext cx="1739900" cy="558800"/>
          </a:xfrm>
          <a:prstGeom prst="rect">
            <a:avLst/>
          </a:prstGeom>
          <a:noFill/>
        </p:spPr>
        <p:txBody>
          <a:bodyPr wrap="square" lIns="0" rIns="0" tIns="0" bIns="0" anchor="t">
            <a:spAutoFit/>
          </a:bodyPr>
          <a:lstStyle/>
          <a:p>
            <a:pPr algn="l">
              <a:lnSpc>
                <a:spcPct val="124000"/>
              </a:lnSpc>
            </a:pPr>
            <a:r>
              <a:rPr sz="850" b="0" i="0">
                <a:solidFill>
                  <a:srgbClr val="5A6B84"/>
                </a:solidFill>
                <a:latin typeface="Calibri"/>
              </a:rPr>
              <a:t>a human study CALIBER's central value claim needs and this paper does not have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35000" y="6337300"/>
            <a:ext cx="6096000" cy="254000"/>
          </a:xfrm>
          <a:prstGeom prst="rect">
            <a:avLst/>
          </a:prstGeom>
          <a:noFill/>
        </p:spPr>
        <p:txBody>
          <a:bodyPr wrap="square" lIns="0" rIns="0" tIns="0" bIns="0" anchor="t">
            <a:spAutoFit/>
          </a:bodyPr>
          <a:lstStyle/>
          <a:p>
            <a:pPr algn="l">
              <a:lnSpc>
                <a:spcPct val="122000"/>
              </a:lnSpc>
            </a:pPr>
            <a:r>
              <a:rPr sz="900" b="0" i="0">
                <a:solidFill>
                  <a:srgbClr val="A3B2C4"/>
                </a:solidFill>
                <a:latin typeface="Calibri"/>
              </a:rPr>
              <a:t>CALIBER  ·  A Layered Control Plane for Governed Releases of AI-Agent Resources</a:t>
            </a:r>
          </a:p>
        </p:txBody>
      </p:sp>
      <p:sp>
        <p:nvSpPr>
          <p:cNvPr id="3" name="TextBox 2"/>
          <p:cNvSpPr txBox="1"/>
          <p:nvPr/>
        </p:nvSpPr>
        <p:spPr>
          <a:xfrm>
            <a:off x="10629900" y="6337300"/>
            <a:ext cx="914400" cy="254000"/>
          </a:xfrm>
          <a:prstGeom prst="rect">
            <a:avLst/>
          </a:prstGeom>
          <a:noFill/>
        </p:spPr>
        <p:txBody>
          <a:bodyPr wrap="square" lIns="0" rIns="0" tIns="0" bIns="0" anchor="t">
            <a:spAutoFit/>
          </a:bodyPr>
          <a:lstStyle/>
          <a:p>
            <a:pPr algn="r">
              <a:lnSpc>
                <a:spcPct val="122000"/>
              </a:lnSpc>
            </a:pPr>
            <a:r>
              <a:rPr sz="900" b="0" i="0">
                <a:solidFill>
                  <a:srgbClr val="A3B2C4"/>
                </a:solidFill>
                <a:latin typeface="Calibri"/>
              </a:rPr>
              <a:t>20</a:t>
            </a:r>
          </a:p>
        </p:txBody>
      </p:sp>
      <p:sp>
        <p:nvSpPr>
          <p:cNvPr id="4" name="TextBox 3"/>
          <p:cNvSpPr txBox="1"/>
          <p:nvPr/>
        </p:nvSpPr>
        <p:spPr>
          <a:xfrm>
            <a:off x="635000" y="381000"/>
            <a:ext cx="10909300" cy="228600"/>
          </a:xfrm>
          <a:prstGeom prst="rect">
            <a:avLst/>
          </a:prstGeom>
          <a:noFill/>
        </p:spPr>
        <p:txBody>
          <a:bodyPr wrap="square" lIns="0" rIns="0" tIns="0" bIns="0" anchor="t">
            <a:spAutoFit/>
          </a:bodyPr>
          <a:lstStyle/>
          <a:p>
            <a:pPr algn="l">
              <a:lnSpc>
                <a:spcPct val="122000"/>
              </a:lnSpc>
            </a:pPr>
            <a:r>
              <a:rPr sz="1050" b="1" i="0">
                <a:solidFill>
                  <a:srgbClr val="1F8A99"/>
                </a:solidFill>
                <a:latin typeface="Calibri"/>
              </a:rPr>
              <a:t>Comparison  ·  §11.1 and §11.4</a:t>
            </a:r>
          </a:p>
        </p:txBody>
      </p:sp>
      <p:sp>
        <p:nvSpPr>
          <p:cNvPr id="5" name="TextBox 4"/>
          <p:cNvSpPr txBox="1"/>
          <p:nvPr/>
        </p:nvSpPr>
        <p:spPr>
          <a:xfrm>
            <a:off x="635000" y="647700"/>
            <a:ext cx="10909300" cy="495300"/>
          </a:xfrm>
          <a:prstGeom prst="rect">
            <a:avLst/>
          </a:prstGeom>
          <a:noFill/>
        </p:spPr>
        <p:txBody>
          <a:bodyPr wrap="square" lIns="0" rIns="0" tIns="0" bIns="0" anchor="t">
            <a:spAutoFit/>
          </a:bodyPr>
          <a:lstStyle/>
          <a:p>
            <a:pPr algn="l">
              <a:lnSpc>
                <a:spcPct val="108000"/>
              </a:lnSpc>
            </a:pPr>
            <a:r>
              <a:rPr sz="2600" b="1" i="0">
                <a:solidFill>
                  <a:srgbClr val="0E1E3A"/>
                </a:solidFill>
                <a:latin typeface="Calibri"/>
              </a:rPr>
              <a:t>Three differences survive, and three costs come with them</a:t>
            </a:r>
          </a:p>
        </p:txBody>
      </p:sp>
      <p:sp>
        <p:nvSpPr>
          <p:cNvPr id="6" name="TextBox 5"/>
          <p:cNvSpPr txBox="1"/>
          <p:nvPr/>
        </p:nvSpPr>
        <p:spPr>
          <a:xfrm>
            <a:off x="635000" y="1168400"/>
            <a:ext cx="10909300" cy="431800"/>
          </a:xfrm>
          <a:prstGeom prst="rect">
            <a:avLst/>
          </a:prstGeom>
          <a:noFill/>
        </p:spPr>
        <p:txBody>
          <a:bodyPr wrap="square" lIns="0" rIns="0" tIns="0" bIns="0" anchor="t">
            <a:spAutoFit/>
          </a:bodyPr>
          <a:lstStyle/>
          <a:p>
            <a:pPr algn="l">
              <a:lnSpc>
                <a:spcPct val="130000"/>
              </a:lnSpc>
            </a:pPr>
            <a:r>
              <a:rPr sz="1250" b="0" i="0">
                <a:solidFill>
                  <a:srgbClr val="24354F"/>
                </a:solidFill>
                <a:latin typeface="Calibri"/>
              </a:rPr>
              <a:t>CALIBER's claim is not that it does more than these systems, and not that the release path is unoccupied — for prompts it is occupied, by at least three products, with mechanisms that closely resemble CALIBER's.</a:t>
            </a:r>
          </a:p>
        </p:txBody>
      </p:sp>
      <p:sp>
        <p:nvSpPr>
          <p:cNvPr id="7" name="Rounded Rectangle 6"/>
          <p:cNvSpPr/>
          <p:nvPr/>
        </p:nvSpPr>
        <p:spPr>
          <a:xfrm>
            <a:off x="635000" y="1701800"/>
            <a:ext cx="3517900" cy="1775460"/>
          </a:xfrm>
          <a:prstGeom prst="roundRect">
            <a:avLst>
              <a:gd name="adj" fmla="val 6437"/>
            </a:avLst>
          </a:prstGeom>
          <a:solidFill>
            <a:srgbClr val="E8F4F5"/>
          </a:solidFill>
          <a:ln w="9525">
            <a:solidFill>
              <a:srgbClr val="CFE4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50900" y="1892300"/>
            <a:ext cx="304800" cy="304800"/>
          </a:xfrm>
          <a:prstGeom prst="ellipse">
            <a:avLst/>
          </a:prstGeom>
          <a:solidFill>
            <a:srgbClr val="1F8A99"/>
          </a:solidFill>
          <a:ln w="12700">
            <a:solidFill>
              <a:srgbClr val="1F8A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900" y="1958022"/>
            <a:ext cx="304800" cy="186690"/>
          </a:xfrm>
          <a:prstGeom prst="rect">
            <a:avLst/>
          </a:prstGeom>
          <a:noFill/>
        </p:spPr>
        <p:txBody>
          <a:bodyPr wrap="square" lIns="0" rIns="0" tIns="0" bIns="0" anchor="t">
            <a:spAutoFit/>
          </a:bodyPr>
          <a:lstStyle/>
          <a:p>
            <a:pPr algn="ctr">
              <a:lnSpc>
                <a:spcPct val="122000"/>
              </a:lnSpc>
            </a:pPr>
            <a:r>
              <a:rPr sz="1050" b="1" i="0">
                <a:solidFill>
                  <a:srgbClr val="FFFFFF"/>
                </a:solidFill>
                <a:latin typeface="Calibri"/>
              </a:rPr>
              <a:t>1</a:t>
            </a:r>
          </a:p>
        </p:txBody>
      </p:sp>
      <p:sp>
        <p:nvSpPr>
          <p:cNvPr id="10" name="TextBox 9"/>
          <p:cNvSpPr txBox="1"/>
          <p:nvPr/>
        </p:nvSpPr>
        <p:spPr>
          <a:xfrm>
            <a:off x="1244600" y="1892300"/>
            <a:ext cx="2667000" cy="330200"/>
          </a:xfrm>
          <a:prstGeom prst="rect">
            <a:avLst/>
          </a:prstGeom>
          <a:noFill/>
        </p:spPr>
        <p:txBody>
          <a:bodyPr wrap="square" lIns="0" rIns="0" tIns="0" bIns="0" anchor="t">
            <a:spAutoFit/>
          </a:bodyPr>
          <a:lstStyle/>
          <a:p>
            <a:pPr algn="l">
              <a:lnSpc>
                <a:spcPct val="112000"/>
              </a:lnSpc>
            </a:pPr>
            <a:r>
              <a:rPr sz="1200" b="1" i="0">
                <a:solidFill>
                  <a:srgbClr val="1F8A99"/>
                </a:solidFill>
                <a:latin typeface="Calibri"/>
              </a:rPr>
              <a:t>Family heterogeneity</a:t>
            </a:r>
          </a:p>
        </p:txBody>
      </p:sp>
      <p:sp>
        <p:nvSpPr>
          <p:cNvPr id="11" name="TextBox 10"/>
          <p:cNvSpPr txBox="1"/>
          <p:nvPr/>
        </p:nvSpPr>
        <p:spPr>
          <a:xfrm>
            <a:off x="876300" y="2311400"/>
            <a:ext cx="3035300" cy="975360"/>
          </a:xfrm>
          <a:prstGeom prst="rect">
            <a:avLst/>
          </a:prstGeom>
          <a:noFill/>
        </p:spPr>
        <p:txBody>
          <a:bodyPr wrap="square" lIns="0" rIns="0" tIns="0" bIns="0" anchor="t">
            <a:spAutoFit/>
          </a:bodyPr>
          <a:lstStyle/>
          <a:p>
            <a:pPr algn="l">
              <a:lnSpc>
                <a:spcPct val="128000"/>
              </a:lnSpc>
            </a:pPr>
            <a:r>
              <a:rPr sz="1000" b="0" i="0">
                <a:solidFill>
                  <a:srgbClr val="24354F"/>
                </a:solidFill>
                <a:latin typeface="Calibri"/>
              </a:rPr>
              <a:t>These platforms govern prompts, and MLflow also governs models. Workflows, tool definitions, MCP server configurations and retrieval corpora are not registry citizens with versions and pointers. One mode vocabulary spans nine families — and spanning them costs uniform guarantees.</a:t>
            </a:r>
          </a:p>
        </p:txBody>
      </p:sp>
      <p:sp>
        <p:nvSpPr>
          <p:cNvPr id="12" name="Rounded Rectangle 11"/>
          <p:cNvSpPr/>
          <p:nvPr/>
        </p:nvSpPr>
        <p:spPr>
          <a:xfrm>
            <a:off x="4330700" y="1701800"/>
            <a:ext cx="3517900" cy="1775460"/>
          </a:xfrm>
          <a:prstGeom prst="roundRect">
            <a:avLst>
              <a:gd name="adj" fmla="val 6437"/>
            </a:avLst>
          </a:prstGeom>
          <a:solidFill>
            <a:srgbClr val="E8F4F5"/>
          </a:solidFill>
          <a:ln w="9525">
            <a:solidFill>
              <a:srgbClr val="CFE4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4546600" y="1892300"/>
            <a:ext cx="304800" cy="304800"/>
          </a:xfrm>
          <a:prstGeom prst="ellipse">
            <a:avLst/>
          </a:prstGeom>
          <a:solidFill>
            <a:srgbClr val="1F8A99"/>
          </a:solidFill>
          <a:ln w="12700">
            <a:solidFill>
              <a:srgbClr val="1F8A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6600" y="1958022"/>
            <a:ext cx="304800" cy="186690"/>
          </a:xfrm>
          <a:prstGeom prst="rect">
            <a:avLst/>
          </a:prstGeom>
          <a:noFill/>
        </p:spPr>
        <p:txBody>
          <a:bodyPr wrap="square" lIns="0" rIns="0" tIns="0" bIns="0" anchor="t">
            <a:spAutoFit/>
          </a:bodyPr>
          <a:lstStyle/>
          <a:p>
            <a:pPr algn="ctr">
              <a:lnSpc>
                <a:spcPct val="122000"/>
              </a:lnSpc>
            </a:pPr>
            <a:r>
              <a:rPr sz="1050" b="1" i="0">
                <a:solidFill>
                  <a:srgbClr val="FFFFFF"/>
                </a:solidFill>
                <a:latin typeface="Calibri"/>
              </a:rPr>
              <a:t>2</a:t>
            </a:r>
          </a:p>
        </p:txBody>
      </p:sp>
      <p:sp>
        <p:nvSpPr>
          <p:cNvPr id="15" name="TextBox 14"/>
          <p:cNvSpPr txBox="1"/>
          <p:nvPr/>
        </p:nvSpPr>
        <p:spPr>
          <a:xfrm>
            <a:off x="4940300" y="1892300"/>
            <a:ext cx="2667000" cy="330200"/>
          </a:xfrm>
          <a:prstGeom prst="rect">
            <a:avLst/>
          </a:prstGeom>
          <a:noFill/>
        </p:spPr>
        <p:txBody>
          <a:bodyPr wrap="square" lIns="0" rIns="0" tIns="0" bIns="0" anchor="t">
            <a:spAutoFit/>
          </a:bodyPr>
          <a:lstStyle/>
          <a:p>
            <a:pPr algn="l">
              <a:lnSpc>
                <a:spcPct val="112000"/>
              </a:lnSpc>
            </a:pPr>
            <a:r>
              <a:rPr sz="1200" b="1" i="0">
                <a:solidFill>
                  <a:srgbClr val="1F8A99"/>
                </a:solidFill>
                <a:latin typeface="Calibri"/>
              </a:rPr>
              <a:t>Evidence as a precondition</a:t>
            </a:r>
          </a:p>
        </p:txBody>
      </p:sp>
      <p:sp>
        <p:nvSpPr>
          <p:cNvPr id="16" name="TextBox 15"/>
          <p:cNvSpPr txBox="1"/>
          <p:nvPr/>
        </p:nvSpPr>
        <p:spPr>
          <a:xfrm>
            <a:off x="4572000" y="2311400"/>
            <a:ext cx="3035300" cy="812800"/>
          </a:xfrm>
          <a:prstGeom prst="rect">
            <a:avLst/>
          </a:prstGeom>
          <a:noFill/>
        </p:spPr>
        <p:txBody>
          <a:bodyPr wrap="square" lIns="0" rIns="0" tIns="0" bIns="0" anchor="t">
            <a:spAutoFit/>
          </a:bodyPr>
          <a:lstStyle/>
          <a:p>
            <a:pPr algn="l">
              <a:lnSpc>
                <a:spcPct val="128000"/>
              </a:lnSpc>
            </a:pPr>
            <a:r>
              <a:rPr sz="1000" b="0" i="0">
                <a:solidFill>
                  <a:srgbClr val="24354F"/>
                </a:solidFill>
                <a:latin typeface="Calibri"/>
              </a:rPr>
              <a:t>All three platforms link evaluations to prompts. None of their documentation describes a mechanism that makes a promotion fail because a score fell. The advancement gate is such a mechanism — inside the refinement state machine, and only there.</a:t>
            </a:r>
          </a:p>
        </p:txBody>
      </p:sp>
      <p:sp>
        <p:nvSpPr>
          <p:cNvPr id="17" name="Rounded Rectangle 16"/>
          <p:cNvSpPr/>
          <p:nvPr/>
        </p:nvSpPr>
        <p:spPr>
          <a:xfrm>
            <a:off x="8026400" y="1701800"/>
            <a:ext cx="3517900" cy="1775460"/>
          </a:xfrm>
          <a:prstGeom prst="roundRect">
            <a:avLst>
              <a:gd name="adj" fmla="val 6437"/>
            </a:avLst>
          </a:prstGeom>
          <a:solidFill>
            <a:srgbClr val="E8F4F5"/>
          </a:solidFill>
          <a:ln w="9525">
            <a:solidFill>
              <a:srgbClr val="CFE4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8242300" y="1892300"/>
            <a:ext cx="304800" cy="304800"/>
          </a:xfrm>
          <a:prstGeom prst="ellipse">
            <a:avLst/>
          </a:prstGeom>
          <a:solidFill>
            <a:srgbClr val="1F8A99"/>
          </a:solidFill>
          <a:ln w="12700">
            <a:solidFill>
              <a:srgbClr val="1F8A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42300" y="1958022"/>
            <a:ext cx="304800" cy="186690"/>
          </a:xfrm>
          <a:prstGeom prst="rect">
            <a:avLst/>
          </a:prstGeom>
          <a:noFill/>
        </p:spPr>
        <p:txBody>
          <a:bodyPr wrap="square" lIns="0" rIns="0" tIns="0" bIns="0" anchor="t">
            <a:spAutoFit/>
          </a:bodyPr>
          <a:lstStyle/>
          <a:p>
            <a:pPr algn="ctr">
              <a:lnSpc>
                <a:spcPct val="122000"/>
              </a:lnSpc>
            </a:pPr>
            <a:r>
              <a:rPr sz="1050" b="1" i="0">
                <a:solidFill>
                  <a:srgbClr val="FFFFFF"/>
                </a:solidFill>
                <a:latin typeface="Calibri"/>
              </a:rPr>
              <a:t>3</a:t>
            </a:r>
          </a:p>
        </p:txBody>
      </p:sp>
      <p:sp>
        <p:nvSpPr>
          <p:cNvPr id="20" name="TextBox 19"/>
          <p:cNvSpPr txBox="1"/>
          <p:nvPr/>
        </p:nvSpPr>
        <p:spPr>
          <a:xfrm>
            <a:off x="8636000" y="1892300"/>
            <a:ext cx="2667000" cy="330200"/>
          </a:xfrm>
          <a:prstGeom prst="rect">
            <a:avLst/>
          </a:prstGeom>
          <a:noFill/>
        </p:spPr>
        <p:txBody>
          <a:bodyPr wrap="square" lIns="0" rIns="0" tIns="0" bIns="0" anchor="t">
            <a:spAutoFit/>
          </a:bodyPr>
          <a:lstStyle/>
          <a:p>
            <a:pPr algn="l">
              <a:lnSpc>
                <a:spcPct val="112000"/>
              </a:lnSpc>
            </a:pPr>
            <a:r>
              <a:rPr sz="1200" b="1" i="0">
                <a:solidFill>
                  <a:srgbClr val="1F8A99"/>
                </a:solidFill>
                <a:latin typeface="Calibri"/>
              </a:rPr>
              <a:t>The wiring, not the parts</a:t>
            </a:r>
          </a:p>
        </p:txBody>
      </p:sp>
      <p:sp>
        <p:nvSpPr>
          <p:cNvPr id="21" name="TextBox 20"/>
          <p:cNvSpPr txBox="1"/>
          <p:nvPr/>
        </p:nvSpPr>
        <p:spPr>
          <a:xfrm>
            <a:off x="8267700" y="2311400"/>
            <a:ext cx="3035300" cy="975360"/>
          </a:xfrm>
          <a:prstGeom prst="rect">
            <a:avLst/>
          </a:prstGeom>
          <a:noFill/>
        </p:spPr>
        <p:txBody>
          <a:bodyPr wrap="square" lIns="0" rIns="0" tIns="0" bIns="0" anchor="t">
            <a:spAutoFit/>
          </a:bodyPr>
          <a:lstStyle/>
          <a:p>
            <a:pPr algn="l">
              <a:lnSpc>
                <a:spcPct val="128000"/>
              </a:lnSpc>
            </a:pPr>
            <a:r>
              <a:rPr sz="1000" b="0" i="0">
                <a:solidFill>
                  <a:srgbClr val="24354F"/>
                </a:solidFill>
                <a:latin typeface="Calibri"/>
              </a:rPr>
              <a:t>MLflow optimizes prompts and MLflow versions prompts, but the path from a flagged production trace to an optimizer run to a gated candidate to a reviewed release is assembled by the adopter. The claim is that this path is worth being a first-class architectural object.</a:t>
            </a:r>
          </a:p>
        </p:txBody>
      </p:sp>
      <p:sp>
        <p:nvSpPr>
          <p:cNvPr id="22" name="Rounded Rectangle 21"/>
          <p:cNvSpPr/>
          <p:nvPr/>
        </p:nvSpPr>
        <p:spPr>
          <a:xfrm>
            <a:off x="635000" y="3655060"/>
            <a:ext cx="3517900" cy="2156460"/>
          </a:xfrm>
          <a:prstGeom prst="roundRect">
            <a:avLst>
              <a:gd name="adj" fmla="val 5300"/>
            </a:avLst>
          </a:prstGeom>
          <a:solidFill>
            <a:srgbClr val="FBF0EC"/>
          </a:solidFill>
          <a:ln w="9525">
            <a:solidFill>
              <a:srgbClr val="EFDC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850900" y="3845560"/>
            <a:ext cx="304800" cy="304800"/>
          </a:xfrm>
          <a:prstGeom prst="ellipse">
            <a:avLst/>
          </a:prstGeom>
          <a:solidFill>
            <a:srgbClr val="A93B2B"/>
          </a:solidFill>
          <a:ln w="12700">
            <a:solidFill>
              <a:srgbClr val="A93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50900" y="3911282"/>
            <a:ext cx="304800" cy="186690"/>
          </a:xfrm>
          <a:prstGeom prst="rect">
            <a:avLst/>
          </a:prstGeom>
          <a:noFill/>
        </p:spPr>
        <p:txBody>
          <a:bodyPr wrap="square" lIns="0" rIns="0" tIns="0" bIns="0" anchor="t">
            <a:spAutoFit/>
          </a:bodyPr>
          <a:lstStyle/>
          <a:p>
            <a:pPr algn="ctr">
              <a:lnSpc>
                <a:spcPct val="122000"/>
              </a:lnSpc>
            </a:pPr>
            <a:r>
              <a:rPr sz="1050" b="1" i="0">
                <a:solidFill>
                  <a:srgbClr val="FFFFFF"/>
                </a:solidFill>
                <a:latin typeface="Calibri"/>
              </a:rPr>
              <a:t>✕</a:t>
            </a:r>
          </a:p>
        </p:txBody>
      </p:sp>
      <p:sp>
        <p:nvSpPr>
          <p:cNvPr id="25" name="TextBox 24"/>
          <p:cNvSpPr txBox="1"/>
          <p:nvPr/>
        </p:nvSpPr>
        <p:spPr>
          <a:xfrm>
            <a:off x="1244600" y="3845560"/>
            <a:ext cx="2667000" cy="330200"/>
          </a:xfrm>
          <a:prstGeom prst="rect">
            <a:avLst/>
          </a:prstGeom>
          <a:noFill/>
        </p:spPr>
        <p:txBody>
          <a:bodyPr wrap="square" lIns="0" rIns="0" tIns="0" bIns="0" anchor="t">
            <a:spAutoFit/>
          </a:bodyPr>
          <a:lstStyle/>
          <a:p>
            <a:pPr algn="l">
              <a:lnSpc>
                <a:spcPct val="112000"/>
              </a:lnSpc>
            </a:pPr>
            <a:r>
              <a:rPr sz="1200" b="1" i="0">
                <a:solidFill>
                  <a:srgbClr val="A93B2B"/>
                </a:solidFill>
                <a:latin typeface="Calibri"/>
              </a:rPr>
              <a:t>Managed operation</a:t>
            </a:r>
          </a:p>
        </p:txBody>
      </p:sp>
      <p:sp>
        <p:nvSpPr>
          <p:cNvPr id="26" name="TextBox 25"/>
          <p:cNvSpPr txBox="1"/>
          <p:nvPr/>
        </p:nvSpPr>
        <p:spPr>
          <a:xfrm>
            <a:off x="876300" y="4264660"/>
            <a:ext cx="3035300" cy="975360"/>
          </a:xfrm>
          <a:prstGeom prst="rect">
            <a:avLst/>
          </a:prstGeom>
          <a:noFill/>
        </p:spPr>
        <p:txBody>
          <a:bodyPr wrap="square" lIns="0" rIns="0" tIns="0" bIns="0" anchor="t">
            <a:spAutoFit/>
          </a:bodyPr>
          <a:lstStyle/>
          <a:p>
            <a:pPr algn="l">
              <a:lnSpc>
                <a:spcPct val="128000"/>
              </a:lnSpc>
            </a:pPr>
            <a:r>
              <a:rPr sz="1000" b="0" i="0">
                <a:solidFill>
                  <a:srgbClr val="5C4034"/>
                </a:solidFill>
                <a:latin typeface="Calibri"/>
              </a:rPr>
              <a:t>Every observability platform in the table offers a hosted option. CALIBER must be run by the adopting team, on their own PostgreSQL, object storage and MLflow. For a small team this may outweigh every architectural consideration in the paper.</a:t>
            </a:r>
          </a:p>
        </p:txBody>
      </p:sp>
      <p:sp>
        <p:nvSpPr>
          <p:cNvPr id="27" name="Rounded Rectangle 26"/>
          <p:cNvSpPr/>
          <p:nvPr/>
        </p:nvSpPr>
        <p:spPr>
          <a:xfrm>
            <a:off x="4330700" y="3655060"/>
            <a:ext cx="3517900" cy="2156460"/>
          </a:xfrm>
          <a:prstGeom prst="roundRect">
            <a:avLst>
              <a:gd name="adj" fmla="val 5300"/>
            </a:avLst>
          </a:prstGeom>
          <a:solidFill>
            <a:srgbClr val="FBF0EC"/>
          </a:solidFill>
          <a:ln w="9525">
            <a:solidFill>
              <a:srgbClr val="EFDC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4546600" y="3845560"/>
            <a:ext cx="304800" cy="304800"/>
          </a:xfrm>
          <a:prstGeom prst="ellipse">
            <a:avLst/>
          </a:prstGeom>
          <a:solidFill>
            <a:srgbClr val="A93B2B"/>
          </a:solidFill>
          <a:ln w="12700">
            <a:solidFill>
              <a:srgbClr val="A93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46600" y="3911282"/>
            <a:ext cx="304800" cy="186690"/>
          </a:xfrm>
          <a:prstGeom prst="rect">
            <a:avLst/>
          </a:prstGeom>
          <a:noFill/>
        </p:spPr>
        <p:txBody>
          <a:bodyPr wrap="square" lIns="0" rIns="0" tIns="0" bIns="0" anchor="t">
            <a:spAutoFit/>
          </a:bodyPr>
          <a:lstStyle/>
          <a:p>
            <a:pPr algn="ctr">
              <a:lnSpc>
                <a:spcPct val="122000"/>
              </a:lnSpc>
            </a:pPr>
            <a:r>
              <a:rPr sz="1050" b="1" i="0">
                <a:solidFill>
                  <a:srgbClr val="FFFFFF"/>
                </a:solidFill>
                <a:latin typeface="Calibri"/>
              </a:rPr>
              <a:t>✕</a:t>
            </a:r>
          </a:p>
        </p:txBody>
      </p:sp>
      <p:sp>
        <p:nvSpPr>
          <p:cNvPr id="30" name="TextBox 29"/>
          <p:cNvSpPr txBox="1"/>
          <p:nvPr/>
        </p:nvSpPr>
        <p:spPr>
          <a:xfrm>
            <a:off x="4940300" y="3845560"/>
            <a:ext cx="2667000" cy="330200"/>
          </a:xfrm>
          <a:prstGeom prst="rect">
            <a:avLst/>
          </a:prstGeom>
          <a:noFill/>
        </p:spPr>
        <p:txBody>
          <a:bodyPr wrap="square" lIns="0" rIns="0" tIns="0" bIns="0" anchor="t">
            <a:spAutoFit/>
          </a:bodyPr>
          <a:lstStyle/>
          <a:p>
            <a:pPr algn="l">
              <a:lnSpc>
                <a:spcPct val="112000"/>
              </a:lnSpc>
            </a:pPr>
            <a:r>
              <a:rPr sz="1200" b="1" i="0">
                <a:solidFill>
                  <a:srgbClr val="A93B2B"/>
                </a:solidFill>
                <a:latin typeface="Calibri"/>
              </a:rPr>
              <a:t>Uniformity</a:t>
            </a:r>
          </a:p>
        </p:txBody>
      </p:sp>
      <p:sp>
        <p:nvSpPr>
          <p:cNvPr id="31" name="TextBox 30"/>
          <p:cNvSpPr txBox="1"/>
          <p:nvPr/>
        </p:nvSpPr>
        <p:spPr>
          <a:xfrm>
            <a:off x="4572000" y="4264660"/>
            <a:ext cx="3035300" cy="812800"/>
          </a:xfrm>
          <a:prstGeom prst="rect">
            <a:avLst/>
          </a:prstGeom>
          <a:noFill/>
        </p:spPr>
        <p:txBody>
          <a:bodyPr wrap="square" lIns="0" rIns="0" tIns="0" bIns="0" anchor="t">
            <a:spAutoFit/>
          </a:bodyPr>
          <a:lstStyle/>
          <a:p>
            <a:pPr algn="l">
              <a:lnSpc>
                <a:spcPct val="128000"/>
              </a:lnSpc>
            </a:pPr>
            <a:r>
              <a:rPr sz="1000" b="0" i="0">
                <a:solidFill>
                  <a:srgbClr val="5C4034"/>
                </a:solidFill>
                <a:latin typeface="Calibri"/>
              </a:rPr>
              <a:t>An adopter who wants one release contract across all artifact types will find per-family guarantees unsatisfying. Understanding CALIBER requires reading Table 3 rather than one sentence, and that is a real burden.</a:t>
            </a:r>
          </a:p>
        </p:txBody>
      </p:sp>
      <p:sp>
        <p:nvSpPr>
          <p:cNvPr id="32" name="Rounded Rectangle 31"/>
          <p:cNvSpPr/>
          <p:nvPr/>
        </p:nvSpPr>
        <p:spPr>
          <a:xfrm>
            <a:off x="8026400" y="3655060"/>
            <a:ext cx="3517900" cy="2156460"/>
          </a:xfrm>
          <a:prstGeom prst="roundRect">
            <a:avLst>
              <a:gd name="adj" fmla="val 5300"/>
            </a:avLst>
          </a:prstGeom>
          <a:solidFill>
            <a:srgbClr val="FBF0EC"/>
          </a:solidFill>
          <a:ln w="9525">
            <a:solidFill>
              <a:srgbClr val="EFDC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8242300" y="3845560"/>
            <a:ext cx="304800" cy="304800"/>
          </a:xfrm>
          <a:prstGeom prst="ellipse">
            <a:avLst/>
          </a:prstGeom>
          <a:solidFill>
            <a:srgbClr val="A93B2B"/>
          </a:solidFill>
          <a:ln w="12700">
            <a:solidFill>
              <a:srgbClr val="A93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42300" y="3911282"/>
            <a:ext cx="304800" cy="186690"/>
          </a:xfrm>
          <a:prstGeom prst="rect">
            <a:avLst/>
          </a:prstGeom>
          <a:noFill/>
        </p:spPr>
        <p:txBody>
          <a:bodyPr wrap="square" lIns="0" rIns="0" tIns="0" bIns="0" anchor="t">
            <a:spAutoFit/>
          </a:bodyPr>
          <a:lstStyle/>
          <a:p>
            <a:pPr algn="ctr">
              <a:lnSpc>
                <a:spcPct val="122000"/>
              </a:lnSpc>
            </a:pPr>
            <a:r>
              <a:rPr sz="1050" b="1" i="0">
                <a:solidFill>
                  <a:srgbClr val="FFFFFF"/>
                </a:solidFill>
                <a:latin typeface="Calibri"/>
              </a:rPr>
              <a:t>✕</a:t>
            </a:r>
          </a:p>
        </p:txBody>
      </p:sp>
      <p:sp>
        <p:nvSpPr>
          <p:cNvPr id="35" name="TextBox 34"/>
          <p:cNvSpPr txBox="1"/>
          <p:nvPr/>
        </p:nvSpPr>
        <p:spPr>
          <a:xfrm>
            <a:off x="8636000" y="3845560"/>
            <a:ext cx="2667000" cy="330200"/>
          </a:xfrm>
          <a:prstGeom prst="rect">
            <a:avLst/>
          </a:prstGeom>
          <a:noFill/>
        </p:spPr>
        <p:txBody>
          <a:bodyPr wrap="square" lIns="0" rIns="0" tIns="0" bIns="0" anchor="t">
            <a:spAutoFit/>
          </a:bodyPr>
          <a:lstStyle/>
          <a:p>
            <a:pPr algn="l">
              <a:lnSpc>
                <a:spcPct val="112000"/>
              </a:lnSpc>
            </a:pPr>
            <a:r>
              <a:rPr sz="1200" b="1" i="0">
                <a:solidFill>
                  <a:srgbClr val="A93B2B"/>
                </a:solidFill>
                <a:latin typeface="Calibri"/>
              </a:rPr>
              <a:t>Construction</a:t>
            </a:r>
          </a:p>
        </p:txBody>
      </p:sp>
      <p:sp>
        <p:nvSpPr>
          <p:cNvPr id="36" name="TextBox 35"/>
          <p:cNvSpPr txBox="1"/>
          <p:nvPr/>
        </p:nvSpPr>
        <p:spPr>
          <a:xfrm>
            <a:off x="8267700" y="4264660"/>
            <a:ext cx="3035300" cy="650240"/>
          </a:xfrm>
          <a:prstGeom prst="rect">
            <a:avLst/>
          </a:prstGeom>
          <a:noFill/>
        </p:spPr>
        <p:txBody>
          <a:bodyPr wrap="square" lIns="0" rIns="0" tIns="0" bIns="0" anchor="t">
            <a:spAutoFit/>
          </a:bodyPr>
          <a:lstStyle/>
          <a:p>
            <a:pPr algn="l">
              <a:lnSpc>
                <a:spcPct val="128000"/>
              </a:lnSpc>
            </a:pPr>
            <a:r>
              <a:rPr sz="1000" b="0" i="0">
                <a:solidFill>
                  <a:srgbClr val="5C4034"/>
                </a:solidFill>
                <a:latin typeface="Calibri"/>
              </a:rPr>
              <a:t>If the task is to build an agent, a composition framework is the right tool and CALIBER is not one. Agents are composed elsewhere and governed here; these systems are not substitutes.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35000" y="6337300"/>
            <a:ext cx="6096000" cy="254000"/>
          </a:xfrm>
          <a:prstGeom prst="rect">
            <a:avLst/>
          </a:prstGeom>
          <a:noFill/>
        </p:spPr>
        <p:txBody>
          <a:bodyPr wrap="square" lIns="0" rIns="0" tIns="0" bIns="0" anchor="t">
            <a:spAutoFit/>
          </a:bodyPr>
          <a:lstStyle/>
          <a:p>
            <a:pPr algn="l">
              <a:lnSpc>
                <a:spcPct val="122000"/>
              </a:lnSpc>
            </a:pPr>
            <a:r>
              <a:rPr sz="900" b="0" i="0">
                <a:solidFill>
                  <a:srgbClr val="A3B2C4"/>
                </a:solidFill>
                <a:latin typeface="Calibri"/>
              </a:rPr>
              <a:t>CALIBER  ·  A Layered Control Plane for Governed Releases of AI-Agent Resources</a:t>
            </a:r>
          </a:p>
        </p:txBody>
      </p:sp>
      <p:sp>
        <p:nvSpPr>
          <p:cNvPr id="3" name="TextBox 2"/>
          <p:cNvSpPr txBox="1"/>
          <p:nvPr/>
        </p:nvSpPr>
        <p:spPr>
          <a:xfrm>
            <a:off x="10629900" y="6337300"/>
            <a:ext cx="914400" cy="254000"/>
          </a:xfrm>
          <a:prstGeom prst="rect">
            <a:avLst/>
          </a:prstGeom>
          <a:noFill/>
        </p:spPr>
        <p:txBody>
          <a:bodyPr wrap="square" lIns="0" rIns="0" tIns="0" bIns="0" anchor="t">
            <a:spAutoFit/>
          </a:bodyPr>
          <a:lstStyle/>
          <a:p>
            <a:pPr algn="r">
              <a:lnSpc>
                <a:spcPct val="122000"/>
              </a:lnSpc>
            </a:pPr>
            <a:r>
              <a:rPr sz="900" b="0" i="0">
                <a:solidFill>
                  <a:srgbClr val="A3B2C4"/>
                </a:solidFill>
                <a:latin typeface="Calibri"/>
              </a:rPr>
              <a:t>21</a:t>
            </a:r>
          </a:p>
        </p:txBody>
      </p:sp>
      <p:sp>
        <p:nvSpPr>
          <p:cNvPr id="4" name="TextBox 3"/>
          <p:cNvSpPr txBox="1"/>
          <p:nvPr/>
        </p:nvSpPr>
        <p:spPr>
          <a:xfrm>
            <a:off x="635000" y="381000"/>
            <a:ext cx="10909300" cy="228600"/>
          </a:xfrm>
          <a:prstGeom prst="rect">
            <a:avLst/>
          </a:prstGeom>
          <a:noFill/>
        </p:spPr>
        <p:txBody>
          <a:bodyPr wrap="square" lIns="0" rIns="0" tIns="0" bIns="0" anchor="t">
            <a:spAutoFit/>
          </a:bodyPr>
          <a:lstStyle/>
          <a:p>
            <a:pPr algn="l">
              <a:lnSpc>
                <a:spcPct val="122000"/>
              </a:lnSpc>
            </a:pPr>
            <a:r>
              <a:rPr sz="1050" b="1" i="0">
                <a:solidFill>
                  <a:srgbClr val="1F8A99"/>
                </a:solidFill>
                <a:latin typeface="Calibri"/>
              </a:rPr>
              <a:t>Design decisions  ·  §8  ·  Table 2</a:t>
            </a:r>
          </a:p>
        </p:txBody>
      </p:sp>
      <p:sp>
        <p:nvSpPr>
          <p:cNvPr id="5" name="TextBox 4"/>
          <p:cNvSpPr txBox="1"/>
          <p:nvPr/>
        </p:nvSpPr>
        <p:spPr>
          <a:xfrm>
            <a:off x="635000" y="647700"/>
            <a:ext cx="10909300" cy="495300"/>
          </a:xfrm>
          <a:prstGeom prst="rect">
            <a:avLst/>
          </a:prstGeom>
          <a:noFill/>
        </p:spPr>
        <p:txBody>
          <a:bodyPr wrap="square" lIns="0" rIns="0" tIns="0" bIns="0" anchor="t">
            <a:spAutoFit/>
          </a:bodyPr>
          <a:lstStyle/>
          <a:p>
            <a:pPr algn="l">
              <a:lnSpc>
                <a:spcPct val="108000"/>
              </a:lnSpc>
            </a:pPr>
            <a:r>
              <a:rPr sz="2600" b="1" i="0">
                <a:solidFill>
                  <a:srgbClr val="0E1E3A"/>
                </a:solidFill>
                <a:latin typeface="Calibri"/>
              </a:rPr>
              <a:t>The load-bearing decisions, each with the price it charges</a:t>
            </a:r>
          </a:p>
        </p:txBody>
      </p:sp>
      <p:sp>
        <p:nvSpPr>
          <p:cNvPr id="6" name="TextBox 5"/>
          <p:cNvSpPr txBox="1"/>
          <p:nvPr/>
        </p:nvSpPr>
        <p:spPr>
          <a:xfrm>
            <a:off x="635000" y="1168400"/>
            <a:ext cx="10909300" cy="431800"/>
          </a:xfrm>
          <a:prstGeom prst="rect">
            <a:avLst/>
          </a:prstGeom>
          <a:noFill/>
        </p:spPr>
        <p:txBody>
          <a:bodyPr wrap="square" lIns="0" rIns="0" tIns="0" bIns="0" anchor="t">
            <a:spAutoFit/>
          </a:bodyPr>
          <a:lstStyle/>
          <a:p>
            <a:pPr algn="l">
              <a:lnSpc>
                <a:spcPct val="130000"/>
              </a:lnSpc>
            </a:pPr>
            <a:r>
              <a:rPr sz="1250" b="0" i="0">
                <a:solidFill>
                  <a:srgbClr val="24354F"/>
                </a:solidFill>
                <a:latin typeface="Calibri"/>
              </a:rPr>
              <a:t>Recording the cost is the point. §12 is largely the last column read back.</a:t>
            </a:r>
          </a:p>
        </p:txBody>
      </p:sp>
      <p:sp>
        <p:nvSpPr>
          <p:cNvPr id="7" name="Rectangle 6"/>
          <p:cNvSpPr/>
          <p:nvPr/>
        </p:nvSpPr>
        <p:spPr>
          <a:xfrm>
            <a:off x="635000" y="1701800"/>
            <a:ext cx="10909300" cy="299973"/>
          </a:xfrm>
          <a:prstGeom prst="rect">
            <a:avLst/>
          </a:prstGeom>
          <a:solidFill>
            <a:srgbClr val="1F8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6600" y="1778000"/>
            <a:ext cx="355600" cy="147573"/>
          </a:xfrm>
          <a:prstGeom prst="rect">
            <a:avLst/>
          </a:prstGeom>
          <a:noFill/>
        </p:spPr>
        <p:txBody>
          <a:bodyPr wrap="square" lIns="0" rIns="0" tIns="0" bIns="0" anchor="t">
            <a:spAutoFit/>
          </a:bodyPr>
          <a:lstStyle/>
          <a:p>
            <a:pPr algn="l">
              <a:lnSpc>
                <a:spcPct val="122000"/>
              </a:lnSpc>
            </a:pPr>
          </a:p>
        </p:txBody>
      </p:sp>
      <p:sp>
        <p:nvSpPr>
          <p:cNvPr id="9" name="TextBox 8"/>
          <p:cNvSpPr txBox="1"/>
          <p:nvPr/>
        </p:nvSpPr>
        <p:spPr>
          <a:xfrm>
            <a:off x="1295400" y="1778000"/>
            <a:ext cx="2781300" cy="147573"/>
          </a:xfrm>
          <a:prstGeom prst="rect">
            <a:avLst/>
          </a:prstGeom>
          <a:noFill/>
        </p:spPr>
        <p:txBody>
          <a:bodyPr wrap="square" lIns="0" rIns="0" tIns="0" bIns="0" anchor="t">
            <a:spAutoFit/>
          </a:bodyPr>
          <a:lstStyle/>
          <a:p>
            <a:pPr algn="l">
              <a:lnSpc>
                <a:spcPct val="122000"/>
              </a:lnSpc>
            </a:pPr>
            <a:r>
              <a:rPr sz="900" b="1" i="0">
                <a:solidFill>
                  <a:srgbClr val="FFFFFF"/>
                </a:solidFill>
                <a:latin typeface="Calibri"/>
              </a:rPr>
              <a:t>Decision</a:t>
            </a:r>
          </a:p>
        </p:txBody>
      </p:sp>
      <p:sp>
        <p:nvSpPr>
          <p:cNvPr id="10" name="TextBox 9"/>
          <p:cNvSpPr txBox="1"/>
          <p:nvPr/>
        </p:nvSpPr>
        <p:spPr>
          <a:xfrm>
            <a:off x="4279900" y="1778000"/>
            <a:ext cx="3606800" cy="147573"/>
          </a:xfrm>
          <a:prstGeom prst="rect">
            <a:avLst/>
          </a:prstGeom>
          <a:noFill/>
        </p:spPr>
        <p:txBody>
          <a:bodyPr wrap="square" lIns="0" rIns="0" tIns="0" bIns="0" anchor="t">
            <a:spAutoFit/>
          </a:bodyPr>
          <a:lstStyle/>
          <a:p>
            <a:pPr algn="l">
              <a:lnSpc>
                <a:spcPct val="122000"/>
              </a:lnSpc>
            </a:pPr>
            <a:r>
              <a:rPr sz="900" b="1" i="0">
                <a:solidFill>
                  <a:srgbClr val="FFFFFF"/>
                </a:solidFill>
                <a:latin typeface="Calibri"/>
              </a:rPr>
              <a:t>Why this one</a:t>
            </a:r>
          </a:p>
        </p:txBody>
      </p:sp>
      <p:sp>
        <p:nvSpPr>
          <p:cNvPr id="11" name="TextBox 10"/>
          <p:cNvSpPr txBox="1"/>
          <p:nvPr/>
        </p:nvSpPr>
        <p:spPr>
          <a:xfrm>
            <a:off x="8089900" y="1778000"/>
            <a:ext cx="3352800" cy="147573"/>
          </a:xfrm>
          <a:prstGeom prst="rect">
            <a:avLst/>
          </a:prstGeom>
          <a:noFill/>
        </p:spPr>
        <p:txBody>
          <a:bodyPr wrap="square" lIns="0" rIns="0" tIns="0" bIns="0" anchor="t">
            <a:spAutoFit/>
          </a:bodyPr>
          <a:lstStyle/>
          <a:p>
            <a:pPr algn="l">
              <a:lnSpc>
                <a:spcPct val="122000"/>
              </a:lnSpc>
            </a:pPr>
            <a:r>
              <a:rPr sz="900" b="1" i="0">
                <a:solidFill>
                  <a:srgbClr val="FFFFFF"/>
                </a:solidFill>
                <a:latin typeface="Calibri"/>
              </a:rPr>
              <a:t>What it costs</a:t>
            </a:r>
          </a:p>
        </p:txBody>
      </p:sp>
      <p:sp>
        <p:nvSpPr>
          <p:cNvPr id="12" name="Rectangle 11"/>
          <p:cNvSpPr/>
          <p:nvPr/>
        </p:nvSpPr>
        <p:spPr>
          <a:xfrm>
            <a:off x="635000" y="2589929"/>
            <a:ext cx="10909300" cy="7620"/>
          </a:xfrm>
          <a:prstGeom prst="rect">
            <a:avLst/>
          </a:prstGeom>
          <a:solidFill>
            <a:srgbClr val="D5E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6600" y="2077974"/>
            <a:ext cx="355600" cy="443375"/>
          </a:xfrm>
          <a:prstGeom prst="rect">
            <a:avLst/>
          </a:prstGeom>
          <a:noFill/>
        </p:spPr>
        <p:txBody>
          <a:bodyPr wrap="square" lIns="0" rIns="0" tIns="0" bIns="0" anchor="ctr">
            <a:spAutoFit/>
          </a:bodyPr>
          <a:lstStyle/>
          <a:p>
            <a:pPr algn="l">
              <a:lnSpc>
                <a:spcPct val="118000"/>
              </a:lnSpc>
            </a:pPr>
            <a:r>
              <a:rPr sz="800" b="0" i="0">
                <a:solidFill>
                  <a:srgbClr val="24354F"/>
                </a:solidFill>
                <a:latin typeface="Calibri"/>
              </a:rPr>
              <a:t>D1</a:t>
            </a:r>
          </a:p>
        </p:txBody>
      </p:sp>
      <p:sp>
        <p:nvSpPr>
          <p:cNvPr id="14" name="TextBox 13"/>
          <p:cNvSpPr txBox="1"/>
          <p:nvPr/>
        </p:nvSpPr>
        <p:spPr>
          <a:xfrm>
            <a:off x="1295400" y="2077974"/>
            <a:ext cx="2781300" cy="443375"/>
          </a:xfrm>
          <a:prstGeom prst="rect">
            <a:avLst/>
          </a:prstGeom>
          <a:noFill/>
        </p:spPr>
        <p:txBody>
          <a:bodyPr wrap="square" lIns="0" rIns="0" tIns="0" bIns="0" anchor="ctr">
            <a:spAutoFit/>
          </a:bodyPr>
          <a:lstStyle/>
          <a:p>
            <a:pPr algn="l">
              <a:lnSpc>
                <a:spcPct val="118000"/>
              </a:lnSpc>
            </a:pPr>
            <a:r>
              <a:rPr sz="800" b="0" i="0">
                <a:solidFill>
                  <a:srgbClr val="24354F"/>
                </a:solidFill>
                <a:latin typeface="Calibri"/>
              </a:rPr>
              <a:t>Reuse MLflow for traces, prompt versions and evaluation</a:t>
            </a:r>
          </a:p>
        </p:txBody>
      </p:sp>
      <p:sp>
        <p:nvSpPr>
          <p:cNvPr id="15" name="TextBox 14"/>
          <p:cNvSpPr txBox="1"/>
          <p:nvPr/>
        </p:nvSpPr>
        <p:spPr>
          <a:xfrm>
            <a:off x="4279900" y="2077974"/>
            <a:ext cx="3606800" cy="443375"/>
          </a:xfrm>
          <a:prstGeom prst="rect">
            <a:avLst/>
          </a:prstGeom>
          <a:noFill/>
        </p:spPr>
        <p:txBody>
          <a:bodyPr wrap="square" lIns="0" rIns="0" tIns="0" bIns="0" anchor="ctr">
            <a:spAutoFit/>
          </a:bodyPr>
          <a:lstStyle/>
          <a:p>
            <a:pPr algn="l">
              <a:lnSpc>
                <a:spcPct val="118000"/>
              </a:lnSpc>
            </a:pPr>
            <a:r>
              <a:rPr sz="800" b="0" i="0">
                <a:solidFill>
                  <a:srgbClr val="24354F"/>
                </a:solidFill>
                <a:latin typeface="Calibri"/>
              </a:rPr>
              <a:t>rebuilding tracking competes with a mature system for no governance gain, and would force a trace migration to adopt CALIBER</a:t>
            </a:r>
          </a:p>
        </p:txBody>
      </p:sp>
      <p:sp>
        <p:nvSpPr>
          <p:cNvPr id="16" name="TextBox 15"/>
          <p:cNvSpPr txBox="1"/>
          <p:nvPr/>
        </p:nvSpPr>
        <p:spPr>
          <a:xfrm>
            <a:off x="8089900" y="2077974"/>
            <a:ext cx="3352800" cy="443375"/>
          </a:xfrm>
          <a:prstGeom prst="rect">
            <a:avLst/>
          </a:prstGeom>
          <a:noFill/>
        </p:spPr>
        <p:txBody>
          <a:bodyPr wrap="square" lIns="0" rIns="0" tIns="0" bIns="0" anchor="ctr">
            <a:spAutoFit/>
          </a:bodyPr>
          <a:lstStyle/>
          <a:p>
            <a:pPr algn="l">
              <a:lnSpc>
                <a:spcPct val="118000"/>
              </a:lnSpc>
            </a:pPr>
            <a:r>
              <a:rPr sz="800" b="0" i="0">
                <a:solidFill>
                  <a:srgbClr val="24354F"/>
                </a:solidFill>
                <a:latin typeface="Calibri"/>
              </a:rPr>
              <a:t>two stores with no shared transaction, so a reconciliation boundary is unavoidable</a:t>
            </a:r>
          </a:p>
        </p:txBody>
      </p:sp>
      <p:sp>
        <p:nvSpPr>
          <p:cNvPr id="17" name="Rectangle 16"/>
          <p:cNvSpPr/>
          <p:nvPr/>
        </p:nvSpPr>
        <p:spPr>
          <a:xfrm>
            <a:off x="635000" y="2597549"/>
            <a:ext cx="10909300" cy="595775"/>
          </a:xfrm>
          <a:prstGeom prst="rect">
            <a:avLst/>
          </a:prstGeom>
          <a:solidFill>
            <a:srgbClr val="F5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5000" y="3185704"/>
            <a:ext cx="10909300" cy="7620"/>
          </a:xfrm>
          <a:prstGeom prst="rect">
            <a:avLst/>
          </a:prstGeom>
          <a:solidFill>
            <a:srgbClr val="D5E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6600" y="2673749"/>
            <a:ext cx="355600" cy="443375"/>
          </a:xfrm>
          <a:prstGeom prst="rect">
            <a:avLst/>
          </a:prstGeom>
          <a:noFill/>
        </p:spPr>
        <p:txBody>
          <a:bodyPr wrap="square" lIns="0" rIns="0" tIns="0" bIns="0" anchor="ctr">
            <a:spAutoFit/>
          </a:bodyPr>
          <a:lstStyle/>
          <a:p>
            <a:pPr algn="l">
              <a:lnSpc>
                <a:spcPct val="118000"/>
              </a:lnSpc>
            </a:pPr>
            <a:r>
              <a:rPr sz="800" b="0" i="0">
                <a:solidFill>
                  <a:srgbClr val="24354F"/>
                </a:solidFill>
                <a:latin typeface="Calibri"/>
              </a:rPr>
              <a:t>D2</a:t>
            </a:r>
          </a:p>
        </p:txBody>
      </p:sp>
      <p:sp>
        <p:nvSpPr>
          <p:cNvPr id="20" name="TextBox 19"/>
          <p:cNvSpPr txBox="1"/>
          <p:nvPr/>
        </p:nvSpPr>
        <p:spPr>
          <a:xfrm>
            <a:off x="1295400" y="2673749"/>
            <a:ext cx="2781300" cy="443375"/>
          </a:xfrm>
          <a:prstGeom prst="rect">
            <a:avLst/>
          </a:prstGeom>
          <a:noFill/>
        </p:spPr>
        <p:txBody>
          <a:bodyPr wrap="square" lIns="0" rIns="0" tIns="0" bIns="0" anchor="ctr">
            <a:spAutoFit/>
          </a:bodyPr>
          <a:lstStyle/>
          <a:p>
            <a:pPr algn="l">
              <a:lnSpc>
                <a:spcPct val="118000"/>
              </a:lnSpc>
            </a:pPr>
            <a:r>
              <a:rPr sz="800" b="0" i="0">
                <a:solidFill>
                  <a:srgbClr val="24354F"/>
                </a:solidFill>
                <a:latin typeface="Calibri"/>
              </a:rPr>
              <a:t>Per-family guarantees rather than one uniform contract</a:t>
            </a:r>
          </a:p>
        </p:txBody>
      </p:sp>
      <p:sp>
        <p:nvSpPr>
          <p:cNvPr id="21" name="TextBox 20"/>
          <p:cNvSpPr txBox="1"/>
          <p:nvPr/>
        </p:nvSpPr>
        <p:spPr>
          <a:xfrm>
            <a:off x="4279900" y="2673749"/>
            <a:ext cx="3606800" cy="443375"/>
          </a:xfrm>
          <a:prstGeom prst="rect">
            <a:avLst/>
          </a:prstGeom>
          <a:noFill/>
        </p:spPr>
        <p:txBody>
          <a:bodyPr wrap="square" lIns="0" rIns="0" tIns="0" bIns="0" anchor="ctr">
            <a:spAutoFit/>
          </a:bodyPr>
          <a:lstStyle/>
          <a:p>
            <a:pPr algn="l">
              <a:lnSpc>
                <a:spcPct val="118000"/>
              </a:lnSpc>
            </a:pPr>
            <a:r>
              <a:rPr sz="800" b="0" i="0">
                <a:solidFill>
                  <a:srgbClr val="24354F"/>
                </a:solidFill>
                <a:latin typeface="Calibri"/>
              </a:rPr>
              <a:t>a test set and a prompt are not the same kind of thing; a uniform contract is vacuous or excludes useful families</a:t>
            </a:r>
          </a:p>
        </p:txBody>
      </p:sp>
      <p:sp>
        <p:nvSpPr>
          <p:cNvPr id="22" name="TextBox 21"/>
          <p:cNvSpPr txBox="1"/>
          <p:nvPr/>
        </p:nvSpPr>
        <p:spPr>
          <a:xfrm>
            <a:off x="8089900" y="2673749"/>
            <a:ext cx="3352800" cy="443375"/>
          </a:xfrm>
          <a:prstGeom prst="rect">
            <a:avLst/>
          </a:prstGeom>
          <a:noFill/>
        </p:spPr>
        <p:txBody>
          <a:bodyPr wrap="square" lIns="0" rIns="0" tIns="0" bIns="0" anchor="ctr">
            <a:spAutoFit/>
          </a:bodyPr>
          <a:lstStyle/>
          <a:p>
            <a:pPr algn="l">
              <a:lnSpc>
                <a:spcPct val="118000"/>
              </a:lnSpc>
            </a:pPr>
            <a:r>
              <a:rPr sz="800" b="0" i="0">
                <a:solidFill>
                  <a:srgbClr val="24354F"/>
                </a:solidFill>
                <a:latin typeface="Calibri"/>
              </a:rPr>
              <a:t>the guarantee surface must be read per row and cannot be summarized</a:t>
            </a:r>
          </a:p>
        </p:txBody>
      </p:sp>
      <p:sp>
        <p:nvSpPr>
          <p:cNvPr id="23" name="Rectangle 22"/>
          <p:cNvSpPr/>
          <p:nvPr/>
        </p:nvSpPr>
        <p:spPr>
          <a:xfrm>
            <a:off x="635000" y="3781479"/>
            <a:ext cx="10909300" cy="7620"/>
          </a:xfrm>
          <a:prstGeom prst="rect">
            <a:avLst/>
          </a:prstGeom>
          <a:solidFill>
            <a:srgbClr val="D5E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6600" y="3269524"/>
            <a:ext cx="355600" cy="443375"/>
          </a:xfrm>
          <a:prstGeom prst="rect">
            <a:avLst/>
          </a:prstGeom>
          <a:noFill/>
        </p:spPr>
        <p:txBody>
          <a:bodyPr wrap="square" lIns="0" rIns="0" tIns="0" bIns="0" anchor="ctr">
            <a:spAutoFit/>
          </a:bodyPr>
          <a:lstStyle/>
          <a:p>
            <a:pPr algn="l">
              <a:lnSpc>
                <a:spcPct val="118000"/>
              </a:lnSpc>
            </a:pPr>
            <a:r>
              <a:rPr sz="800" b="0" i="0">
                <a:solidFill>
                  <a:srgbClr val="24354F"/>
                </a:solidFill>
                <a:latin typeface="Calibri"/>
              </a:rPr>
              <a:t>D3</a:t>
            </a:r>
          </a:p>
        </p:txBody>
      </p:sp>
      <p:sp>
        <p:nvSpPr>
          <p:cNvPr id="25" name="TextBox 24"/>
          <p:cNvSpPr txBox="1"/>
          <p:nvPr/>
        </p:nvSpPr>
        <p:spPr>
          <a:xfrm>
            <a:off x="1295400" y="3269524"/>
            <a:ext cx="2781300" cy="443375"/>
          </a:xfrm>
          <a:prstGeom prst="rect">
            <a:avLst/>
          </a:prstGeom>
          <a:noFill/>
        </p:spPr>
        <p:txBody>
          <a:bodyPr wrap="square" lIns="0" rIns="0" tIns="0" bIns="0" anchor="ctr">
            <a:spAutoFit/>
          </a:bodyPr>
          <a:lstStyle/>
          <a:p>
            <a:pPr algn="l">
              <a:lnSpc>
                <a:spcPct val="118000"/>
              </a:lnSpc>
            </a:pPr>
            <a:r>
              <a:rPr sz="800" b="0" i="0">
                <a:solidFill>
                  <a:srgbClr val="24354F"/>
                </a:solidFill>
                <a:latin typeface="Calibri"/>
              </a:rPr>
              <a:t>Enforce the gate on candidate advancement; keep the release verdict advisory</a:t>
            </a:r>
          </a:p>
        </p:txBody>
      </p:sp>
      <p:sp>
        <p:nvSpPr>
          <p:cNvPr id="26" name="TextBox 25"/>
          <p:cNvSpPr txBox="1"/>
          <p:nvPr/>
        </p:nvSpPr>
        <p:spPr>
          <a:xfrm>
            <a:off x="4279900" y="3269524"/>
            <a:ext cx="3606800" cy="443375"/>
          </a:xfrm>
          <a:prstGeom prst="rect">
            <a:avLst/>
          </a:prstGeom>
          <a:noFill/>
        </p:spPr>
        <p:txBody>
          <a:bodyPr wrap="square" lIns="0" rIns="0" tIns="0" bIns="0" anchor="ctr">
            <a:spAutoFit/>
          </a:bodyPr>
          <a:lstStyle/>
          <a:p>
            <a:pPr algn="l">
              <a:lnSpc>
                <a:spcPct val="118000"/>
              </a:lnSpc>
            </a:pPr>
            <a:r>
              <a:rPr sz="800" b="0" i="0">
                <a:solidFill>
                  <a:srgbClr val="24354F"/>
                </a:solidFill>
                <a:latin typeface="Calibri"/>
              </a:rPr>
              <a:t>a blocking gate must be overridable, the override becomes the normal path, and the gate stops carrying information</a:t>
            </a:r>
          </a:p>
        </p:txBody>
      </p:sp>
      <p:sp>
        <p:nvSpPr>
          <p:cNvPr id="27" name="TextBox 26"/>
          <p:cNvSpPr txBox="1"/>
          <p:nvPr/>
        </p:nvSpPr>
        <p:spPr>
          <a:xfrm>
            <a:off x="8089900" y="3269524"/>
            <a:ext cx="3352800" cy="443375"/>
          </a:xfrm>
          <a:prstGeom prst="rect">
            <a:avLst/>
          </a:prstGeom>
          <a:noFill/>
        </p:spPr>
        <p:txBody>
          <a:bodyPr wrap="square" lIns="0" rIns="0" tIns="0" bIns="0" anchor="ctr">
            <a:spAutoFit/>
          </a:bodyPr>
          <a:lstStyle/>
          <a:p>
            <a:pPr algn="l">
              <a:lnSpc>
                <a:spcPct val="118000"/>
              </a:lnSpc>
            </a:pPr>
            <a:r>
              <a:rPr sz="800" b="0" i="0">
                <a:solidFill>
                  <a:srgbClr val="24354F"/>
                </a:solidFill>
                <a:latin typeface="Calibri"/>
              </a:rPr>
              <a:t>“gated” names two mechanisms and must be stated carefully every time</a:t>
            </a:r>
          </a:p>
        </p:txBody>
      </p:sp>
      <p:sp>
        <p:nvSpPr>
          <p:cNvPr id="28" name="Rectangle 27"/>
          <p:cNvSpPr/>
          <p:nvPr/>
        </p:nvSpPr>
        <p:spPr>
          <a:xfrm>
            <a:off x="635000" y="3789099"/>
            <a:ext cx="10909300" cy="595775"/>
          </a:xfrm>
          <a:prstGeom prst="rect">
            <a:avLst/>
          </a:prstGeom>
          <a:solidFill>
            <a:srgbClr val="F5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35000" y="4377254"/>
            <a:ext cx="10909300" cy="7620"/>
          </a:xfrm>
          <a:prstGeom prst="rect">
            <a:avLst/>
          </a:prstGeom>
          <a:solidFill>
            <a:srgbClr val="D5E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6600" y="3865299"/>
            <a:ext cx="355600" cy="443375"/>
          </a:xfrm>
          <a:prstGeom prst="rect">
            <a:avLst/>
          </a:prstGeom>
          <a:noFill/>
        </p:spPr>
        <p:txBody>
          <a:bodyPr wrap="square" lIns="0" rIns="0" tIns="0" bIns="0" anchor="ctr">
            <a:spAutoFit/>
          </a:bodyPr>
          <a:lstStyle/>
          <a:p>
            <a:pPr algn="l">
              <a:lnSpc>
                <a:spcPct val="118000"/>
              </a:lnSpc>
            </a:pPr>
            <a:r>
              <a:rPr sz="800" b="0" i="0">
                <a:solidFill>
                  <a:srgbClr val="24354F"/>
                </a:solidFill>
                <a:latin typeface="Calibri"/>
              </a:rPr>
              <a:t>D4</a:t>
            </a:r>
          </a:p>
        </p:txBody>
      </p:sp>
      <p:sp>
        <p:nvSpPr>
          <p:cNvPr id="31" name="TextBox 30"/>
          <p:cNvSpPr txBox="1"/>
          <p:nvPr/>
        </p:nvSpPr>
        <p:spPr>
          <a:xfrm>
            <a:off x="1295400" y="3865299"/>
            <a:ext cx="2781300" cy="443375"/>
          </a:xfrm>
          <a:prstGeom prst="rect">
            <a:avLst/>
          </a:prstGeom>
          <a:noFill/>
        </p:spPr>
        <p:txBody>
          <a:bodyPr wrap="square" lIns="0" rIns="0" tIns="0" bIns="0" anchor="ctr">
            <a:spAutoFit/>
          </a:bodyPr>
          <a:lstStyle/>
          <a:p>
            <a:pPr algn="l">
              <a:lnSpc>
                <a:spcPct val="118000"/>
              </a:lnSpc>
            </a:pPr>
            <a:r>
              <a:rPr sz="800" b="0" i="0">
                <a:solidFill>
                  <a:srgbClr val="24354F"/>
                </a:solidFill>
                <a:latin typeface="Calibri"/>
              </a:rPr>
              <a:t>A human decision at refinement Apply, always</a:t>
            </a:r>
          </a:p>
        </p:txBody>
      </p:sp>
      <p:sp>
        <p:nvSpPr>
          <p:cNvPr id="32" name="TextBox 31"/>
          <p:cNvSpPr txBox="1"/>
          <p:nvPr/>
        </p:nvSpPr>
        <p:spPr>
          <a:xfrm>
            <a:off x="4279900" y="3865299"/>
            <a:ext cx="3606800" cy="443375"/>
          </a:xfrm>
          <a:prstGeom prst="rect">
            <a:avLst/>
          </a:prstGeom>
          <a:noFill/>
        </p:spPr>
        <p:txBody>
          <a:bodyPr wrap="square" lIns="0" rIns="0" tIns="0" bIns="0" anchor="ctr">
            <a:spAutoFit/>
          </a:bodyPr>
          <a:lstStyle/>
          <a:p>
            <a:pPr algn="l">
              <a:lnSpc>
                <a:spcPct val="118000"/>
              </a:lnSpc>
            </a:pPr>
            <a:r>
              <a:rPr sz="800" b="0" i="0">
                <a:solidFill>
                  <a:srgbClr val="24354F"/>
                </a:solidFill>
                <a:latin typeface="Calibri"/>
              </a:rPr>
              <a:t>score gains on a corpus assembled from past failures are necessary but not sufficient, and auto-apply makes a reviewable change invisible</a:t>
            </a:r>
          </a:p>
        </p:txBody>
      </p:sp>
      <p:sp>
        <p:nvSpPr>
          <p:cNvPr id="33" name="TextBox 32"/>
          <p:cNvSpPr txBox="1"/>
          <p:nvPr/>
        </p:nvSpPr>
        <p:spPr>
          <a:xfrm>
            <a:off x="8089900" y="3865299"/>
            <a:ext cx="3352800" cy="443375"/>
          </a:xfrm>
          <a:prstGeom prst="rect">
            <a:avLst/>
          </a:prstGeom>
          <a:noFill/>
        </p:spPr>
        <p:txBody>
          <a:bodyPr wrap="square" lIns="0" rIns="0" tIns="0" bIns="0" anchor="ctr">
            <a:spAutoFit/>
          </a:bodyPr>
          <a:lstStyle/>
          <a:p>
            <a:pPr algn="l">
              <a:lnSpc>
                <a:spcPct val="118000"/>
              </a:lnSpc>
            </a:pPr>
            <a:r>
              <a:rPr sz="800" b="0" i="0">
                <a:solidFill>
                  <a:srgbClr val="24354F"/>
                </a:solidFill>
                <a:latin typeface="Calibri"/>
              </a:rPr>
              <a:t>refinement throughput is bounded by operator attention</a:t>
            </a:r>
          </a:p>
        </p:txBody>
      </p:sp>
      <p:sp>
        <p:nvSpPr>
          <p:cNvPr id="34" name="Rectangle 33"/>
          <p:cNvSpPr/>
          <p:nvPr/>
        </p:nvSpPr>
        <p:spPr>
          <a:xfrm>
            <a:off x="635000" y="4973029"/>
            <a:ext cx="10909300" cy="7620"/>
          </a:xfrm>
          <a:prstGeom prst="rect">
            <a:avLst/>
          </a:prstGeom>
          <a:solidFill>
            <a:srgbClr val="D5E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36600" y="4461074"/>
            <a:ext cx="355600" cy="443375"/>
          </a:xfrm>
          <a:prstGeom prst="rect">
            <a:avLst/>
          </a:prstGeom>
          <a:noFill/>
        </p:spPr>
        <p:txBody>
          <a:bodyPr wrap="square" lIns="0" rIns="0" tIns="0" bIns="0" anchor="ctr">
            <a:spAutoFit/>
          </a:bodyPr>
          <a:lstStyle/>
          <a:p>
            <a:pPr algn="l">
              <a:lnSpc>
                <a:spcPct val="118000"/>
              </a:lnSpc>
            </a:pPr>
            <a:r>
              <a:rPr sz="800" b="0" i="0">
                <a:solidFill>
                  <a:srgbClr val="24354F"/>
                </a:solidFill>
                <a:latin typeface="Calibri"/>
              </a:rPr>
              <a:t>D5</a:t>
            </a:r>
          </a:p>
        </p:txBody>
      </p:sp>
      <p:sp>
        <p:nvSpPr>
          <p:cNvPr id="36" name="TextBox 35"/>
          <p:cNvSpPr txBox="1"/>
          <p:nvPr/>
        </p:nvSpPr>
        <p:spPr>
          <a:xfrm>
            <a:off x="1295400" y="4461074"/>
            <a:ext cx="2781300" cy="443375"/>
          </a:xfrm>
          <a:prstGeom prst="rect">
            <a:avLst/>
          </a:prstGeom>
          <a:noFill/>
        </p:spPr>
        <p:txBody>
          <a:bodyPr wrap="square" lIns="0" rIns="0" tIns="0" bIns="0" anchor="ctr">
            <a:spAutoFit/>
          </a:bodyPr>
          <a:lstStyle/>
          <a:p>
            <a:pPr algn="l">
              <a:lnSpc>
                <a:spcPct val="118000"/>
              </a:lnSpc>
            </a:pPr>
            <a:r>
              <a:rPr sz="800" b="0" i="0">
                <a:solidFill>
                  <a:srgbClr val="24354F"/>
                </a:solidFill>
                <a:latin typeface="Calibri"/>
              </a:rPr>
              <a:t>In-process loops with database-arbitrated queues; no worker tier</a:t>
            </a:r>
          </a:p>
        </p:txBody>
      </p:sp>
      <p:sp>
        <p:nvSpPr>
          <p:cNvPr id="37" name="TextBox 36"/>
          <p:cNvSpPr txBox="1"/>
          <p:nvPr/>
        </p:nvSpPr>
        <p:spPr>
          <a:xfrm>
            <a:off x="4279900" y="4461074"/>
            <a:ext cx="3606800" cy="443375"/>
          </a:xfrm>
          <a:prstGeom prst="rect">
            <a:avLst/>
          </a:prstGeom>
          <a:noFill/>
        </p:spPr>
        <p:txBody>
          <a:bodyPr wrap="square" lIns="0" rIns="0" tIns="0" bIns="0" anchor="ctr">
            <a:spAutoFit/>
          </a:bodyPr>
          <a:lstStyle/>
          <a:p>
            <a:pPr algn="l">
              <a:lnSpc>
                <a:spcPct val="118000"/>
              </a:lnSpc>
            </a:pPr>
            <a:r>
              <a:rPr sz="800" b="0" i="0">
                <a:solidFill>
                  <a:srgbClr val="24354F"/>
                </a:solidFill>
                <a:latin typeface="Calibri"/>
              </a:rPr>
              <a:t>claim and lease columns give durable arbitration with one deployable and no split-brain between broker and database</a:t>
            </a:r>
          </a:p>
        </p:txBody>
      </p:sp>
      <p:sp>
        <p:nvSpPr>
          <p:cNvPr id="38" name="TextBox 37"/>
          <p:cNvSpPr txBox="1"/>
          <p:nvPr/>
        </p:nvSpPr>
        <p:spPr>
          <a:xfrm>
            <a:off x="8089900" y="4461074"/>
            <a:ext cx="3352800" cy="443375"/>
          </a:xfrm>
          <a:prstGeom prst="rect">
            <a:avLst/>
          </a:prstGeom>
          <a:noFill/>
        </p:spPr>
        <p:txBody>
          <a:bodyPr wrap="square" lIns="0" rIns="0" tIns="0" bIns="0" anchor="ctr">
            <a:spAutoFit/>
          </a:bodyPr>
          <a:lstStyle/>
          <a:p>
            <a:pPr algn="l">
              <a:lnSpc>
                <a:spcPct val="118000"/>
              </a:lnSpc>
            </a:pPr>
            <a:r>
              <a:rPr sz="800" b="0" i="0">
                <a:solidFill>
                  <a:srgbClr val="24354F"/>
                </a:solidFill>
                <a:latin typeface="Calibri"/>
              </a:rPr>
              <a:t>loop capacity is coupled to request capacity; in-memory limiters become per-process</a:t>
            </a:r>
          </a:p>
        </p:txBody>
      </p:sp>
      <p:sp>
        <p:nvSpPr>
          <p:cNvPr id="39" name="Rectangle 38"/>
          <p:cNvSpPr/>
          <p:nvPr/>
        </p:nvSpPr>
        <p:spPr>
          <a:xfrm>
            <a:off x="635000" y="4980649"/>
            <a:ext cx="10909300" cy="595775"/>
          </a:xfrm>
          <a:prstGeom prst="rect">
            <a:avLst/>
          </a:prstGeom>
          <a:solidFill>
            <a:srgbClr val="F5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35000" y="5568804"/>
            <a:ext cx="10909300" cy="7620"/>
          </a:xfrm>
          <a:prstGeom prst="rect">
            <a:avLst/>
          </a:prstGeom>
          <a:solidFill>
            <a:srgbClr val="D5E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36600" y="5056849"/>
            <a:ext cx="355600" cy="443375"/>
          </a:xfrm>
          <a:prstGeom prst="rect">
            <a:avLst/>
          </a:prstGeom>
          <a:noFill/>
        </p:spPr>
        <p:txBody>
          <a:bodyPr wrap="square" lIns="0" rIns="0" tIns="0" bIns="0" anchor="ctr">
            <a:spAutoFit/>
          </a:bodyPr>
          <a:lstStyle/>
          <a:p>
            <a:pPr algn="l">
              <a:lnSpc>
                <a:spcPct val="118000"/>
              </a:lnSpc>
            </a:pPr>
            <a:r>
              <a:rPr sz="800" b="0" i="0">
                <a:solidFill>
                  <a:srgbClr val="24354F"/>
                </a:solidFill>
                <a:latin typeface="Calibri"/>
              </a:rPr>
              <a:t>D8</a:t>
            </a:r>
          </a:p>
        </p:txBody>
      </p:sp>
      <p:sp>
        <p:nvSpPr>
          <p:cNvPr id="42" name="TextBox 41"/>
          <p:cNvSpPr txBox="1"/>
          <p:nvPr/>
        </p:nvSpPr>
        <p:spPr>
          <a:xfrm>
            <a:off x="1295400" y="5056849"/>
            <a:ext cx="2781300" cy="443375"/>
          </a:xfrm>
          <a:prstGeom prst="rect">
            <a:avLst/>
          </a:prstGeom>
          <a:noFill/>
        </p:spPr>
        <p:txBody>
          <a:bodyPr wrap="square" lIns="0" rIns="0" tIns="0" bIns="0" anchor="ctr">
            <a:spAutoFit/>
          </a:bodyPr>
          <a:lstStyle/>
          <a:p>
            <a:pPr algn="l">
              <a:lnSpc>
                <a:spcPct val="118000"/>
              </a:lnSpc>
            </a:pPr>
            <a:r>
              <a:rPr sz="800" b="0" i="0">
                <a:solidFill>
                  <a:srgbClr val="24354F"/>
                </a:solidFill>
                <a:latin typeface="Calibri"/>
              </a:rPr>
              <a:t>Containment for local tool and MCP execution; attestation only for production</a:t>
            </a:r>
          </a:p>
        </p:txBody>
      </p:sp>
      <p:sp>
        <p:nvSpPr>
          <p:cNvPr id="43" name="TextBox 42"/>
          <p:cNvSpPr txBox="1"/>
          <p:nvPr/>
        </p:nvSpPr>
        <p:spPr>
          <a:xfrm>
            <a:off x="4279900" y="5056849"/>
            <a:ext cx="3606800" cy="443375"/>
          </a:xfrm>
          <a:prstGeom prst="rect">
            <a:avLst/>
          </a:prstGeom>
          <a:noFill/>
        </p:spPr>
        <p:txBody>
          <a:bodyPr wrap="square" lIns="0" rIns="0" tIns="0" bIns="0" anchor="ctr">
            <a:spAutoFit/>
          </a:bodyPr>
          <a:lstStyle/>
          <a:p>
            <a:pPr algn="l">
              <a:lnSpc>
                <a:spcPct val="118000"/>
              </a:lnSpc>
            </a:pPr>
            <a:r>
              <a:rPr sz="800" b="0" i="0">
                <a:solidFill>
                  <a:srgbClr val="24354F"/>
                </a:solidFill>
                <a:latin typeface="Calibri"/>
              </a:rPr>
              <a:t>requiring a sandbox runtime locally would make the common path unusable, and naming the weaker guarantee beats overclaiming</a:t>
            </a:r>
          </a:p>
        </p:txBody>
      </p:sp>
      <p:sp>
        <p:nvSpPr>
          <p:cNvPr id="44" name="TextBox 43"/>
          <p:cNvSpPr txBox="1"/>
          <p:nvPr/>
        </p:nvSpPr>
        <p:spPr>
          <a:xfrm>
            <a:off x="8089900" y="5056849"/>
            <a:ext cx="3352800" cy="443375"/>
          </a:xfrm>
          <a:prstGeom prst="rect">
            <a:avLst/>
          </a:prstGeom>
          <a:noFill/>
        </p:spPr>
        <p:txBody>
          <a:bodyPr wrap="square" lIns="0" rIns="0" tIns="0" bIns="0" anchor="ctr">
            <a:spAutoFit/>
          </a:bodyPr>
          <a:lstStyle/>
          <a:p>
            <a:pPr algn="l">
              <a:lnSpc>
                <a:spcPct val="118000"/>
              </a:lnSpc>
            </a:pPr>
            <a:r>
              <a:rPr sz="800" b="0" i="0">
                <a:solidFill>
                  <a:srgbClr val="24354F"/>
                </a:solidFill>
                <a:latin typeface="Calibri"/>
              </a:rPr>
              <a:t>the shipped runner keeps ambient host authority; untrusted authors need an operator-supplied backend</a:t>
            </a:r>
          </a:p>
        </p:txBody>
      </p:sp>
      <p:sp>
        <p:nvSpPr>
          <p:cNvPr id="45" name="Rectangle 44"/>
          <p:cNvSpPr/>
          <p:nvPr/>
        </p:nvSpPr>
        <p:spPr>
          <a:xfrm>
            <a:off x="635000" y="6164580"/>
            <a:ext cx="10909300" cy="7620"/>
          </a:xfrm>
          <a:prstGeom prst="rect">
            <a:avLst/>
          </a:prstGeom>
          <a:solidFill>
            <a:srgbClr val="D5E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36600" y="5652624"/>
            <a:ext cx="355600" cy="443375"/>
          </a:xfrm>
          <a:prstGeom prst="rect">
            <a:avLst/>
          </a:prstGeom>
          <a:noFill/>
        </p:spPr>
        <p:txBody>
          <a:bodyPr wrap="square" lIns="0" rIns="0" tIns="0" bIns="0" anchor="ctr">
            <a:spAutoFit/>
          </a:bodyPr>
          <a:lstStyle/>
          <a:p>
            <a:pPr algn="l">
              <a:lnSpc>
                <a:spcPct val="118000"/>
              </a:lnSpc>
            </a:pPr>
            <a:r>
              <a:rPr sz="800" b="0" i="0">
                <a:solidFill>
                  <a:srgbClr val="24354F"/>
                </a:solidFill>
                <a:latin typeface="Calibri"/>
              </a:rPr>
              <a:t>D9</a:t>
            </a:r>
          </a:p>
        </p:txBody>
      </p:sp>
      <p:sp>
        <p:nvSpPr>
          <p:cNvPr id="47" name="TextBox 46"/>
          <p:cNvSpPr txBox="1"/>
          <p:nvPr/>
        </p:nvSpPr>
        <p:spPr>
          <a:xfrm>
            <a:off x="1295400" y="5652624"/>
            <a:ext cx="2781300" cy="443375"/>
          </a:xfrm>
          <a:prstGeom prst="rect">
            <a:avLst/>
          </a:prstGeom>
          <a:noFill/>
        </p:spPr>
        <p:txBody>
          <a:bodyPr wrap="square" lIns="0" rIns="0" tIns="0" bIns="0" anchor="ctr">
            <a:spAutoFit/>
          </a:bodyPr>
          <a:lstStyle/>
          <a:p>
            <a:pPr algn="l">
              <a:lnSpc>
                <a:spcPct val="118000"/>
              </a:lnSpc>
            </a:pPr>
            <a:r>
              <a:rPr sz="800" b="0" i="0">
                <a:solidFill>
                  <a:srgbClr val="24354F"/>
                </a:solidFill>
                <a:latin typeface="Calibri"/>
              </a:rPr>
              <a:t>Ship a single environment in v1</a:t>
            </a:r>
          </a:p>
        </p:txBody>
      </p:sp>
      <p:sp>
        <p:nvSpPr>
          <p:cNvPr id="48" name="TextBox 47"/>
          <p:cNvSpPr txBox="1"/>
          <p:nvPr/>
        </p:nvSpPr>
        <p:spPr>
          <a:xfrm>
            <a:off x="4279900" y="5652624"/>
            <a:ext cx="3606800" cy="443375"/>
          </a:xfrm>
          <a:prstGeom prst="rect">
            <a:avLst/>
          </a:prstGeom>
          <a:noFill/>
        </p:spPr>
        <p:txBody>
          <a:bodyPr wrap="square" lIns="0" rIns="0" tIns="0" bIns="0" anchor="ctr">
            <a:spAutoFit/>
          </a:bodyPr>
          <a:lstStyle/>
          <a:p>
            <a:pPr algn="l">
              <a:lnSpc>
                <a:spcPct val="118000"/>
              </a:lnSpc>
            </a:pPr>
            <a:r>
              <a:rPr sz="800" b="0" i="0">
                <a:solidFill>
                  <a:srgbClr val="24354F"/>
                </a:solidFill>
                <a:latin typeface="Calibri"/>
              </a:rPr>
              <a:t>a dev→staging→prod ladder needs approval routing, requester/approver separation and per-stage config; a half-built one is a false assurance</a:t>
            </a:r>
          </a:p>
        </p:txBody>
      </p:sp>
      <p:sp>
        <p:nvSpPr>
          <p:cNvPr id="49" name="TextBox 48"/>
          <p:cNvSpPr txBox="1"/>
          <p:nvPr/>
        </p:nvSpPr>
        <p:spPr>
          <a:xfrm>
            <a:off x="8089900" y="5652624"/>
            <a:ext cx="3352800" cy="443375"/>
          </a:xfrm>
          <a:prstGeom prst="rect">
            <a:avLst/>
          </a:prstGeom>
          <a:noFill/>
        </p:spPr>
        <p:txBody>
          <a:bodyPr wrap="square" lIns="0" rIns="0" tIns="0" bIns="0" anchor="ctr">
            <a:spAutoFit/>
          </a:bodyPr>
          <a:lstStyle/>
          <a:p>
            <a:pPr algn="l">
              <a:lnSpc>
                <a:spcPct val="118000"/>
              </a:lnSpc>
            </a:pPr>
            <a:r>
              <a:rPr sz="800" b="0" i="0">
                <a:solidFill>
                  <a:srgbClr val="24354F"/>
                </a:solidFill>
                <a:latin typeface="Calibri"/>
              </a:rPr>
              <a:t>no staging rehearsal, and a future multi-environment mode must rebuild the pending-approval path</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35000" y="6337300"/>
            <a:ext cx="6096000" cy="254000"/>
          </a:xfrm>
          <a:prstGeom prst="rect">
            <a:avLst/>
          </a:prstGeom>
          <a:noFill/>
        </p:spPr>
        <p:txBody>
          <a:bodyPr wrap="square" lIns="0" rIns="0" tIns="0" bIns="0" anchor="t">
            <a:spAutoFit/>
          </a:bodyPr>
          <a:lstStyle/>
          <a:p>
            <a:pPr algn="l">
              <a:lnSpc>
                <a:spcPct val="122000"/>
              </a:lnSpc>
            </a:pPr>
            <a:r>
              <a:rPr sz="900" b="0" i="0">
                <a:solidFill>
                  <a:srgbClr val="A3B2C4"/>
                </a:solidFill>
                <a:latin typeface="Calibri"/>
              </a:rPr>
              <a:t>CALIBER  ·  A Layered Control Plane for Governed Releases of AI-Agent Resources</a:t>
            </a:r>
          </a:p>
        </p:txBody>
      </p:sp>
      <p:sp>
        <p:nvSpPr>
          <p:cNvPr id="3" name="TextBox 2"/>
          <p:cNvSpPr txBox="1"/>
          <p:nvPr/>
        </p:nvSpPr>
        <p:spPr>
          <a:xfrm>
            <a:off x="10629900" y="6337300"/>
            <a:ext cx="914400" cy="254000"/>
          </a:xfrm>
          <a:prstGeom prst="rect">
            <a:avLst/>
          </a:prstGeom>
          <a:noFill/>
        </p:spPr>
        <p:txBody>
          <a:bodyPr wrap="square" lIns="0" rIns="0" tIns="0" bIns="0" anchor="t">
            <a:spAutoFit/>
          </a:bodyPr>
          <a:lstStyle/>
          <a:p>
            <a:pPr algn="r">
              <a:lnSpc>
                <a:spcPct val="122000"/>
              </a:lnSpc>
            </a:pPr>
            <a:r>
              <a:rPr sz="900" b="0" i="0">
                <a:solidFill>
                  <a:srgbClr val="A3B2C4"/>
                </a:solidFill>
                <a:latin typeface="Calibri"/>
              </a:rPr>
              <a:t>22</a:t>
            </a:r>
          </a:p>
        </p:txBody>
      </p:sp>
      <p:sp>
        <p:nvSpPr>
          <p:cNvPr id="4" name="TextBox 3"/>
          <p:cNvSpPr txBox="1"/>
          <p:nvPr/>
        </p:nvSpPr>
        <p:spPr>
          <a:xfrm>
            <a:off x="635000" y="381000"/>
            <a:ext cx="10909300" cy="228600"/>
          </a:xfrm>
          <a:prstGeom prst="rect">
            <a:avLst/>
          </a:prstGeom>
          <a:noFill/>
        </p:spPr>
        <p:txBody>
          <a:bodyPr wrap="square" lIns="0" rIns="0" tIns="0" bIns="0" anchor="t">
            <a:spAutoFit/>
          </a:bodyPr>
          <a:lstStyle/>
          <a:p>
            <a:pPr algn="l">
              <a:lnSpc>
                <a:spcPct val="122000"/>
              </a:lnSpc>
            </a:pPr>
            <a:r>
              <a:rPr sz="1050" b="1" i="0">
                <a:solidFill>
                  <a:srgbClr val="1F8A99"/>
                </a:solidFill>
                <a:latin typeface="Calibri"/>
              </a:rPr>
              <a:t>Limitations  ·  §12</a:t>
            </a:r>
          </a:p>
        </p:txBody>
      </p:sp>
      <p:sp>
        <p:nvSpPr>
          <p:cNvPr id="5" name="TextBox 4"/>
          <p:cNvSpPr txBox="1"/>
          <p:nvPr/>
        </p:nvSpPr>
        <p:spPr>
          <a:xfrm>
            <a:off x="635000" y="647700"/>
            <a:ext cx="10909300" cy="495300"/>
          </a:xfrm>
          <a:prstGeom prst="rect">
            <a:avLst/>
          </a:prstGeom>
          <a:noFill/>
        </p:spPr>
        <p:txBody>
          <a:bodyPr wrap="square" lIns="0" rIns="0" tIns="0" bIns="0" anchor="t">
            <a:spAutoFit/>
          </a:bodyPr>
          <a:lstStyle/>
          <a:p>
            <a:pPr algn="l">
              <a:lnSpc>
                <a:spcPct val="108000"/>
              </a:lnSpc>
            </a:pPr>
            <a:r>
              <a:rPr sz="2600" b="1" i="0">
                <a:solidFill>
                  <a:srgbClr val="0E1E3A"/>
                </a:solidFill>
                <a:latin typeface="Calibri"/>
              </a:rPr>
              <a:t>Six results this work deliberately does not deliver</a:t>
            </a:r>
          </a:p>
        </p:txBody>
      </p:sp>
      <p:sp>
        <p:nvSpPr>
          <p:cNvPr id="6" name="TextBox 5"/>
          <p:cNvSpPr txBox="1"/>
          <p:nvPr/>
        </p:nvSpPr>
        <p:spPr>
          <a:xfrm>
            <a:off x="635000" y="1168400"/>
            <a:ext cx="10909300" cy="431800"/>
          </a:xfrm>
          <a:prstGeom prst="rect">
            <a:avLst/>
          </a:prstGeom>
          <a:noFill/>
        </p:spPr>
        <p:txBody>
          <a:bodyPr wrap="square" lIns="0" rIns="0" tIns="0" bIns="0" anchor="t">
            <a:spAutoFit/>
          </a:bodyPr>
          <a:lstStyle/>
          <a:p>
            <a:pPr algn="l">
              <a:lnSpc>
                <a:spcPct val="130000"/>
              </a:lnSpc>
            </a:pPr>
            <a:r>
              <a:rPr sz="1250" b="0" i="0">
                <a:solidFill>
                  <a:srgbClr val="24354F"/>
                </a:solidFill>
                <a:latin typeface="Calibri"/>
              </a:rPr>
              <a:t>Grouped by kind, because they demand different responses.</a:t>
            </a:r>
          </a:p>
        </p:txBody>
      </p:sp>
      <p:sp>
        <p:nvSpPr>
          <p:cNvPr id="7" name="Rounded Rectangle 6"/>
          <p:cNvSpPr/>
          <p:nvPr/>
        </p:nvSpPr>
        <p:spPr>
          <a:xfrm>
            <a:off x="635000" y="1701800"/>
            <a:ext cx="3517900" cy="1848612"/>
          </a:xfrm>
          <a:prstGeom prst="roundRect">
            <a:avLst>
              <a:gd name="adj" fmla="val 6183"/>
            </a:avLst>
          </a:prstGeom>
          <a:solidFill>
            <a:srgbClr val="FBF0EC"/>
          </a:solidFill>
          <a:ln w="9525">
            <a:solidFill>
              <a:srgbClr val="EFDC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50900" y="1892300"/>
            <a:ext cx="304800" cy="304800"/>
          </a:xfrm>
          <a:prstGeom prst="ellipse">
            <a:avLst/>
          </a:prstGeom>
          <a:solidFill>
            <a:srgbClr val="A93B2B"/>
          </a:solidFill>
          <a:ln w="12700">
            <a:solidFill>
              <a:srgbClr val="A93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900" y="1958022"/>
            <a:ext cx="304800" cy="186690"/>
          </a:xfrm>
          <a:prstGeom prst="rect">
            <a:avLst/>
          </a:prstGeom>
          <a:noFill/>
        </p:spPr>
        <p:txBody>
          <a:bodyPr wrap="square" lIns="0" rIns="0" tIns="0" bIns="0" anchor="t">
            <a:spAutoFit/>
          </a:bodyPr>
          <a:lstStyle/>
          <a:p>
            <a:pPr algn="ctr">
              <a:lnSpc>
                <a:spcPct val="122000"/>
              </a:lnSpc>
            </a:pPr>
            <a:r>
              <a:rPr sz="1050" b="1" i="0">
                <a:solidFill>
                  <a:srgbClr val="FFFFFF"/>
                </a:solidFill>
                <a:latin typeface="Calibri"/>
              </a:rPr>
              <a:t>✕</a:t>
            </a:r>
          </a:p>
        </p:txBody>
      </p:sp>
      <p:sp>
        <p:nvSpPr>
          <p:cNvPr id="10" name="TextBox 9"/>
          <p:cNvSpPr txBox="1"/>
          <p:nvPr/>
        </p:nvSpPr>
        <p:spPr>
          <a:xfrm>
            <a:off x="1244600" y="1892300"/>
            <a:ext cx="2667000" cy="330200"/>
          </a:xfrm>
          <a:prstGeom prst="rect">
            <a:avLst/>
          </a:prstGeom>
          <a:noFill/>
        </p:spPr>
        <p:txBody>
          <a:bodyPr wrap="square" lIns="0" rIns="0" tIns="0" bIns="0" anchor="t">
            <a:spAutoFit/>
          </a:bodyPr>
          <a:lstStyle/>
          <a:p>
            <a:pPr algn="l">
              <a:lnSpc>
                <a:spcPct val="112000"/>
              </a:lnSpc>
            </a:pPr>
            <a:r>
              <a:rPr sz="1200" b="1" i="0">
                <a:solidFill>
                  <a:srgbClr val="A93B2B"/>
                </a:solidFill>
                <a:latin typeface="Calibri"/>
              </a:rPr>
              <a:t>The evaluation has not been run</a:t>
            </a:r>
          </a:p>
        </p:txBody>
      </p:sp>
      <p:sp>
        <p:nvSpPr>
          <p:cNvPr id="11" name="TextBox 10"/>
          <p:cNvSpPr txBox="1"/>
          <p:nvPr/>
        </p:nvSpPr>
        <p:spPr>
          <a:xfrm>
            <a:off x="876300" y="2311400"/>
            <a:ext cx="3035300" cy="975360"/>
          </a:xfrm>
          <a:prstGeom prst="rect">
            <a:avLst/>
          </a:prstGeom>
          <a:noFill/>
        </p:spPr>
        <p:txBody>
          <a:bodyPr wrap="square" lIns="0" rIns="0" tIns="0" bIns="0" anchor="t">
            <a:spAutoFit/>
          </a:bodyPr>
          <a:lstStyle/>
          <a:p>
            <a:pPr algn="l">
              <a:lnSpc>
                <a:spcPct val="128000"/>
              </a:lnSpc>
            </a:pPr>
            <a:r>
              <a:rPr sz="1000" b="0" i="0">
                <a:solidFill>
                  <a:srgbClr val="5C4034"/>
                </a:solidFill>
                <a:latin typeface="Calibri"/>
              </a:rPr>
              <a:t>Claims about control-plane overhead, drain throughput, gate agreement and rollback latency are unsupported in this draft — not weakly supported. Treat the architectural argument as the contribution and the performance characterization as future work.</a:t>
            </a:r>
          </a:p>
        </p:txBody>
      </p:sp>
      <p:sp>
        <p:nvSpPr>
          <p:cNvPr id="12" name="Rounded Rectangle 11"/>
          <p:cNvSpPr/>
          <p:nvPr/>
        </p:nvSpPr>
        <p:spPr>
          <a:xfrm>
            <a:off x="4330700" y="1701800"/>
            <a:ext cx="3517900" cy="1848612"/>
          </a:xfrm>
          <a:prstGeom prst="roundRect">
            <a:avLst>
              <a:gd name="adj" fmla="val 6183"/>
            </a:avLst>
          </a:prstGeom>
          <a:solidFill>
            <a:srgbClr val="FBF0EC"/>
          </a:solidFill>
          <a:ln w="9525">
            <a:solidFill>
              <a:srgbClr val="EFDC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4546600" y="1892300"/>
            <a:ext cx="304800" cy="304800"/>
          </a:xfrm>
          <a:prstGeom prst="ellipse">
            <a:avLst/>
          </a:prstGeom>
          <a:solidFill>
            <a:srgbClr val="A93B2B"/>
          </a:solidFill>
          <a:ln w="12700">
            <a:solidFill>
              <a:srgbClr val="A93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6600" y="1958022"/>
            <a:ext cx="304800" cy="186690"/>
          </a:xfrm>
          <a:prstGeom prst="rect">
            <a:avLst/>
          </a:prstGeom>
          <a:noFill/>
        </p:spPr>
        <p:txBody>
          <a:bodyPr wrap="square" lIns="0" rIns="0" tIns="0" bIns="0" anchor="t">
            <a:spAutoFit/>
          </a:bodyPr>
          <a:lstStyle/>
          <a:p>
            <a:pPr algn="ctr">
              <a:lnSpc>
                <a:spcPct val="122000"/>
              </a:lnSpc>
            </a:pPr>
            <a:r>
              <a:rPr sz="1050" b="1" i="0">
                <a:solidFill>
                  <a:srgbClr val="FFFFFF"/>
                </a:solidFill>
                <a:latin typeface="Calibri"/>
              </a:rPr>
              <a:t>✕</a:t>
            </a:r>
          </a:p>
        </p:txBody>
      </p:sp>
      <p:sp>
        <p:nvSpPr>
          <p:cNvPr id="15" name="TextBox 14"/>
          <p:cNvSpPr txBox="1"/>
          <p:nvPr/>
        </p:nvSpPr>
        <p:spPr>
          <a:xfrm>
            <a:off x="4940300" y="1892300"/>
            <a:ext cx="2667000" cy="330200"/>
          </a:xfrm>
          <a:prstGeom prst="rect">
            <a:avLst/>
          </a:prstGeom>
          <a:noFill/>
        </p:spPr>
        <p:txBody>
          <a:bodyPr wrap="square" lIns="0" rIns="0" tIns="0" bIns="0" anchor="t">
            <a:spAutoFit/>
          </a:bodyPr>
          <a:lstStyle/>
          <a:p>
            <a:pPr algn="l">
              <a:lnSpc>
                <a:spcPct val="112000"/>
              </a:lnSpc>
            </a:pPr>
            <a:r>
              <a:rPr sz="1200" b="1" i="0">
                <a:solidFill>
                  <a:srgbClr val="A93B2B"/>
                </a:solidFill>
                <a:latin typeface="Calibri"/>
              </a:rPr>
              <a:t>No user study</a:t>
            </a:r>
          </a:p>
        </p:txBody>
      </p:sp>
      <p:sp>
        <p:nvSpPr>
          <p:cNvPr id="16" name="TextBox 15"/>
          <p:cNvSpPr txBox="1"/>
          <p:nvPr/>
        </p:nvSpPr>
        <p:spPr>
          <a:xfrm>
            <a:off x="4572000" y="2311400"/>
            <a:ext cx="3035300" cy="975360"/>
          </a:xfrm>
          <a:prstGeom prst="rect">
            <a:avLst/>
          </a:prstGeom>
          <a:noFill/>
        </p:spPr>
        <p:txBody>
          <a:bodyPr wrap="square" lIns="0" rIns="0" tIns="0" bIns="0" anchor="t">
            <a:spAutoFit/>
          </a:bodyPr>
          <a:lstStyle/>
          <a:p>
            <a:pPr algn="l">
              <a:lnSpc>
                <a:spcPct val="128000"/>
              </a:lnSpc>
            </a:pPr>
            <a:r>
              <a:rPr sz="1000" b="0" i="0">
                <a:solidFill>
                  <a:srgbClr val="5C4034"/>
                </a:solidFill>
                <a:latin typeface="Calibri"/>
              </a:rPr>
              <a:t>The central value claim is that a release becomes reviewable. Whether operators actually review more effectively, or merely click through a richer interface, is an empirical question about people that no amount of systems measurement answers.</a:t>
            </a:r>
          </a:p>
        </p:txBody>
      </p:sp>
      <p:sp>
        <p:nvSpPr>
          <p:cNvPr id="17" name="Rounded Rectangle 16"/>
          <p:cNvSpPr/>
          <p:nvPr/>
        </p:nvSpPr>
        <p:spPr>
          <a:xfrm>
            <a:off x="8026400" y="1701800"/>
            <a:ext cx="3517900" cy="1848612"/>
          </a:xfrm>
          <a:prstGeom prst="roundRect">
            <a:avLst>
              <a:gd name="adj" fmla="val 6183"/>
            </a:avLst>
          </a:prstGeom>
          <a:solidFill>
            <a:srgbClr val="FBF0EC"/>
          </a:solidFill>
          <a:ln w="9525">
            <a:solidFill>
              <a:srgbClr val="EFDC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8242300" y="1892300"/>
            <a:ext cx="304800" cy="304800"/>
          </a:xfrm>
          <a:prstGeom prst="ellipse">
            <a:avLst/>
          </a:prstGeom>
          <a:solidFill>
            <a:srgbClr val="A93B2B"/>
          </a:solidFill>
          <a:ln w="12700">
            <a:solidFill>
              <a:srgbClr val="A93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42300" y="1958022"/>
            <a:ext cx="304800" cy="186690"/>
          </a:xfrm>
          <a:prstGeom prst="rect">
            <a:avLst/>
          </a:prstGeom>
          <a:noFill/>
        </p:spPr>
        <p:txBody>
          <a:bodyPr wrap="square" lIns="0" rIns="0" tIns="0" bIns="0" anchor="t">
            <a:spAutoFit/>
          </a:bodyPr>
          <a:lstStyle/>
          <a:p>
            <a:pPr algn="ctr">
              <a:lnSpc>
                <a:spcPct val="122000"/>
              </a:lnSpc>
            </a:pPr>
            <a:r>
              <a:rPr sz="1050" b="1" i="0">
                <a:solidFill>
                  <a:srgbClr val="FFFFFF"/>
                </a:solidFill>
                <a:latin typeface="Calibri"/>
              </a:rPr>
              <a:t>✕</a:t>
            </a:r>
          </a:p>
        </p:txBody>
      </p:sp>
      <p:sp>
        <p:nvSpPr>
          <p:cNvPr id="20" name="TextBox 19"/>
          <p:cNvSpPr txBox="1"/>
          <p:nvPr/>
        </p:nvSpPr>
        <p:spPr>
          <a:xfrm>
            <a:off x="8636000" y="1892300"/>
            <a:ext cx="2667000" cy="330200"/>
          </a:xfrm>
          <a:prstGeom prst="rect">
            <a:avLst/>
          </a:prstGeom>
          <a:noFill/>
        </p:spPr>
        <p:txBody>
          <a:bodyPr wrap="square" lIns="0" rIns="0" tIns="0" bIns="0" anchor="t">
            <a:spAutoFit/>
          </a:bodyPr>
          <a:lstStyle/>
          <a:p>
            <a:pPr algn="l">
              <a:lnSpc>
                <a:spcPct val="112000"/>
              </a:lnSpc>
            </a:pPr>
            <a:r>
              <a:rPr sz="1200" b="1" i="0">
                <a:solidFill>
                  <a:srgbClr val="A93B2B"/>
                </a:solidFill>
                <a:latin typeface="Calibri"/>
              </a:rPr>
              <a:t>Single-system evidence</a:t>
            </a:r>
          </a:p>
        </p:txBody>
      </p:sp>
      <p:sp>
        <p:nvSpPr>
          <p:cNvPr id="21" name="TextBox 20"/>
          <p:cNvSpPr txBox="1"/>
          <p:nvPr/>
        </p:nvSpPr>
        <p:spPr>
          <a:xfrm>
            <a:off x="8267700" y="2311400"/>
            <a:ext cx="3035300" cy="975360"/>
          </a:xfrm>
          <a:prstGeom prst="rect">
            <a:avLst/>
          </a:prstGeom>
          <a:noFill/>
        </p:spPr>
        <p:txBody>
          <a:bodyPr wrap="square" lIns="0" rIns="0" tIns="0" bIns="0" anchor="t">
            <a:spAutoFit/>
          </a:bodyPr>
          <a:lstStyle/>
          <a:p>
            <a:pPr algn="l">
              <a:lnSpc>
                <a:spcPct val="128000"/>
              </a:lnSpc>
            </a:pPr>
            <a:r>
              <a:rPr sz="1000" b="0" i="0">
                <a:solidFill>
                  <a:srgbClr val="5C4034"/>
                </a:solidFill>
                <a:latin typeface="Calibri"/>
              </a:rPr>
              <a:t>Every architectural claim is grounded in one implementation. We argue that per-family guarantees follow from the heterogeneity of the artifact types, but a single system cannot establish that a different factoring is impossible.</a:t>
            </a:r>
          </a:p>
        </p:txBody>
      </p:sp>
      <p:sp>
        <p:nvSpPr>
          <p:cNvPr id="22" name="Rounded Rectangle 21"/>
          <p:cNvSpPr/>
          <p:nvPr/>
        </p:nvSpPr>
        <p:spPr>
          <a:xfrm>
            <a:off x="635000" y="3728212"/>
            <a:ext cx="3517900" cy="1859788"/>
          </a:xfrm>
          <a:prstGeom prst="roundRect">
            <a:avLst>
              <a:gd name="adj" fmla="val 6145"/>
            </a:avLst>
          </a:prstGeom>
          <a:solidFill>
            <a:srgbClr val="FBF0EC"/>
          </a:solidFill>
          <a:ln w="9525">
            <a:solidFill>
              <a:srgbClr val="EFDC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850900" y="3918712"/>
            <a:ext cx="304800" cy="304800"/>
          </a:xfrm>
          <a:prstGeom prst="ellipse">
            <a:avLst/>
          </a:prstGeom>
          <a:solidFill>
            <a:srgbClr val="A93B2B"/>
          </a:solidFill>
          <a:ln w="12700">
            <a:solidFill>
              <a:srgbClr val="A93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50900" y="3984434"/>
            <a:ext cx="304800" cy="186690"/>
          </a:xfrm>
          <a:prstGeom prst="rect">
            <a:avLst/>
          </a:prstGeom>
          <a:noFill/>
        </p:spPr>
        <p:txBody>
          <a:bodyPr wrap="square" lIns="0" rIns="0" tIns="0" bIns="0" anchor="t">
            <a:spAutoFit/>
          </a:bodyPr>
          <a:lstStyle/>
          <a:p>
            <a:pPr algn="ctr">
              <a:lnSpc>
                <a:spcPct val="122000"/>
              </a:lnSpc>
            </a:pPr>
            <a:r>
              <a:rPr sz="1050" b="1" i="0">
                <a:solidFill>
                  <a:srgbClr val="FFFFFF"/>
                </a:solidFill>
                <a:latin typeface="Calibri"/>
              </a:rPr>
              <a:t>✕</a:t>
            </a:r>
          </a:p>
        </p:txBody>
      </p:sp>
      <p:sp>
        <p:nvSpPr>
          <p:cNvPr id="25" name="TextBox 24"/>
          <p:cNvSpPr txBox="1"/>
          <p:nvPr/>
        </p:nvSpPr>
        <p:spPr>
          <a:xfrm>
            <a:off x="1244600" y="3918712"/>
            <a:ext cx="2667000" cy="341376"/>
          </a:xfrm>
          <a:prstGeom prst="rect">
            <a:avLst/>
          </a:prstGeom>
          <a:noFill/>
        </p:spPr>
        <p:txBody>
          <a:bodyPr wrap="square" lIns="0" rIns="0" tIns="0" bIns="0" anchor="t">
            <a:spAutoFit/>
          </a:bodyPr>
          <a:lstStyle/>
          <a:p>
            <a:pPr algn="l">
              <a:lnSpc>
                <a:spcPct val="112000"/>
              </a:lnSpc>
            </a:pPr>
            <a:r>
              <a:rPr sz="1200" b="1" i="0">
                <a:solidFill>
                  <a:srgbClr val="A93B2B"/>
                </a:solidFill>
                <a:latin typeface="Calibri"/>
              </a:rPr>
              <a:t>Apply is a confirmation, not an approval</a:t>
            </a:r>
          </a:p>
        </p:txBody>
      </p:sp>
      <p:sp>
        <p:nvSpPr>
          <p:cNvPr id="26" name="TextBox 25"/>
          <p:cNvSpPr txBox="1"/>
          <p:nvPr/>
        </p:nvSpPr>
        <p:spPr>
          <a:xfrm>
            <a:off x="876300" y="4348988"/>
            <a:ext cx="3035300" cy="975360"/>
          </a:xfrm>
          <a:prstGeom prst="rect">
            <a:avLst/>
          </a:prstGeom>
          <a:noFill/>
        </p:spPr>
        <p:txBody>
          <a:bodyPr wrap="square" lIns="0" rIns="0" tIns="0" bIns="0" anchor="t">
            <a:spAutoFit/>
          </a:bodyPr>
          <a:lstStyle/>
          <a:p>
            <a:pPr algn="l">
              <a:lnSpc>
                <a:spcPct val="128000"/>
              </a:lnSpc>
            </a:pPr>
            <a:r>
              <a:rPr sz="1000" b="0" i="0">
                <a:solidFill>
                  <a:srgbClr val="5C4034"/>
                </a:solidFill>
                <a:latin typeface="Calibri"/>
              </a:rPr>
              <a:t>The route mints an approval record already in the approved state, with the acting operator recorded as the approver. A sibling approver scope exists, but nothing requires the applier to differ from the author. The Clark–Wilson property is the target, not the present state.</a:t>
            </a:r>
          </a:p>
        </p:txBody>
      </p:sp>
      <p:sp>
        <p:nvSpPr>
          <p:cNvPr id="27" name="Rounded Rectangle 26"/>
          <p:cNvSpPr/>
          <p:nvPr/>
        </p:nvSpPr>
        <p:spPr>
          <a:xfrm>
            <a:off x="4330700" y="3728212"/>
            <a:ext cx="3517900" cy="1859788"/>
          </a:xfrm>
          <a:prstGeom prst="roundRect">
            <a:avLst>
              <a:gd name="adj" fmla="val 6145"/>
            </a:avLst>
          </a:prstGeom>
          <a:solidFill>
            <a:srgbClr val="FBF0EC"/>
          </a:solidFill>
          <a:ln w="9525">
            <a:solidFill>
              <a:srgbClr val="EFDC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4546600" y="3918712"/>
            <a:ext cx="304800" cy="304800"/>
          </a:xfrm>
          <a:prstGeom prst="ellipse">
            <a:avLst/>
          </a:prstGeom>
          <a:solidFill>
            <a:srgbClr val="A93B2B"/>
          </a:solidFill>
          <a:ln w="12700">
            <a:solidFill>
              <a:srgbClr val="A93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46600" y="3984434"/>
            <a:ext cx="304800" cy="186690"/>
          </a:xfrm>
          <a:prstGeom prst="rect">
            <a:avLst/>
          </a:prstGeom>
          <a:noFill/>
        </p:spPr>
        <p:txBody>
          <a:bodyPr wrap="square" lIns="0" rIns="0" tIns="0" bIns="0" anchor="t">
            <a:spAutoFit/>
          </a:bodyPr>
          <a:lstStyle/>
          <a:p>
            <a:pPr algn="ctr">
              <a:lnSpc>
                <a:spcPct val="122000"/>
              </a:lnSpc>
            </a:pPr>
            <a:r>
              <a:rPr sz="1050" b="1" i="0">
                <a:solidFill>
                  <a:srgbClr val="FFFFFF"/>
                </a:solidFill>
                <a:latin typeface="Calibri"/>
              </a:rPr>
              <a:t>✕</a:t>
            </a:r>
          </a:p>
        </p:txBody>
      </p:sp>
      <p:sp>
        <p:nvSpPr>
          <p:cNvPr id="30" name="TextBox 29"/>
          <p:cNvSpPr txBox="1"/>
          <p:nvPr/>
        </p:nvSpPr>
        <p:spPr>
          <a:xfrm>
            <a:off x="4940300" y="3918712"/>
            <a:ext cx="2667000" cy="341376"/>
          </a:xfrm>
          <a:prstGeom prst="rect">
            <a:avLst/>
          </a:prstGeom>
          <a:noFill/>
        </p:spPr>
        <p:txBody>
          <a:bodyPr wrap="square" lIns="0" rIns="0" tIns="0" bIns="0" anchor="t">
            <a:spAutoFit/>
          </a:bodyPr>
          <a:lstStyle/>
          <a:p>
            <a:pPr algn="l">
              <a:lnSpc>
                <a:spcPct val="112000"/>
              </a:lnSpc>
            </a:pPr>
            <a:r>
              <a:rPr sz="1200" b="1" i="0">
                <a:solidFill>
                  <a:srgbClr val="A93B2B"/>
                </a:solidFill>
                <a:latin typeface="Calibri"/>
              </a:rPr>
              <a:t>Two dual-write boundaries cannot be closed</a:t>
            </a:r>
          </a:p>
        </p:txBody>
      </p:sp>
      <p:sp>
        <p:nvSpPr>
          <p:cNvPr id="31" name="TextBox 30"/>
          <p:cNvSpPr txBox="1"/>
          <p:nvPr/>
        </p:nvSpPr>
        <p:spPr>
          <a:xfrm>
            <a:off x="4572000" y="4348988"/>
            <a:ext cx="3035300" cy="975360"/>
          </a:xfrm>
          <a:prstGeom prst="rect">
            <a:avLst/>
          </a:prstGeom>
          <a:noFill/>
        </p:spPr>
        <p:txBody>
          <a:bodyPr wrap="square" lIns="0" rIns="0" tIns="0" bIns="0" anchor="t">
            <a:spAutoFit/>
          </a:bodyPr>
          <a:lstStyle/>
          <a:p>
            <a:pPr algn="l">
              <a:lnSpc>
                <a:spcPct val="128000"/>
              </a:lnSpc>
            </a:pPr>
            <a:r>
              <a:rPr sz="1000" b="0" i="0">
                <a:solidFill>
                  <a:srgbClr val="5C4034"/>
                </a:solidFill>
                <a:latin typeface="Calibri"/>
              </a:rPr>
              <a:t>Object-storage writes and external registry effects cannot join the caller's SQL transaction. Prompt-alias writes are intent-first and idempotently reconciled, which makes divergence observable but not atomic. A failed object write can still leave orphaned bytes.</a:t>
            </a:r>
          </a:p>
        </p:txBody>
      </p:sp>
      <p:sp>
        <p:nvSpPr>
          <p:cNvPr id="32" name="Rounded Rectangle 31"/>
          <p:cNvSpPr/>
          <p:nvPr/>
        </p:nvSpPr>
        <p:spPr>
          <a:xfrm>
            <a:off x="8026400" y="3728212"/>
            <a:ext cx="3517900" cy="1859788"/>
          </a:xfrm>
          <a:prstGeom prst="roundRect">
            <a:avLst>
              <a:gd name="adj" fmla="val 6145"/>
            </a:avLst>
          </a:prstGeom>
          <a:solidFill>
            <a:srgbClr val="FBF0EC"/>
          </a:solidFill>
          <a:ln w="9525">
            <a:solidFill>
              <a:srgbClr val="EFDC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8242300" y="3918712"/>
            <a:ext cx="304800" cy="304800"/>
          </a:xfrm>
          <a:prstGeom prst="ellipse">
            <a:avLst/>
          </a:prstGeom>
          <a:solidFill>
            <a:srgbClr val="A93B2B"/>
          </a:solidFill>
          <a:ln w="12700">
            <a:solidFill>
              <a:srgbClr val="A93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42300" y="3984434"/>
            <a:ext cx="304800" cy="186690"/>
          </a:xfrm>
          <a:prstGeom prst="rect">
            <a:avLst/>
          </a:prstGeom>
          <a:noFill/>
        </p:spPr>
        <p:txBody>
          <a:bodyPr wrap="square" lIns="0" rIns="0" tIns="0" bIns="0" anchor="t">
            <a:spAutoFit/>
          </a:bodyPr>
          <a:lstStyle/>
          <a:p>
            <a:pPr algn="ctr">
              <a:lnSpc>
                <a:spcPct val="122000"/>
              </a:lnSpc>
            </a:pPr>
            <a:r>
              <a:rPr sz="1050" b="1" i="0">
                <a:solidFill>
                  <a:srgbClr val="FFFFFF"/>
                </a:solidFill>
                <a:latin typeface="Calibri"/>
              </a:rPr>
              <a:t>✕</a:t>
            </a:r>
          </a:p>
        </p:txBody>
      </p:sp>
      <p:sp>
        <p:nvSpPr>
          <p:cNvPr id="35" name="TextBox 34"/>
          <p:cNvSpPr txBox="1"/>
          <p:nvPr/>
        </p:nvSpPr>
        <p:spPr>
          <a:xfrm>
            <a:off x="8636000" y="3918712"/>
            <a:ext cx="2667000" cy="330200"/>
          </a:xfrm>
          <a:prstGeom prst="rect">
            <a:avLst/>
          </a:prstGeom>
          <a:noFill/>
        </p:spPr>
        <p:txBody>
          <a:bodyPr wrap="square" lIns="0" rIns="0" tIns="0" bIns="0" anchor="t">
            <a:spAutoFit/>
          </a:bodyPr>
          <a:lstStyle/>
          <a:p>
            <a:pPr algn="l">
              <a:lnSpc>
                <a:spcPct val="112000"/>
              </a:lnSpc>
            </a:pPr>
            <a:r>
              <a:rPr sz="1200" b="1" i="0">
                <a:solidFill>
                  <a:srgbClr val="A93B2B"/>
                </a:solidFill>
                <a:latin typeface="Calibri"/>
              </a:rPr>
              <a:t>Containment, not isolation</a:t>
            </a:r>
          </a:p>
        </p:txBody>
      </p:sp>
      <p:sp>
        <p:nvSpPr>
          <p:cNvPr id="36" name="TextBox 35"/>
          <p:cNvSpPr txBox="1"/>
          <p:nvPr/>
        </p:nvSpPr>
        <p:spPr>
          <a:xfrm>
            <a:off x="8267700" y="4337812"/>
            <a:ext cx="3035300" cy="812800"/>
          </a:xfrm>
          <a:prstGeom prst="rect">
            <a:avLst/>
          </a:prstGeom>
          <a:noFill/>
        </p:spPr>
        <p:txBody>
          <a:bodyPr wrap="square" lIns="0" rIns="0" tIns="0" bIns="0" anchor="t">
            <a:spAutoFit/>
          </a:bodyPr>
          <a:lstStyle/>
          <a:p>
            <a:pPr algn="l">
              <a:lnSpc>
                <a:spcPct val="128000"/>
              </a:lnSpc>
            </a:pPr>
            <a:r>
              <a:rPr sz="1000" b="0" i="0">
                <a:solidFill>
                  <a:srgbClr val="5C4034"/>
                </a:solidFill>
                <a:latin typeface="Calibri"/>
              </a:rPr>
              <a:t>The shipped local runner for tools and MCP keeps ambient host authority. We are careful about which word applies throughout: distinguishing containment from isolation is what keeps the security claim falsifiable.</a:t>
            </a:r>
          </a:p>
        </p:txBody>
      </p:sp>
      <p:sp>
        <p:nvSpPr>
          <p:cNvPr id="37" name="TextBox 36"/>
          <p:cNvSpPr txBox="1"/>
          <p:nvPr/>
        </p:nvSpPr>
        <p:spPr>
          <a:xfrm>
            <a:off x="635000" y="5765800"/>
            <a:ext cx="10909300" cy="381000"/>
          </a:xfrm>
          <a:prstGeom prst="rect">
            <a:avLst/>
          </a:prstGeom>
          <a:noFill/>
        </p:spPr>
        <p:txBody>
          <a:bodyPr wrap="square" lIns="0" rIns="0" tIns="0" bIns="0" anchor="t">
            <a:spAutoFit/>
          </a:bodyPr>
          <a:lstStyle/>
          <a:p>
            <a:pPr algn="l">
              <a:lnSpc>
                <a:spcPct val="122000"/>
              </a:lnSpc>
            </a:pPr>
            <a:r>
              <a:rPr sz="1050" b="1" i="0">
                <a:solidFill>
                  <a:srgbClr val="5A6B84"/>
                </a:solidFill>
                <a:latin typeface="Calibri"/>
              </a:rPr>
              <a:t>The most likely operator error in CALIBER is assuming a guarantee transfers across families because the same interface component is mounted in both places. The shared version panel is the canonical trap.</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35000" y="6337300"/>
            <a:ext cx="6096000" cy="254000"/>
          </a:xfrm>
          <a:prstGeom prst="rect">
            <a:avLst/>
          </a:prstGeom>
          <a:noFill/>
        </p:spPr>
        <p:txBody>
          <a:bodyPr wrap="square" lIns="0" rIns="0" tIns="0" bIns="0" anchor="t">
            <a:spAutoFit/>
          </a:bodyPr>
          <a:lstStyle/>
          <a:p>
            <a:pPr algn="l">
              <a:lnSpc>
                <a:spcPct val="122000"/>
              </a:lnSpc>
            </a:pPr>
            <a:r>
              <a:rPr sz="900" b="0" i="0">
                <a:solidFill>
                  <a:srgbClr val="A3B2C4"/>
                </a:solidFill>
                <a:latin typeface="Calibri"/>
              </a:rPr>
              <a:t>CALIBER  ·  A Layered Control Plane for Governed Releases of AI-Agent Resources</a:t>
            </a:r>
          </a:p>
        </p:txBody>
      </p:sp>
      <p:sp>
        <p:nvSpPr>
          <p:cNvPr id="3" name="TextBox 2"/>
          <p:cNvSpPr txBox="1"/>
          <p:nvPr/>
        </p:nvSpPr>
        <p:spPr>
          <a:xfrm>
            <a:off x="10629900" y="6337300"/>
            <a:ext cx="914400" cy="254000"/>
          </a:xfrm>
          <a:prstGeom prst="rect">
            <a:avLst/>
          </a:prstGeom>
          <a:noFill/>
        </p:spPr>
        <p:txBody>
          <a:bodyPr wrap="square" lIns="0" rIns="0" tIns="0" bIns="0" anchor="t">
            <a:spAutoFit/>
          </a:bodyPr>
          <a:lstStyle/>
          <a:p>
            <a:pPr algn="r">
              <a:lnSpc>
                <a:spcPct val="122000"/>
              </a:lnSpc>
            </a:pPr>
            <a:r>
              <a:rPr sz="900" b="0" i="0">
                <a:solidFill>
                  <a:srgbClr val="A3B2C4"/>
                </a:solidFill>
                <a:latin typeface="Calibri"/>
              </a:rPr>
              <a:t>23</a:t>
            </a:r>
          </a:p>
        </p:txBody>
      </p:sp>
      <p:sp>
        <p:nvSpPr>
          <p:cNvPr id="4" name="TextBox 3"/>
          <p:cNvSpPr txBox="1"/>
          <p:nvPr/>
        </p:nvSpPr>
        <p:spPr>
          <a:xfrm>
            <a:off x="635000" y="381000"/>
            <a:ext cx="10909300" cy="228600"/>
          </a:xfrm>
          <a:prstGeom prst="rect">
            <a:avLst/>
          </a:prstGeom>
          <a:noFill/>
        </p:spPr>
        <p:txBody>
          <a:bodyPr wrap="square" lIns="0" rIns="0" tIns="0" bIns="0" anchor="t">
            <a:spAutoFit/>
          </a:bodyPr>
          <a:lstStyle/>
          <a:p>
            <a:pPr algn="l">
              <a:lnSpc>
                <a:spcPct val="122000"/>
              </a:lnSpc>
            </a:pPr>
            <a:r>
              <a:rPr sz="1050" b="1" i="0">
                <a:solidFill>
                  <a:srgbClr val="1F8A99"/>
                </a:solidFill>
                <a:latin typeface="Calibri"/>
              </a:rPr>
              <a:t>The register  ·  §1, §5.1, §10, §12</a:t>
            </a:r>
          </a:p>
        </p:txBody>
      </p:sp>
      <p:sp>
        <p:nvSpPr>
          <p:cNvPr id="5" name="TextBox 4"/>
          <p:cNvSpPr txBox="1"/>
          <p:nvPr/>
        </p:nvSpPr>
        <p:spPr>
          <a:xfrm>
            <a:off x="635000" y="647700"/>
            <a:ext cx="10909300" cy="495300"/>
          </a:xfrm>
          <a:prstGeom prst="rect">
            <a:avLst/>
          </a:prstGeom>
          <a:noFill/>
        </p:spPr>
        <p:txBody>
          <a:bodyPr wrap="square" lIns="0" rIns="0" tIns="0" bIns="0" anchor="t">
            <a:spAutoFit/>
          </a:bodyPr>
          <a:lstStyle/>
          <a:p>
            <a:pPr algn="l">
              <a:lnSpc>
                <a:spcPct val="108000"/>
              </a:lnSpc>
            </a:pPr>
            <a:r>
              <a:rPr sz="2600" b="1" i="0">
                <a:solidFill>
                  <a:srgbClr val="0E1E3A"/>
                </a:solidFill>
                <a:latin typeface="Calibri"/>
              </a:rPr>
              <a:t>Every claim, its evidence, and its standing</a:t>
            </a:r>
          </a:p>
        </p:txBody>
      </p:sp>
      <p:sp>
        <p:nvSpPr>
          <p:cNvPr id="6" name="TextBox 5"/>
          <p:cNvSpPr txBox="1"/>
          <p:nvPr/>
        </p:nvSpPr>
        <p:spPr>
          <a:xfrm>
            <a:off x="635000" y="1168400"/>
            <a:ext cx="10909300" cy="431800"/>
          </a:xfrm>
          <a:prstGeom prst="rect">
            <a:avLst/>
          </a:prstGeom>
          <a:noFill/>
        </p:spPr>
        <p:txBody>
          <a:bodyPr wrap="square" lIns="0" rIns="0" tIns="0" bIns="0" anchor="t">
            <a:spAutoFit/>
          </a:bodyPr>
          <a:lstStyle/>
          <a:p>
            <a:pPr algn="l">
              <a:lnSpc>
                <a:spcPct val="130000"/>
              </a:lnSpc>
            </a:pPr>
            <a:r>
              <a:rPr sz="1250" b="0" i="0">
                <a:solidFill>
                  <a:srgbClr val="24354F"/>
                </a:solidFill>
                <a:latin typeface="Calibri"/>
              </a:rPr>
              <a:t>A claim whose standing is not stated is a claim a reader has to reconstruct. This is the register the rest of the talk reduces to.</a:t>
            </a:r>
          </a:p>
        </p:txBody>
      </p:sp>
      <p:sp>
        <p:nvSpPr>
          <p:cNvPr id="7" name="Rectangle 6"/>
          <p:cNvSpPr/>
          <p:nvPr/>
        </p:nvSpPr>
        <p:spPr>
          <a:xfrm>
            <a:off x="635000" y="1701800"/>
            <a:ext cx="10909300" cy="312673"/>
          </a:xfrm>
          <a:prstGeom prst="rect">
            <a:avLst/>
          </a:prstGeom>
          <a:solidFill>
            <a:srgbClr val="1F8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6600" y="1784350"/>
            <a:ext cx="355600" cy="147573"/>
          </a:xfrm>
          <a:prstGeom prst="rect">
            <a:avLst/>
          </a:prstGeom>
          <a:noFill/>
        </p:spPr>
        <p:txBody>
          <a:bodyPr wrap="square" lIns="0" rIns="0" tIns="0" bIns="0" anchor="t">
            <a:spAutoFit/>
          </a:bodyPr>
          <a:lstStyle/>
          <a:p>
            <a:pPr algn="l">
              <a:lnSpc>
                <a:spcPct val="122000"/>
              </a:lnSpc>
            </a:pPr>
          </a:p>
        </p:txBody>
      </p:sp>
      <p:sp>
        <p:nvSpPr>
          <p:cNvPr id="9" name="TextBox 8"/>
          <p:cNvSpPr txBox="1"/>
          <p:nvPr/>
        </p:nvSpPr>
        <p:spPr>
          <a:xfrm>
            <a:off x="1295400" y="1784350"/>
            <a:ext cx="3606800" cy="147573"/>
          </a:xfrm>
          <a:prstGeom prst="rect">
            <a:avLst/>
          </a:prstGeom>
          <a:noFill/>
        </p:spPr>
        <p:txBody>
          <a:bodyPr wrap="square" lIns="0" rIns="0" tIns="0" bIns="0" anchor="t">
            <a:spAutoFit/>
          </a:bodyPr>
          <a:lstStyle/>
          <a:p>
            <a:pPr algn="l">
              <a:lnSpc>
                <a:spcPct val="122000"/>
              </a:lnSpc>
            </a:pPr>
            <a:r>
              <a:rPr sz="900" b="1" i="0">
                <a:solidFill>
                  <a:srgbClr val="FFFFFF"/>
                </a:solidFill>
                <a:latin typeface="Calibri"/>
              </a:rPr>
              <a:t>Claim</a:t>
            </a:r>
          </a:p>
        </p:txBody>
      </p:sp>
      <p:sp>
        <p:nvSpPr>
          <p:cNvPr id="10" name="TextBox 9"/>
          <p:cNvSpPr txBox="1"/>
          <p:nvPr/>
        </p:nvSpPr>
        <p:spPr>
          <a:xfrm>
            <a:off x="5105400" y="1784350"/>
            <a:ext cx="3606800" cy="147573"/>
          </a:xfrm>
          <a:prstGeom prst="rect">
            <a:avLst/>
          </a:prstGeom>
          <a:noFill/>
        </p:spPr>
        <p:txBody>
          <a:bodyPr wrap="square" lIns="0" rIns="0" tIns="0" bIns="0" anchor="t">
            <a:spAutoFit/>
          </a:bodyPr>
          <a:lstStyle/>
          <a:p>
            <a:pPr algn="l">
              <a:lnSpc>
                <a:spcPct val="122000"/>
              </a:lnSpc>
            </a:pPr>
            <a:r>
              <a:rPr sz="900" b="1" i="0">
                <a:solidFill>
                  <a:srgbClr val="FFFFFF"/>
                </a:solidFill>
                <a:latin typeface="Calibri"/>
              </a:rPr>
              <a:t>Direct evidence</a:t>
            </a:r>
          </a:p>
        </p:txBody>
      </p:sp>
      <p:sp>
        <p:nvSpPr>
          <p:cNvPr id="11" name="TextBox 10"/>
          <p:cNvSpPr txBox="1"/>
          <p:nvPr/>
        </p:nvSpPr>
        <p:spPr>
          <a:xfrm>
            <a:off x="8915400" y="1784350"/>
            <a:ext cx="2527300" cy="147573"/>
          </a:xfrm>
          <a:prstGeom prst="rect">
            <a:avLst/>
          </a:prstGeom>
          <a:noFill/>
        </p:spPr>
        <p:txBody>
          <a:bodyPr wrap="square" lIns="0" rIns="0" tIns="0" bIns="0" anchor="t">
            <a:spAutoFit/>
          </a:bodyPr>
          <a:lstStyle/>
          <a:p>
            <a:pPr algn="l">
              <a:lnSpc>
                <a:spcPct val="122000"/>
              </a:lnSpc>
            </a:pPr>
            <a:r>
              <a:rPr sz="900" b="1" i="0">
                <a:solidFill>
                  <a:srgbClr val="FFFFFF"/>
                </a:solidFill>
                <a:latin typeface="Calibri"/>
              </a:rPr>
              <a:t>Standing</a:t>
            </a:r>
          </a:p>
        </p:txBody>
      </p:sp>
      <p:sp>
        <p:nvSpPr>
          <p:cNvPr id="12" name="Rectangle 11"/>
          <p:cNvSpPr/>
          <p:nvPr/>
        </p:nvSpPr>
        <p:spPr>
          <a:xfrm>
            <a:off x="635000" y="2383694"/>
            <a:ext cx="10909300" cy="7620"/>
          </a:xfrm>
          <a:prstGeom prst="rect">
            <a:avLst/>
          </a:prstGeom>
          <a:solidFill>
            <a:srgbClr val="D5E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6600" y="2097024"/>
            <a:ext cx="355600" cy="211740"/>
          </a:xfrm>
          <a:prstGeom prst="rect">
            <a:avLst/>
          </a:prstGeom>
          <a:noFill/>
        </p:spPr>
        <p:txBody>
          <a:bodyPr wrap="square" lIns="0" rIns="0" tIns="0" bIns="0" anchor="ctr">
            <a:spAutoFit/>
          </a:bodyPr>
          <a:lstStyle/>
          <a:p>
            <a:pPr algn="l">
              <a:lnSpc>
                <a:spcPct val="118000"/>
              </a:lnSpc>
            </a:pPr>
            <a:r>
              <a:rPr sz="800" b="0" i="0">
                <a:solidFill>
                  <a:srgbClr val="24354F"/>
                </a:solidFill>
                <a:latin typeface="Calibri"/>
              </a:rPr>
              <a:t>C1</a:t>
            </a:r>
          </a:p>
        </p:txBody>
      </p:sp>
      <p:sp>
        <p:nvSpPr>
          <p:cNvPr id="14" name="TextBox 13"/>
          <p:cNvSpPr txBox="1"/>
          <p:nvPr/>
        </p:nvSpPr>
        <p:spPr>
          <a:xfrm>
            <a:off x="1295400" y="2097024"/>
            <a:ext cx="3606800" cy="211740"/>
          </a:xfrm>
          <a:prstGeom prst="rect">
            <a:avLst/>
          </a:prstGeom>
          <a:noFill/>
        </p:spPr>
        <p:txBody>
          <a:bodyPr wrap="square" lIns="0" rIns="0" tIns="0" bIns="0" anchor="ctr">
            <a:spAutoFit/>
          </a:bodyPr>
          <a:lstStyle/>
          <a:p>
            <a:pPr algn="l">
              <a:lnSpc>
                <a:spcPct val="118000"/>
              </a:lnSpc>
            </a:pPr>
            <a:r>
              <a:rPr sz="800" b="0" i="0">
                <a:solidFill>
                  <a:srgbClr val="24354F"/>
                </a:solidFill>
                <a:latin typeface="Calibri"/>
              </a:rPr>
              <a:t>The governed asset is a coherent unit of governance across families</a:t>
            </a:r>
          </a:p>
        </p:txBody>
      </p:sp>
      <p:sp>
        <p:nvSpPr>
          <p:cNvPr id="15" name="TextBox 14"/>
          <p:cNvSpPr txBox="1"/>
          <p:nvPr/>
        </p:nvSpPr>
        <p:spPr>
          <a:xfrm>
            <a:off x="5105400" y="2097024"/>
            <a:ext cx="3606800" cy="211740"/>
          </a:xfrm>
          <a:prstGeom prst="rect">
            <a:avLst/>
          </a:prstGeom>
          <a:noFill/>
        </p:spPr>
        <p:txBody>
          <a:bodyPr wrap="square" lIns="0" rIns="0" tIns="0" bIns="0" anchor="ctr">
            <a:spAutoFit/>
          </a:bodyPr>
          <a:lstStyle/>
          <a:p>
            <a:pPr algn="l">
              <a:lnSpc>
                <a:spcPct val="118000"/>
              </a:lnSpc>
            </a:pPr>
            <a:r>
              <a:rPr sz="800" b="0" i="0">
                <a:solidFill>
                  <a:srgbClr val="24354F"/>
                </a:solidFill>
                <a:latin typeface="Calibri"/>
              </a:rPr>
              <a:t>nine families wired against one base contract; Table 3</a:t>
            </a:r>
          </a:p>
        </p:txBody>
      </p:sp>
      <p:sp>
        <p:nvSpPr>
          <p:cNvPr id="16" name="TextBox 15"/>
          <p:cNvSpPr txBox="1"/>
          <p:nvPr/>
        </p:nvSpPr>
        <p:spPr>
          <a:xfrm>
            <a:off x="8915400" y="2097024"/>
            <a:ext cx="2527300" cy="211740"/>
          </a:xfrm>
          <a:prstGeom prst="rect">
            <a:avLst/>
          </a:prstGeom>
          <a:noFill/>
        </p:spPr>
        <p:txBody>
          <a:bodyPr wrap="square" lIns="0" rIns="0" tIns="0" bIns="0" anchor="ctr">
            <a:spAutoFit/>
          </a:bodyPr>
          <a:lstStyle/>
          <a:p>
            <a:pPr algn="l">
              <a:lnSpc>
                <a:spcPct val="118000"/>
              </a:lnSpc>
            </a:pPr>
            <a:r>
              <a:rPr sz="800" b="1" i="0">
                <a:solidFill>
                  <a:srgbClr val="1F8A99"/>
                </a:solidFill>
                <a:latin typeface="Calibri"/>
              </a:rPr>
              <a:t>established</a:t>
            </a:r>
            <a:r>
              <a:rPr sz="800" b="0" i="0">
                <a:solidFill>
                  <a:srgbClr val="5A6B84"/>
                </a:solidFill>
                <a:latin typeface="Calibri"/>
              </a:rPr>
              <a:t> — this implementation</a:t>
            </a:r>
          </a:p>
        </p:txBody>
      </p:sp>
      <p:sp>
        <p:nvSpPr>
          <p:cNvPr id="17" name="Rectangle 16"/>
          <p:cNvSpPr/>
          <p:nvPr/>
        </p:nvSpPr>
        <p:spPr>
          <a:xfrm>
            <a:off x="635000" y="2391314"/>
            <a:ext cx="10909300" cy="376840"/>
          </a:xfrm>
          <a:prstGeom prst="rect">
            <a:avLst/>
          </a:prstGeom>
          <a:solidFill>
            <a:srgbClr val="F5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5000" y="2760535"/>
            <a:ext cx="10909300" cy="7620"/>
          </a:xfrm>
          <a:prstGeom prst="rect">
            <a:avLst/>
          </a:prstGeom>
          <a:solidFill>
            <a:srgbClr val="D5E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6600" y="2473864"/>
            <a:ext cx="355600" cy="211740"/>
          </a:xfrm>
          <a:prstGeom prst="rect">
            <a:avLst/>
          </a:prstGeom>
          <a:noFill/>
        </p:spPr>
        <p:txBody>
          <a:bodyPr wrap="square" lIns="0" rIns="0" tIns="0" bIns="0" anchor="ctr">
            <a:spAutoFit/>
          </a:bodyPr>
          <a:lstStyle/>
          <a:p>
            <a:pPr algn="l">
              <a:lnSpc>
                <a:spcPct val="118000"/>
              </a:lnSpc>
            </a:pPr>
            <a:r>
              <a:rPr sz="800" b="0" i="0">
                <a:solidFill>
                  <a:srgbClr val="24354F"/>
                </a:solidFill>
                <a:latin typeface="Calibri"/>
              </a:rPr>
              <a:t>C2</a:t>
            </a:r>
          </a:p>
        </p:txBody>
      </p:sp>
      <p:sp>
        <p:nvSpPr>
          <p:cNvPr id="20" name="TextBox 19"/>
          <p:cNvSpPr txBox="1"/>
          <p:nvPr/>
        </p:nvSpPr>
        <p:spPr>
          <a:xfrm>
            <a:off x="1295400" y="2473864"/>
            <a:ext cx="3606800" cy="211740"/>
          </a:xfrm>
          <a:prstGeom prst="rect">
            <a:avLst/>
          </a:prstGeom>
          <a:noFill/>
        </p:spPr>
        <p:txBody>
          <a:bodyPr wrap="square" lIns="0" rIns="0" tIns="0" bIns="0" anchor="ctr">
            <a:spAutoFit/>
          </a:bodyPr>
          <a:lstStyle/>
          <a:p>
            <a:pPr algn="l">
              <a:lnSpc>
                <a:spcPct val="118000"/>
              </a:lnSpc>
            </a:pPr>
            <a:r>
              <a:rPr sz="800" b="0" i="0">
                <a:solidFill>
                  <a:srgbClr val="24354F"/>
                </a:solidFill>
                <a:latin typeface="Calibri"/>
              </a:rPr>
              <a:t>Adjacency confers availability, not inheritance</a:t>
            </a:r>
          </a:p>
        </p:txBody>
      </p:sp>
      <p:sp>
        <p:nvSpPr>
          <p:cNvPr id="21" name="TextBox 20"/>
          <p:cNvSpPr txBox="1"/>
          <p:nvPr/>
        </p:nvSpPr>
        <p:spPr>
          <a:xfrm>
            <a:off x="5105400" y="2473864"/>
            <a:ext cx="3606800" cy="211740"/>
          </a:xfrm>
          <a:prstGeom prst="rect">
            <a:avLst/>
          </a:prstGeom>
          <a:noFill/>
        </p:spPr>
        <p:txBody>
          <a:bodyPr wrap="square" lIns="0" rIns="0" tIns="0" bIns="0" anchor="ctr">
            <a:spAutoFit/>
          </a:bodyPr>
          <a:lstStyle/>
          <a:p>
            <a:pPr algn="l">
              <a:lnSpc>
                <a:spcPct val="118000"/>
              </a:lnSpc>
            </a:pPr>
            <a:r>
              <a:rPr sz="800" b="0" i="0">
                <a:solidFill>
                  <a:srgbClr val="24354F"/>
                </a:solidFill>
                <a:latin typeface="Calibri"/>
              </a:rPr>
              <a:t>the prompt / test set / judge argument, plus the per-family wiring</a:t>
            </a:r>
          </a:p>
        </p:txBody>
      </p:sp>
      <p:sp>
        <p:nvSpPr>
          <p:cNvPr id="22" name="TextBox 21"/>
          <p:cNvSpPr txBox="1"/>
          <p:nvPr/>
        </p:nvSpPr>
        <p:spPr>
          <a:xfrm>
            <a:off x="8915400" y="2473864"/>
            <a:ext cx="2527300" cy="211740"/>
          </a:xfrm>
          <a:prstGeom prst="rect">
            <a:avLst/>
          </a:prstGeom>
          <a:noFill/>
        </p:spPr>
        <p:txBody>
          <a:bodyPr wrap="square" lIns="0" rIns="0" tIns="0" bIns="0" anchor="ctr">
            <a:spAutoFit/>
          </a:bodyPr>
          <a:lstStyle/>
          <a:p>
            <a:pPr algn="l">
              <a:lnSpc>
                <a:spcPct val="118000"/>
              </a:lnSpc>
            </a:pPr>
            <a:r>
              <a:rPr sz="800" b="1" i="0">
                <a:solidFill>
                  <a:srgbClr val="1F8A99"/>
                </a:solidFill>
                <a:latin typeface="Calibri"/>
              </a:rPr>
              <a:t>established</a:t>
            </a:r>
            <a:r>
              <a:rPr sz="800" b="0" i="0">
                <a:solidFill>
                  <a:srgbClr val="5A6B84"/>
                </a:solidFill>
                <a:latin typeface="Calibri"/>
              </a:rPr>
              <a:t> — and the reason is intrinsic</a:t>
            </a:r>
          </a:p>
        </p:txBody>
      </p:sp>
      <p:sp>
        <p:nvSpPr>
          <p:cNvPr id="23" name="Rectangle 22"/>
          <p:cNvSpPr/>
          <p:nvPr/>
        </p:nvSpPr>
        <p:spPr>
          <a:xfrm>
            <a:off x="635000" y="3137376"/>
            <a:ext cx="10909300" cy="7620"/>
          </a:xfrm>
          <a:prstGeom prst="rect">
            <a:avLst/>
          </a:prstGeom>
          <a:solidFill>
            <a:srgbClr val="D5E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6600" y="2850705"/>
            <a:ext cx="355600" cy="211740"/>
          </a:xfrm>
          <a:prstGeom prst="rect">
            <a:avLst/>
          </a:prstGeom>
          <a:noFill/>
        </p:spPr>
        <p:txBody>
          <a:bodyPr wrap="square" lIns="0" rIns="0" tIns="0" bIns="0" anchor="ctr">
            <a:spAutoFit/>
          </a:bodyPr>
          <a:lstStyle/>
          <a:p>
            <a:pPr algn="l">
              <a:lnSpc>
                <a:spcPct val="118000"/>
              </a:lnSpc>
            </a:pPr>
            <a:r>
              <a:rPr sz="800" b="0" i="0">
                <a:solidFill>
                  <a:srgbClr val="24354F"/>
                </a:solidFill>
                <a:latin typeface="Calibri"/>
              </a:rPr>
              <a:t>C3</a:t>
            </a:r>
          </a:p>
        </p:txBody>
      </p:sp>
      <p:sp>
        <p:nvSpPr>
          <p:cNvPr id="25" name="TextBox 24"/>
          <p:cNvSpPr txBox="1"/>
          <p:nvPr/>
        </p:nvSpPr>
        <p:spPr>
          <a:xfrm>
            <a:off x="1295400" y="2850705"/>
            <a:ext cx="3606800" cy="211740"/>
          </a:xfrm>
          <a:prstGeom prst="rect">
            <a:avLst/>
          </a:prstGeom>
          <a:noFill/>
        </p:spPr>
        <p:txBody>
          <a:bodyPr wrap="square" lIns="0" rIns="0" tIns="0" bIns="0" anchor="ctr">
            <a:spAutoFit/>
          </a:bodyPr>
          <a:lstStyle/>
          <a:p>
            <a:pPr algn="l">
              <a:lnSpc>
                <a:spcPct val="118000"/>
              </a:lnSpc>
            </a:pPr>
            <a:r>
              <a:rPr sz="800" b="0" i="0">
                <a:solidFill>
                  <a:srgbClr val="24354F"/>
                </a:solidFill>
                <a:latin typeface="Calibri"/>
              </a:rPr>
              <a:t>Uniform obligations are possible, but not present</a:t>
            </a:r>
          </a:p>
        </p:txBody>
      </p:sp>
      <p:sp>
        <p:nvSpPr>
          <p:cNvPr id="26" name="TextBox 25"/>
          <p:cNvSpPr txBox="1"/>
          <p:nvPr/>
        </p:nvSpPr>
        <p:spPr>
          <a:xfrm>
            <a:off x="5105400" y="2850705"/>
            <a:ext cx="3606800" cy="211740"/>
          </a:xfrm>
          <a:prstGeom prst="rect">
            <a:avLst/>
          </a:prstGeom>
          <a:noFill/>
        </p:spPr>
        <p:txBody>
          <a:bodyPr wrap="square" lIns="0" rIns="0" tIns="0" bIns="0" anchor="ctr">
            <a:spAutoFit/>
          </a:bodyPr>
          <a:lstStyle/>
          <a:p>
            <a:pPr algn="l">
              <a:lnSpc>
                <a:spcPct val="118000"/>
              </a:lnSpc>
            </a:pPr>
            <a:r>
              <a:rPr sz="800" b="0" i="0">
                <a:solidFill>
                  <a:srgbClr val="24354F"/>
                </a:solidFill>
                <a:latin typeface="Calibri"/>
              </a:rPr>
              <a:t>capability interfaces are the natural design and were not taken</a:t>
            </a:r>
          </a:p>
        </p:txBody>
      </p:sp>
      <p:sp>
        <p:nvSpPr>
          <p:cNvPr id="27" name="TextBox 26"/>
          <p:cNvSpPr txBox="1"/>
          <p:nvPr/>
        </p:nvSpPr>
        <p:spPr>
          <a:xfrm>
            <a:off x="8915400" y="2850705"/>
            <a:ext cx="2527300" cy="211740"/>
          </a:xfrm>
          <a:prstGeom prst="rect">
            <a:avLst/>
          </a:prstGeom>
          <a:noFill/>
        </p:spPr>
        <p:txBody>
          <a:bodyPr wrap="square" lIns="0" rIns="0" tIns="0" bIns="0" anchor="ctr">
            <a:spAutoFit/>
          </a:bodyPr>
          <a:lstStyle/>
          <a:p>
            <a:pPr algn="l">
              <a:lnSpc>
                <a:spcPct val="118000"/>
              </a:lnSpc>
            </a:pPr>
            <a:r>
              <a:rPr sz="800" b="1" i="0">
                <a:solidFill>
                  <a:srgbClr val="A93B2B"/>
                </a:solidFill>
                <a:latin typeface="Calibri"/>
              </a:rPr>
              <a:t>unmet</a:t>
            </a:r>
            <a:r>
              <a:rPr sz="800" b="0" i="0">
                <a:solidFill>
                  <a:srgbClr val="5A6B84"/>
                </a:solidFill>
                <a:latin typeface="Calibri"/>
              </a:rPr>
              <a:t> — documentation-only enforcement</a:t>
            </a:r>
          </a:p>
        </p:txBody>
      </p:sp>
      <p:sp>
        <p:nvSpPr>
          <p:cNvPr id="28" name="Rectangle 27"/>
          <p:cNvSpPr/>
          <p:nvPr/>
        </p:nvSpPr>
        <p:spPr>
          <a:xfrm>
            <a:off x="635000" y="3144996"/>
            <a:ext cx="10909300" cy="376840"/>
          </a:xfrm>
          <a:prstGeom prst="rect">
            <a:avLst/>
          </a:prstGeom>
          <a:solidFill>
            <a:srgbClr val="F5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35000" y="3514217"/>
            <a:ext cx="10909300" cy="7620"/>
          </a:xfrm>
          <a:prstGeom prst="rect">
            <a:avLst/>
          </a:prstGeom>
          <a:solidFill>
            <a:srgbClr val="D5E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6600" y="3227546"/>
            <a:ext cx="355600" cy="211740"/>
          </a:xfrm>
          <a:prstGeom prst="rect">
            <a:avLst/>
          </a:prstGeom>
          <a:noFill/>
        </p:spPr>
        <p:txBody>
          <a:bodyPr wrap="square" lIns="0" rIns="0" tIns="0" bIns="0" anchor="ctr">
            <a:spAutoFit/>
          </a:bodyPr>
          <a:lstStyle/>
          <a:p>
            <a:pPr algn="l">
              <a:lnSpc>
                <a:spcPct val="118000"/>
              </a:lnSpc>
            </a:pPr>
            <a:r>
              <a:rPr sz="800" b="0" i="0">
                <a:solidFill>
                  <a:srgbClr val="24354F"/>
                </a:solidFill>
                <a:latin typeface="Calibri"/>
              </a:rPr>
              <a:t>C4</a:t>
            </a:r>
          </a:p>
        </p:txBody>
      </p:sp>
      <p:sp>
        <p:nvSpPr>
          <p:cNvPr id="31" name="TextBox 30"/>
          <p:cNvSpPr txBox="1"/>
          <p:nvPr/>
        </p:nvSpPr>
        <p:spPr>
          <a:xfrm>
            <a:off x="1295400" y="3227546"/>
            <a:ext cx="3606800" cy="211740"/>
          </a:xfrm>
          <a:prstGeom prst="rect">
            <a:avLst/>
          </a:prstGeom>
          <a:noFill/>
        </p:spPr>
        <p:txBody>
          <a:bodyPr wrap="square" lIns="0" rIns="0" tIns="0" bIns="0" anchor="ctr">
            <a:spAutoFit/>
          </a:bodyPr>
          <a:lstStyle/>
          <a:p>
            <a:pPr algn="l">
              <a:lnSpc>
                <a:spcPct val="118000"/>
              </a:lnSpc>
            </a:pPr>
            <a:r>
              <a:rPr sz="800" b="0" i="0">
                <a:solidFill>
                  <a:srgbClr val="24354F"/>
                </a:solidFill>
                <a:latin typeface="Calibri"/>
              </a:rPr>
              <a:t>An enforced gate can precede a human decision without being routed around</a:t>
            </a:r>
          </a:p>
        </p:txBody>
      </p:sp>
      <p:sp>
        <p:nvSpPr>
          <p:cNvPr id="32" name="TextBox 31"/>
          <p:cNvSpPr txBox="1"/>
          <p:nvPr/>
        </p:nvSpPr>
        <p:spPr>
          <a:xfrm>
            <a:off x="5105400" y="3227546"/>
            <a:ext cx="3606800" cy="211740"/>
          </a:xfrm>
          <a:prstGeom prst="rect">
            <a:avLst/>
          </a:prstGeom>
          <a:noFill/>
        </p:spPr>
        <p:txBody>
          <a:bodyPr wrap="square" lIns="0" rIns="0" tIns="0" bIns="0" anchor="ctr">
            <a:spAutoFit/>
          </a:bodyPr>
          <a:lstStyle/>
          <a:p>
            <a:pPr algn="l">
              <a:lnSpc>
                <a:spcPct val="118000"/>
              </a:lnSpc>
            </a:pPr>
            <a:r>
              <a:rPr sz="800" b="0" i="0">
                <a:solidFill>
                  <a:srgbClr val="24354F"/>
                </a:solidFill>
                <a:latin typeface="Calibri"/>
              </a:rPr>
              <a:t>the advancement gate inside the refinement state machine</a:t>
            </a:r>
          </a:p>
        </p:txBody>
      </p:sp>
      <p:sp>
        <p:nvSpPr>
          <p:cNvPr id="33" name="TextBox 32"/>
          <p:cNvSpPr txBox="1"/>
          <p:nvPr/>
        </p:nvSpPr>
        <p:spPr>
          <a:xfrm>
            <a:off x="8915400" y="3227546"/>
            <a:ext cx="2527300" cy="211740"/>
          </a:xfrm>
          <a:prstGeom prst="rect">
            <a:avLst/>
          </a:prstGeom>
          <a:noFill/>
        </p:spPr>
        <p:txBody>
          <a:bodyPr wrap="square" lIns="0" rIns="0" tIns="0" bIns="0" anchor="ctr">
            <a:spAutoFit/>
          </a:bodyPr>
          <a:lstStyle/>
          <a:p>
            <a:pPr algn="l">
              <a:lnSpc>
                <a:spcPct val="118000"/>
              </a:lnSpc>
            </a:pPr>
            <a:r>
              <a:rPr sz="800" b="1" i="0">
                <a:solidFill>
                  <a:srgbClr val="B5821F"/>
                </a:solidFill>
                <a:latin typeface="Calibri"/>
              </a:rPr>
              <a:t>argued</a:t>
            </a:r>
            <a:r>
              <a:rPr sz="800" b="0" i="0">
                <a:solidFill>
                  <a:srgbClr val="5A6B84"/>
                </a:solidFill>
                <a:latin typeface="Calibri"/>
              </a:rPr>
              <a:t> — scoped to that machine</a:t>
            </a:r>
          </a:p>
        </p:txBody>
      </p:sp>
      <p:sp>
        <p:nvSpPr>
          <p:cNvPr id="34" name="Rectangle 33"/>
          <p:cNvSpPr/>
          <p:nvPr/>
        </p:nvSpPr>
        <p:spPr>
          <a:xfrm>
            <a:off x="635000" y="3891057"/>
            <a:ext cx="10909300" cy="7620"/>
          </a:xfrm>
          <a:prstGeom prst="rect">
            <a:avLst/>
          </a:prstGeom>
          <a:solidFill>
            <a:srgbClr val="D5E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36600" y="3604387"/>
            <a:ext cx="355600" cy="211740"/>
          </a:xfrm>
          <a:prstGeom prst="rect">
            <a:avLst/>
          </a:prstGeom>
          <a:noFill/>
        </p:spPr>
        <p:txBody>
          <a:bodyPr wrap="square" lIns="0" rIns="0" tIns="0" bIns="0" anchor="ctr">
            <a:spAutoFit/>
          </a:bodyPr>
          <a:lstStyle/>
          <a:p>
            <a:pPr algn="l">
              <a:lnSpc>
                <a:spcPct val="118000"/>
              </a:lnSpc>
            </a:pPr>
            <a:r>
              <a:rPr sz="800" b="0" i="0">
                <a:solidFill>
                  <a:srgbClr val="24354F"/>
                </a:solidFill>
                <a:latin typeface="Calibri"/>
              </a:rPr>
              <a:t>C5</a:t>
            </a:r>
          </a:p>
        </p:txBody>
      </p:sp>
      <p:sp>
        <p:nvSpPr>
          <p:cNvPr id="36" name="TextBox 35"/>
          <p:cNvSpPr txBox="1"/>
          <p:nvPr/>
        </p:nvSpPr>
        <p:spPr>
          <a:xfrm>
            <a:off x="1295400" y="3604387"/>
            <a:ext cx="3606800" cy="211740"/>
          </a:xfrm>
          <a:prstGeom prst="rect">
            <a:avLst/>
          </a:prstGeom>
          <a:noFill/>
        </p:spPr>
        <p:txBody>
          <a:bodyPr wrap="square" lIns="0" rIns="0" tIns="0" bIns="0" anchor="ctr">
            <a:spAutoFit/>
          </a:bodyPr>
          <a:lstStyle/>
          <a:p>
            <a:pPr algn="l">
              <a:lnSpc>
                <a:spcPct val="118000"/>
              </a:lnSpc>
            </a:pPr>
            <a:r>
              <a:rPr sz="800" b="0" i="0">
                <a:solidFill>
                  <a:srgbClr val="24354F"/>
                </a:solidFill>
                <a:latin typeface="Calibri"/>
              </a:rPr>
              <a:t>A release is reconstructable from records months later</a:t>
            </a:r>
          </a:p>
        </p:txBody>
      </p:sp>
      <p:sp>
        <p:nvSpPr>
          <p:cNvPr id="37" name="TextBox 36"/>
          <p:cNvSpPr txBox="1"/>
          <p:nvPr/>
        </p:nvSpPr>
        <p:spPr>
          <a:xfrm>
            <a:off x="5105400" y="3604387"/>
            <a:ext cx="3606800" cy="211740"/>
          </a:xfrm>
          <a:prstGeom prst="rect">
            <a:avLst/>
          </a:prstGeom>
          <a:noFill/>
        </p:spPr>
        <p:txBody>
          <a:bodyPr wrap="square" lIns="0" rIns="0" tIns="0" bIns="0" anchor="ctr">
            <a:spAutoFit/>
          </a:bodyPr>
          <a:lstStyle/>
          <a:p>
            <a:pPr algn="l">
              <a:lnSpc>
                <a:spcPct val="118000"/>
              </a:lnSpc>
            </a:pPr>
            <a:r>
              <a:rPr sz="800" b="0" i="0">
                <a:solidFill>
                  <a:srgbClr val="24354F"/>
                </a:solidFill>
                <a:latin typeface="Calibri"/>
              </a:rPr>
              <a:t>durable residue at each chain term; provenance anchor at release</a:t>
            </a:r>
          </a:p>
        </p:txBody>
      </p:sp>
      <p:sp>
        <p:nvSpPr>
          <p:cNvPr id="38" name="TextBox 37"/>
          <p:cNvSpPr txBox="1"/>
          <p:nvPr/>
        </p:nvSpPr>
        <p:spPr>
          <a:xfrm>
            <a:off x="8915400" y="3604387"/>
            <a:ext cx="2527300" cy="211740"/>
          </a:xfrm>
          <a:prstGeom prst="rect">
            <a:avLst/>
          </a:prstGeom>
          <a:noFill/>
        </p:spPr>
        <p:txBody>
          <a:bodyPr wrap="square" lIns="0" rIns="0" tIns="0" bIns="0" anchor="ctr">
            <a:spAutoFit/>
          </a:bodyPr>
          <a:lstStyle/>
          <a:p>
            <a:pPr algn="l">
              <a:lnSpc>
                <a:spcPct val="118000"/>
              </a:lnSpc>
            </a:pPr>
            <a:r>
              <a:rPr sz="800" b="1" i="0">
                <a:solidFill>
                  <a:srgbClr val="B5821F"/>
                </a:solidFill>
                <a:latin typeface="Calibri"/>
              </a:rPr>
              <a:t>argued</a:t>
            </a:r>
            <a:r>
              <a:rPr sz="800" b="0" i="0">
                <a:solidFill>
                  <a:srgbClr val="5A6B84"/>
                </a:solidFill>
                <a:latin typeface="Calibri"/>
              </a:rPr>
              <a:t> — no user study</a:t>
            </a:r>
          </a:p>
        </p:txBody>
      </p:sp>
      <p:sp>
        <p:nvSpPr>
          <p:cNvPr id="39" name="Rectangle 38"/>
          <p:cNvSpPr/>
          <p:nvPr/>
        </p:nvSpPr>
        <p:spPr>
          <a:xfrm>
            <a:off x="635000" y="3898677"/>
            <a:ext cx="10909300" cy="376840"/>
          </a:xfrm>
          <a:prstGeom prst="rect">
            <a:avLst/>
          </a:prstGeom>
          <a:solidFill>
            <a:srgbClr val="F5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35000" y="4267898"/>
            <a:ext cx="10909300" cy="7620"/>
          </a:xfrm>
          <a:prstGeom prst="rect">
            <a:avLst/>
          </a:prstGeom>
          <a:solidFill>
            <a:srgbClr val="D5E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36600" y="3981227"/>
            <a:ext cx="355600" cy="211740"/>
          </a:xfrm>
          <a:prstGeom prst="rect">
            <a:avLst/>
          </a:prstGeom>
          <a:noFill/>
        </p:spPr>
        <p:txBody>
          <a:bodyPr wrap="square" lIns="0" rIns="0" tIns="0" bIns="0" anchor="ctr">
            <a:spAutoFit/>
          </a:bodyPr>
          <a:lstStyle/>
          <a:p>
            <a:pPr algn="l">
              <a:lnSpc>
                <a:spcPct val="118000"/>
              </a:lnSpc>
            </a:pPr>
            <a:r>
              <a:rPr sz="800" b="0" i="0">
                <a:solidFill>
                  <a:srgbClr val="24354F"/>
                </a:solidFill>
                <a:latin typeface="Calibri"/>
              </a:rPr>
              <a:t>C6</a:t>
            </a:r>
          </a:p>
        </p:txBody>
      </p:sp>
      <p:sp>
        <p:nvSpPr>
          <p:cNvPr id="42" name="TextBox 41"/>
          <p:cNvSpPr txBox="1"/>
          <p:nvPr/>
        </p:nvSpPr>
        <p:spPr>
          <a:xfrm>
            <a:off x="1295400" y="3981227"/>
            <a:ext cx="3606800" cy="211740"/>
          </a:xfrm>
          <a:prstGeom prst="rect">
            <a:avLst/>
          </a:prstGeom>
          <a:noFill/>
        </p:spPr>
        <p:txBody>
          <a:bodyPr wrap="square" lIns="0" rIns="0" tIns="0" bIns="0" anchor="ctr">
            <a:spAutoFit/>
          </a:bodyPr>
          <a:lstStyle/>
          <a:p>
            <a:pPr algn="l">
              <a:lnSpc>
                <a:spcPct val="118000"/>
              </a:lnSpc>
            </a:pPr>
            <a:r>
              <a:rPr sz="800" b="0" i="0">
                <a:solidFill>
                  <a:srgbClr val="24354F"/>
                </a:solidFill>
                <a:latin typeface="Calibri"/>
              </a:rPr>
              <a:t>Prompt-alias release is crash-observable</a:t>
            </a:r>
          </a:p>
        </p:txBody>
      </p:sp>
      <p:sp>
        <p:nvSpPr>
          <p:cNvPr id="43" name="TextBox 42"/>
          <p:cNvSpPr txBox="1"/>
          <p:nvPr/>
        </p:nvSpPr>
        <p:spPr>
          <a:xfrm>
            <a:off x="5105400" y="3981227"/>
            <a:ext cx="3606800" cy="211740"/>
          </a:xfrm>
          <a:prstGeom prst="rect">
            <a:avLst/>
          </a:prstGeom>
          <a:noFill/>
        </p:spPr>
        <p:txBody>
          <a:bodyPr wrap="square" lIns="0" rIns="0" tIns="0" bIns="0" anchor="ctr">
            <a:spAutoFit/>
          </a:bodyPr>
          <a:lstStyle/>
          <a:p>
            <a:pPr algn="l">
              <a:lnSpc>
                <a:spcPct val="118000"/>
              </a:lnSpc>
            </a:pPr>
            <a:r>
              <a:rPr sz="800" b="0" i="0">
                <a:solidFill>
                  <a:srgbClr val="24354F"/>
                </a:solidFill>
                <a:latin typeface="Calibri"/>
              </a:rPr>
              <a:t>durable intent, idempotent provider operation, reconciliation state</a:t>
            </a:r>
          </a:p>
        </p:txBody>
      </p:sp>
      <p:sp>
        <p:nvSpPr>
          <p:cNvPr id="44" name="TextBox 43"/>
          <p:cNvSpPr txBox="1"/>
          <p:nvPr/>
        </p:nvSpPr>
        <p:spPr>
          <a:xfrm>
            <a:off x="8915400" y="3981227"/>
            <a:ext cx="2527300" cy="211740"/>
          </a:xfrm>
          <a:prstGeom prst="rect">
            <a:avLst/>
          </a:prstGeom>
          <a:noFill/>
        </p:spPr>
        <p:txBody>
          <a:bodyPr wrap="square" lIns="0" rIns="0" tIns="0" bIns="0" anchor="ctr">
            <a:spAutoFit/>
          </a:bodyPr>
          <a:lstStyle/>
          <a:p>
            <a:pPr algn="l">
              <a:lnSpc>
                <a:spcPct val="118000"/>
              </a:lnSpc>
            </a:pPr>
            <a:r>
              <a:rPr sz="800" b="1" i="0">
                <a:solidFill>
                  <a:srgbClr val="1F8A99"/>
                </a:solidFill>
                <a:latin typeface="Calibri"/>
              </a:rPr>
              <a:t>established</a:t>
            </a:r>
            <a:r>
              <a:rPr sz="800" b="0" i="0">
                <a:solidFill>
                  <a:srgbClr val="5A6B84"/>
                </a:solidFill>
                <a:latin typeface="Calibri"/>
              </a:rPr>
              <a:t> — path- and family-scoped</a:t>
            </a:r>
          </a:p>
        </p:txBody>
      </p:sp>
      <p:sp>
        <p:nvSpPr>
          <p:cNvPr id="45" name="Rectangle 44"/>
          <p:cNvSpPr/>
          <p:nvPr/>
        </p:nvSpPr>
        <p:spPr>
          <a:xfrm>
            <a:off x="635000" y="4644739"/>
            <a:ext cx="10909300" cy="7620"/>
          </a:xfrm>
          <a:prstGeom prst="rect">
            <a:avLst/>
          </a:prstGeom>
          <a:solidFill>
            <a:srgbClr val="D5E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36600" y="4358068"/>
            <a:ext cx="355600" cy="211740"/>
          </a:xfrm>
          <a:prstGeom prst="rect">
            <a:avLst/>
          </a:prstGeom>
          <a:noFill/>
        </p:spPr>
        <p:txBody>
          <a:bodyPr wrap="square" lIns="0" rIns="0" tIns="0" bIns="0" anchor="ctr">
            <a:spAutoFit/>
          </a:bodyPr>
          <a:lstStyle/>
          <a:p>
            <a:pPr algn="l">
              <a:lnSpc>
                <a:spcPct val="118000"/>
              </a:lnSpc>
            </a:pPr>
            <a:r>
              <a:rPr sz="800" b="0" i="0">
                <a:solidFill>
                  <a:srgbClr val="24354F"/>
                </a:solidFill>
                <a:latin typeface="Calibri"/>
              </a:rPr>
              <a:t>C7</a:t>
            </a:r>
          </a:p>
        </p:txBody>
      </p:sp>
      <p:sp>
        <p:nvSpPr>
          <p:cNvPr id="47" name="TextBox 46"/>
          <p:cNvSpPr txBox="1"/>
          <p:nvPr/>
        </p:nvSpPr>
        <p:spPr>
          <a:xfrm>
            <a:off x="1295400" y="4358068"/>
            <a:ext cx="3606800" cy="211740"/>
          </a:xfrm>
          <a:prstGeom prst="rect">
            <a:avLst/>
          </a:prstGeom>
          <a:noFill/>
        </p:spPr>
        <p:txBody>
          <a:bodyPr wrap="square" lIns="0" rIns="0" tIns="0" bIns="0" anchor="ctr">
            <a:spAutoFit/>
          </a:bodyPr>
          <a:lstStyle/>
          <a:p>
            <a:pPr algn="l">
              <a:lnSpc>
                <a:spcPct val="118000"/>
              </a:lnSpc>
            </a:pPr>
            <a:r>
              <a:rPr sz="800" b="0" i="0">
                <a:solidFill>
                  <a:srgbClr val="24354F"/>
                </a:solidFill>
                <a:latin typeface="Calibri"/>
              </a:rPr>
              <a:t>Control-plane indirection is cheap on the serving path</a:t>
            </a:r>
          </a:p>
        </p:txBody>
      </p:sp>
      <p:sp>
        <p:nvSpPr>
          <p:cNvPr id="48" name="TextBox 47"/>
          <p:cNvSpPr txBox="1"/>
          <p:nvPr/>
        </p:nvSpPr>
        <p:spPr>
          <a:xfrm>
            <a:off x="5105400" y="4358068"/>
            <a:ext cx="3606800" cy="211740"/>
          </a:xfrm>
          <a:prstGeom prst="rect">
            <a:avLst/>
          </a:prstGeom>
          <a:noFill/>
        </p:spPr>
        <p:txBody>
          <a:bodyPr wrap="square" lIns="0" rIns="0" tIns="0" bIns="0" anchor="ctr">
            <a:spAutoFit/>
          </a:bodyPr>
          <a:lstStyle/>
          <a:p>
            <a:pPr algn="l">
              <a:lnSpc>
                <a:spcPct val="118000"/>
              </a:lnSpc>
            </a:pPr>
            <a:r>
              <a:rPr sz="800" b="0" i="0">
                <a:solidFill>
                  <a:srgbClr val="24354F"/>
                </a:solidFill>
                <a:latin typeface="Calibri"/>
              </a:rPr>
              <a:t>E1 in Appendix C specifies the measurement</a:t>
            </a:r>
          </a:p>
        </p:txBody>
      </p:sp>
      <p:sp>
        <p:nvSpPr>
          <p:cNvPr id="49" name="TextBox 48"/>
          <p:cNvSpPr txBox="1"/>
          <p:nvPr/>
        </p:nvSpPr>
        <p:spPr>
          <a:xfrm>
            <a:off x="8915400" y="4358068"/>
            <a:ext cx="2527300" cy="211740"/>
          </a:xfrm>
          <a:prstGeom prst="rect">
            <a:avLst/>
          </a:prstGeom>
          <a:noFill/>
        </p:spPr>
        <p:txBody>
          <a:bodyPr wrap="square" lIns="0" rIns="0" tIns="0" bIns="0" anchor="ctr">
            <a:spAutoFit/>
          </a:bodyPr>
          <a:lstStyle/>
          <a:p>
            <a:pPr algn="l">
              <a:lnSpc>
                <a:spcPct val="118000"/>
              </a:lnSpc>
            </a:pPr>
            <a:r>
              <a:rPr sz="800" b="1" i="0">
                <a:solidFill>
                  <a:srgbClr val="A93B2B"/>
                </a:solidFill>
                <a:latin typeface="Calibri"/>
              </a:rPr>
              <a:t>unmet</a:t>
            </a:r>
            <a:r>
              <a:rPr sz="800" b="0" i="0">
                <a:solidFill>
                  <a:srgbClr val="5A6B84"/>
                </a:solidFill>
                <a:latin typeface="Calibri"/>
              </a:rPr>
              <a:t> — not yet run</a:t>
            </a:r>
          </a:p>
        </p:txBody>
      </p:sp>
      <p:sp>
        <p:nvSpPr>
          <p:cNvPr id="50" name="Rectangle 49"/>
          <p:cNvSpPr/>
          <p:nvPr/>
        </p:nvSpPr>
        <p:spPr>
          <a:xfrm>
            <a:off x="635000" y="4652359"/>
            <a:ext cx="10909300" cy="376840"/>
          </a:xfrm>
          <a:prstGeom prst="rect">
            <a:avLst/>
          </a:prstGeom>
          <a:solidFill>
            <a:srgbClr val="F5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35000" y="5021580"/>
            <a:ext cx="10909300" cy="7620"/>
          </a:xfrm>
          <a:prstGeom prst="rect">
            <a:avLst/>
          </a:prstGeom>
          <a:solidFill>
            <a:srgbClr val="D5E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36600" y="4734909"/>
            <a:ext cx="355600" cy="211740"/>
          </a:xfrm>
          <a:prstGeom prst="rect">
            <a:avLst/>
          </a:prstGeom>
          <a:noFill/>
        </p:spPr>
        <p:txBody>
          <a:bodyPr wrap="square" lIns="0" rIns="0" tIns="0" bIns="0" anchor="ctr">
            <a:spAutoFit/>
          </a:bodyPr>
          <a:lstStyle/>
          <a:p>
            <a:pPr algn="l">
              <a:lnSpc>
                <a:spcPct val="118000"/>
              </a:lnSpc>
            </a:pPr>
            <a:r>
              <a:rPr sz="800" b="0" i="0">
                <a:solidFill>
                  <a:srgbClr val="24354F"/>
                </a:solidFill>
                <a:latin typeface="Calibri"/>
              </a:rPr>
              <a:t>C8</a:t>
            </a:r>
          </a:p>
        </p:txBody>
      </p:sp>
      <p:sp>
        <p:nvSpPr>
          <p:cNvPr id="53" name="TextBox 52"/>
          <p:cNvSpPr txBox="1"/>
          <p:nvPr/>
        </p:nvSpPr>
        <p:spPr>
          <a:xfrm>
            <a:off x="1295400" y="4734909"/>
            <a:ext cx="3606800" cy="211740"/>
          </a:xfrm>
          <a:prstGeom prst="rect">
            <a:avLst/>
          </a:prstGeom>
          <a:noFill/>
        </p:spPr>
        <p:txBody>
          <a:bodyPr wrap="square" lIns="0" rIns="0" tIns="0" bIns="0" anchor="ctr">
            <a:spAutoFit/>
          </a:bodyPr>
          <a:lstStyle/>
          <a:p>
            <a:pPr algn="l">
              <a:lnSpc>
                <a:spcPct val="118000"/>
              </a:lnSpc>
            </a:pPr>
            <a:r>
              <a:rPr sz="800" b="0" i="0">
                <a:solidFill>
                  <a:srgbClr val="24354F"/>
                </a:solidFill>
                <a:latin typeface="Calibri"/>
              </a:rPr>
              <a:t>Governed releases are more reviewable in practice</a:t>
            </a:r>
          </a:p>
        </p:txBody>
      </p:sp>
      <p:sp>
        <p:nvSpPr>
          <p:cNvPr id="54" name="TextBox 53"/>
          <p:cNvSpPr txBox="1"/>
          <p:nvPr/>
        </p:nvSpPr>
        <p:spPr>
          <a:xfrm>
            <a:off x="5105400" y="4734909"/>
            <a:ext cx="3606800" cy="211740"/>
          </a:xfrm>
          <a:prstGeom prst="rect">
            <a:avLst/>
          </a:prstGeom>
          <a:noFill/>
        </p:spPr>
        <p:txBody>
          <a:bodyPr wrap="square" lIns="0" rIns="0" tIns="0" bIns="0" anchor="ctr">
            <a:spAutoFit/>
          </a:bodyPr>
          <a:lstStyle/>
          <a:p>
            <a:pPr algn="l">
              <a:lnSpc>
                <a:spcPct val="118000"/>
              </a:lnSpc>
            </a:pPr>
            <a:r>
              <a:rPr sz="800" b="0" i="0">
                <a:solidFill>
                  <a:srgbClr val="24354F"/>
                </a:solidFill>
                <a:latin typeface="Calibri"/>
              </a:rPr>
              <a:t>E5 would require a human study</a:t>
            </a:r>
          </a:p>
        </p:txBody>
      </p:sp>
      <p:sp>
        <p:nvSpPr>
          <p:cNvPr id="55" name="TextBox 54"/>
          <p:cNvSpPr txBox="1"/>
          <p:nvPr/>
        </p:nvSpPr>
        <p:spPr>
          <a:xfrm>
            <a:off x="8915400" y="4734909"/>
            <a:ext cx="2527300" cy="211740"/>
          </a:xfrm>
          <a:prstGeom prst="rect">
            <a:avLst/>
          </a:prstGeom>
          <a:noFill/>
        </p:spPr>
        <p:txBody>
          <a:bodyPr wrap="square" lIns="0" rIns="0" tIns="0" bIns="0" anchor="ctr">
            <a:spAutoFit/>
          </a:bodyPr>
          <a:lstStyle/>
          <a:p>
            <a:pPr algn="l">
              <a:lnSpc>
                <a:spcPct val="118000"/>
              </a:lnSpc>
            </a:pPr>
            <a:r>
              <a:rPr sz="800" b="1" i="0">
                <a:solidFill>
                  <a:srgbClr val="A93B2B"/>
                </a:solidFill>
                <a:latin typeface="Calibri"/>
              </a:rPr>
              <a:t>unmet</a:t>
            </a:r>
            <a:r>
              <a:rPr sz="800" b="0" i="0">
                <a:solidFill>
                  <a:srgbClr val="5A6B84"/>
                </a:solidFill>
                <a:latin typeface="Calibri"/>
              </a:rPr>
              <a:t> — not yet run</a:t>
            </a:r>
          </a:p>
        </p:txBody>
      </p:sp>
      <p:sp>
        <p:nvSpPr>
          <p:cNvPr id="56" name="Rounded Rectangle 55"/>
          <p:cNvSpPr/>
          <p:nvPr/>
        </p:nvSpPr>
        <p:spPr>
          <a:xfrm>
            <a:off x="635000" y="5207000"/>
            <a:ext cx="10909300" cy="909319"/>
          </a:xfrm>
          <a:prstGeom prst="roundRect">
            <a:avLst>
              <a:gd name="adj" fmla="val 12569"/>
            </a:avLst>
          </a:prstGeom>
          <a:solidFill>
            <a:srgbClr val="EAF1F7"/>
          </a:solidFill>
          <a:ln w="9525">
            <a:solidFill>
              <a:srgbClr val="D5E0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889000" y="5346700"/>
            <a:ext cx="10401300" cy="177800"/>
          </a:xfrm>
          <a:prstGeom prst="rect">
            <a:avLst/>
          </a:prstGeom>
          <a:noFill/>
        </p:spPr>
        <p:txBody>
          <a:bodyPr wrap="square" lIns="0" rIns="0" tIns="0" bIns="0" anchor="t">
            <a:spAutoFit/>
          </a:bodyPr>
          <a:lstStyle/>
          <a:p>
            <a:pPr algn="l">
              <a:lnSpc>
                <a:spcPct val="122000"/>
              </a:lnSpc>
            </a:pPr>
            <a:r>
              <a:rPr sz="950" b="1" i="0">
                <a:solidFill>
                  <a:srgbClr val="0E1E3A"/>
                </a:solidFill>
                <a:latin typeface="Calibri"/>
              </a:rPr>
              <a:t>Why the register is on a slide at all</a:t>
            </a:r>
          </a:p>
        </p:txBody>
      </p:sp>
      <p:sp>
        <p:nvSpPr>
          <p:cNvPr id="58" name="TextBox 57"/>
          <p:cNvSpPr txBox="1"/>
          <p:nvPr/>
        </p:nvSpPr>
        <p:spPr>
          <a:xfrm>
            <a:off x="889000" y="5575300"/>
            <a:ext cx="10401300" cy="325120"/>
          </a:xfrm>
          <a:prstGeom prst="rect">
            <a:avLst/>
          </a:prstGeom>
          <a:noFill/>
        </p:spPr>
        <p:txBody>
          <a:bodyPr wrap="square" lIns="0" rIns="0" tIns="0" bIns="0" anchor="t">
            <a:spAutoFit/>
          </a:bodyPr>
          <a:lstStyle/>
          <a:p>
            <a:pPr algn="l">
              <a:lnSpc>
                <a:spcPct val="128000"/>
              </a:lnSpc>
            </a:pPr>
            <a:r>
              <a:rPr sz="1000" b="0" i="0">
                <a:solidFill>
                  <a:srgbClr val="24354F"/>
                </a:solidFill>
                <a:latin typeface="Calibri"/>
              </a:rPr>
              <a:t>Three of these rows are arguments rather than results and two are explicitly unmet. Stating that in one place is what stops a talk from drifting away from the manuscript it is about.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35000" y="6337300"/>
            <a:ext cx="6096000" cy="254000"/>
          </a:xfrm>
          <a:prstGeom prst="rect">
            <a:avLst/>
          </a:prstGeom>
          <a:noFill/>
        </p:spPr>
        <p:txBody>
          <a:bodyPr wrap="square" lIns="0" rIns="0" tIns="0" bIns="0" anchor="t">
            <a:spAutoFit/>
          </a:bodyPr>
          <a:lstStyle/>
          <a:p>
            <a:pPr algn="l">
              <a:lnSpc>
                <a:spcPct val="122000"/>
              </a:lnSpc>
            </a:pPr>
            <a:r>
              <a:rPr sz="900" b="0" i="0">
                <a:solidFill>
                  <a:srgbClr val="A3B2C4"/>
                </a:solidFill>
                <a:latin typeface="Calibri"/>
              </a:rPr>
              <a:t>CALIBER  ·  A Layered Control Plane for Governed Releases of AI-Agent Resources</a:t>
            </a:r>
          </a:p>
        </p:txBody>
      </p:sp>
      <p:sp>
        <p:nvSpPr>
          <p:cNvPr id="3" name="TextBox 2"/>
          <p:cNvSpPr txBox="1"/>
          <p:nvPr/>
        </p:nvSpPr>
        <p:spPr>
          <a:xfrm>
            <a:off x="10629900" y="6337300"/>
            <a:ext cx="914400" cy="254000"/>
          </a:xfrm>
          <a:prstGeom prst="rect">
            <a:avLst/>
          </a:prstGeom>
          <a:noFill/>
        </p:spPr>
        <p:txBody>
          <a:bodyPr wrap="square" lIns="0" rIns="0" tIns="0" bIns="0" anchor="t">
            <a:spAutoFit/>
          </a:bodyPr>
          <a:lstStyle/>
          <a:p>
            <a:pPr algn="r">
              <a:lnSpc>
                <a:spcPct val="122000"/>
              </a:lnSpc>
            </a:pPr>
            <a:r>
              <a:rPr sz="900" b="0" i="0">
                <a:solidFill>
                  <a:srgbClr val="A3B2C4"/>
                </a:solidFill>
                <a:latin typeface="Calibri"/>
              </a:rPr>
              <a:t>24</a:t>
            </a:r>
          </a:p>
        </p:txBody>
      </p:sp>
      <p:sp>
        <p:nvSpPr>
          <p:cNvPr id="4" name="TextBox 3"/>
          <p:cNvSpPr txBox="1"/>
          <p:nvPr/>
        </p:nvSpPr>
        <p:spPr>
          <a:xfrm>
            <a:off x="635000" y="381000"/>
            <a:ext cx="10909300" cy="228600"/>
          </a:xfrm>
          <a:prstGeom prst="rect">
            <a:avLst/>
          </a:prstGeom>
          <a:noFill/>
        </p:spPr>
        <p:txBody>
          <a:bodyPr wrap="square" lIns="0" rIns="0" tIns="0" bIns="0" anchor="t">
            <a:spAutoFit/>
          </a:bodyPr>
          <a:lstStyle/>
          <a:p>
            <a:pPr algn="l">
              <a:lnSpc>
                <a:spcPct val="122000"/>
              </a:lnSpc>
            </a:pPr>
            <a:r>
              <a:rPr sz="1050" b="1" i="0">
                <a:solidFill>
                  <a:srgbClr val="1F8A99"/>
                </a:solidFill>
                <a:latin typeface="Calibri"/>
              </a:rPr>
              <a:t>Future work  ·  §13</a:t>
            </a:r>
          </a:p>
        </p:txBody>
      </p:sp>
      <p:sp>
        <p:nvSpPr>
          <p:cNvPr id="5" name="TextBox 4"/>
          <p:cNvSpPr txBox="1"/>
          <p:nvPr/>
        </p:nvSpPr>
        <p:spPr>
          <a:xfrm>
            <a:off x="635000" y="647700"/>
            <a:ext cx="10909300" cy="495300"/>
          </a:xfrm>
          <a:prstGeom prst="rect">
            <a:avLst/>
          </a:prstGeom>
          <a:noFill/>
        </p:spPr>
        <p:txBody>
          <a:bodyPr wrap="square" lIns="0" rIns="0" tIns="0" bIns="0" anchor="t">
            <a:spAutoFit/>
          </a:bodyPr>
          <a:lstStyle/>
          <a:p>
            <a:pPr algn="l">
              <a:lnSpc>
                <a:spcPct val="108000"/>
              </a:lnSpc>
            </a:pPr>
            <a:r>
              <a:rPr sz="2600" b="1" i="0">
                <a:solidFill>
                  <a:srgbClr val="0E1E3A"/>
                </a:solidFill>
                <a:latin typeface="Calibri"/>
              </a:rPr>
              <a:t>What would change the standing of these claims</a:t>
            </a:r>
          </a:p>
        </p:txBody>
      </p:sp>
      <p:sp>
        <p:nvSpPr>
          <p:cNvPr id="6" name="TextBox 5"/>
          <p:cNvSpPr txBox="1"/>
          <p:nvPr/>
        </p:nvSpPr>
        <p:spPr>
          <a:xfrm>
            <a:off x="635000" y="1168400"/>
            <a:ext cx="10909300" cy="431800"/>
          </a:xfrm>
          <a:prstGeom prst="rect">
            <a:avLst/>
          </a:prstGeom>
          <a:noFill/>
        </p:spPr>
        <p:txBody>
          <a:bodyPr wrap="square" lIns="0" rIns="0" tIns="0" bIns="0" anchor="t">
            <a:spAutoFit/>
          </a:bodyPr>
          <a:lstStyle/>
          <a:p>
            <a:pPr algn="l">
              <a:lnSpc>
                <a:spcPct val="130000"/>
              </a:lnSpc>
            </a:pPr>
            <a:r>
              <a:rPr sz="1250" b="0" i="0">
                <a:solidFill>
                  <a:srgbClr val="24354F"/>
                </a:solidFill>
                <a:latin typeface="Calibri"/>
              </a:rPr>
              <a:t>Ordered by how much each one would move the register, not by how much work it is.</a:t>
            </a:r>
          </a:p>
        </p:txBody>
      </p:sp>
      <p:sp>
        <p:nvSpPr>
          <p:cNvPr id="7" name="Rounded Rectangle 6"/>
          <p:cNvSpPr/>
          <p:nvPr/>
        </p:nvSpPr>
        <p:spPr>
          <a:xfrm>
            <a:off x="635000" y="1701800"/>
            <a:ext cx="2603500" cy="2481580"/>
          </a:xfrm>
          <a:prstGeom prst="roundRect">
            <a:avLst>
              <a:gd name="adj" fmla="val 4605"/>
            </a:avLst>
          </a:prstGeom>
          <a:solidFill>
            <a:srgbClr val="E8F4F5"/>
          </a:solidFill>
          <a:ln w="9525">
            <a:solidFill>
              <a:srgbClr val="CFE4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50900" y="1892300"/>
            <a:ext cx="304800" cy="304800"/>
          </a:xfrm>
          <a:prstGeom prst="ellipse">
            <a:avLst/>
          </a:prstGeom>
          <a:solidFill>
            <a:srgbClr val="1F8A99"/>
          </a:solidFill>
          <a:ln w="12700">
            <a:solidFill>
              <a:srgbClr val="1F8A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900" y="1958022"/>
            <a:ext cx="304800" cy="186690"/>
          </a:xfrm>
          <a:prstGeom prst="rect">
            <a:avLst/>
          </a:prstGeom>
          <a:noFill/>
        </p:spPr>
        <p:txBody>
          <a:bodyPr wrap="square" lIns="0" rIns="0" tIns="0" bIns="0" anchor="t">
            <a:spAutoFit/>
          </a:bodyPr>
          <a:lstStyle/>
          <a:p>
            <a:pPr algn="ctr">
              <a:lnSpc>
                <a:spcPct val="122000"/>
              </a:lnSpc>
            </a:pPr>
            <a:r>
              <a:rPr sz="1050" b="1" i="0">
                <a:solidFill>
                  <a:srgbClr val="FFFFFF"/>
                </a:solidFill>
                <a:latin typeface="Calibri"/>
              </a:rPr>
              <a:t>1</a:t>
            </a:r>
          </a:p>
        </p:txBody>
      </p:sp>
      <p:sp>
        <p:nvSpPr>
          <p:cNvPr id="10" name="TextBox 9"/>
          <p:cNvSpPr txBox="1"/>
          <p:nvPr/>
        </p:nvSpPr>
        <p:spPr>
          <a:xfrm>
            <a:off x="1244600" y="1892300"/>
            <a:ext cx="1752600" cy="330200"/>
          </a:xfrm>
          <a:prstGeom prst="rect">
            <a:avLst/>
          </a:prstGeom>
          <a:noFill/>
        </p:spPr>
        <p:txBody>
          <a:bodyPr wrap="square" lIns="0" rIns="0" tIns="0" bIns="0" anchor="t">
            <a:spAutoFit/>
          </a:bodyPr>
          <a:lstStyle/>
          <a:p>
            <a:pPr algn="l">
              <a:lnSpc>
                <a:spcPct val="112000"/>
              </a:lnSpc>
            </a:pPr>
            <a:r>
              <a:rPr sz="1200" b="1" i="0">
                <a:solidFill>
                  <a:srgbClr val="1F8A99"/>
                </a:solidFill>
                <a:latin typeface="Calibri"/>
              </a:rPr>
              <a:t>Run the protocol</a:t>
            </a:r>
          </a:p>
        </p:txBody>
      </p:sp>
      <p:sp>
        <p:nvSpPr>
          <p:cNvPr id="11" name="TextBox 10"/>
          <p:cNvSpPr txBox="1"/>
          <p:nvPr/>
        </p:nvSpPr>
        <p:spPr>
          <a:xfrm>
            <a:off x="876300" y="2311400"/>
            <a:ext cx="2120900" cy="1300480"/>
          </a:xfrm>
          <a:prstGeom prst="rect">
            <a:avLst/>
          </a:prstGeom>
          <a:noFill/>
        </p:spPr>
        <p:txBody>
          <a:bodyPr wrap="square" lIns="0" rIns="0" tIns="0" bIns="0" anchor="t">
            <a:spAutoFit/>
          </a:bodyPr>
          <a:lstStyle/>
          <a:p>
            <a:pPr algn="l">
              <a:lnSpc>
                <a:spcPct val="128000"/>
              </a:lnSpc>
            </a:pPr>
            <a:r>
              <a:rPr sz="1000" b="0" i="0">
                <a:solidFill>
                  <a:srgbClr val="24354F"/>
                </a:solidFill>
                <a:latin typeface="Calibri"/>
              </a:rPr>
              <a:t>Appendix C specifies the questions, the baselines, the fault-injection matrix, and the analysis in enough detail to be executed by someone else. Executing it converts E1–E4 from specification to result and fills Table 5.</a:t>
            </a:r>
          </a:p>
        </p:txBody>
      </p:sp>
      <p:sp>
        <p:nvSpPr>
          <p:cNvPr id="12" name="Rounded Rectangle 11"/>
          <p:cNvSpPr/>
          <p:nvPr/>
        </p:nvSpPr>
        <p:spPr>
          <a:xfrm>
            <a:off x="3403600" y="1701800"/>
            <a:ext cx="2603500" cy="2481580"/>
          </a:xfrm>
          <a:prstGeom prst="roundRect">
            <a:avLst>
              <a:gd name="adj" fmla="val 4605"/>
            </a:avLst>
          </a:prstGeom>
          <a:solidFill>
            <a:srgbClr val="E8F4F5"/>
          </a:solidFill>
          <a:ln w="9525">
            <a:solidFill>
              <a:srgbClr val="CFE4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3619500" y="1892300"/>
            <a:ext cx="304800" cy="304800"/>
          </a:xfrm>
          <a:prstGeom prst="ellipse">
            <a:avLst/>
          </a:prstGeom>
          <a:solidFill>
            <a:srgbClr val="1F8A99"/>
          </a:solidFill>
          <a:ln w="12700">
            <a:solidFill>
              <a:srgbClr val="1F8A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19500" y="1958022"/>
            <a:ext cx="304800" cy="186690"/>
          </a:xfrm>
          <a:prstGeom prst="rect">
            <a:avLst/>
          </a:prstGeom>
          <a:noFill/>
        </p:spPr>
        <p:txBody>
          <a:bodyPr wrap="square" lIns="0" rIns="0" tIns="0" bIns="0" anchor="t">
            <a:spAutoFit/>
          </a:bodyPr>
          <a:lstStyle/>
          <a:p>
            <a:pPr algn="ctr">
              <a:lnSpc>
                <a:spcPct val="122000"/>
              </a:lnSpc>
            </a:pPr>
            <a:r>
              <a:rPr sz="1050" b="1" i="0">
                <a:solidFill>
                  <a:srgbClr val="FFFFFF"/>
                </a:solidFill>
                <a:latin typeface="Calibri"/>
              </a:rPr>
              <a:t>2</a:t>
            </a:r>
          </a:p>
        </p:txBody>
      </p:sp>
      <p:sp>
        <p:nvSpPr>
          <p:cNvPr id="15" name="TextBox 14"/>
          <p:cNvSpPr txBox="1"/>
          <p:nvPr/>
        </p:nvSpPr>
        <p:spPr>
          <a:xfrm>
            <a:off x="4013200" y="1892300"/>
            <a:ext cx="1752600" cy="330200"/>
          </a:xfrm>
          <a:prstGeom prst="rect">
            <a:avLst/>
          </a:prstGeom>
          <a:noFill/>
        </p:spPr>
        <p:txBody>
          <a:bodyPr wrap="square" lIns="0" rIns="0" tIns="0" bIns="0" anchor="t">
            <a:spAutoFit/>
          </a:bodyPr>
          <a:lstStyle/>
          <a:p>
            <a:pPr algn="l">
              <a:lnSpc>
                <a:spcPct val="112000"/>
              </a:lnSpc>
            </a:pPr>
            <a:r>
              <a:rPr sz="1200" b="1" i="0">
                <a:solidFill>
                  <a:srgbClr val="1F8A99"/>
                </a:solidFill>
                <a:latin typeface="Calibri"/>
              </a:rPr>
              <a:t>Run the human study</a:t>
            </a:r>
          </a:p>
        </p:txBody>
      </p:sp>
      <p:sp>
        <p:nvSpPr>
          <p:cNvPr id="16" name="TextBox 15"/>
          <p:cNvSpPr txBox="1"/>
          <p:nvPr/>
        </p:nvSpPr>
        <p:spPr>
          <a:xfrm>
            <a:off x="3644900" y="2311400"/>
            <a:ext cx="2120900" cy="812800"/>
          </a:xfrm>
          <a:prstGeom prst="rect">
            <a:avLst/>
          </a:prstGeom>
          <a:noFill/>
        </p:spPr>
        <p:txBody>
          <a:bodyPr wrap="square" lIns="0" rIns="0" tIns="0" bIns="0" anchor="t">
            <a:spAutoFit/>
          </a:bodyPr>
          <a:lstStyle/>
          <a:p>
            <a:pPr algn="l">
              <a:lnSpc>
                <a:spcPct val="128000"/>
              </a:lnSpc>
            </a:pPr>
            <a:r>
              <a:rPr sz="1000" b="0" i="0">
                <a:solidFill>
                  <a:srgbClr val="24354F"/>
                </a:solidFill>
                <a:latin typeface="Calibri"/>
              </a:rPr>
              <a:t>E5 is the one question no systems measurement answers. Reviewability is CALIBER's central value claim, and it is currently argued rather than demonstrated.</a:t>
            </a:r>
          </a:p>
        </p:txBody>
      </p:sp>
      <p:sp>
        <p:nvSpPr>
          <p:cNvPr id="17" name="Rounded Rectangle 16"/>
          <p:cNvSpPr/>
          <p:nvPr/>
        </p:nvSpPr>
        <p:spPr>
          <a:xfrm>
            <a:off x="6172200" y="1701800"/>
            <a:ext cx="2603500" cy="2481580"/>
          </a:xfrm>
          <a:prstGeom prst="roundRect">
            <a:avLst>
              <a:gd name="adj" fmla="val 4605"/>
            </a:avLst>
          </a:prstGeom>
          <a:solidFill>
            <a:srgbClr val="E8F4F5"/>
          </a:solidFill>
          <a:ln w="9525">
            <a:solidFill>
              <a:srgbClr val="CFE4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388100" y="1892300"/>
            <a:ext cx="304800" cy="304800"/>
          </a:xfrm>
          <a:prstGeom prst="ellipse">
            <a:avLst/>
          </a:prstGeom>
          <a:solidFill>
            <a:srgbClr val="1F8A99"/>
          </a:solidFill>
          <a:ln w="12700">
            <a:solidFill>
              <a:srgbClr val="1F8A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88100" y="1958022"/>
            <a:ext cx="304800" cy="186690"/>
          </a:xfrm>
          <a:prstGeom prst="rect">
            <a:avLst/>
          </a:prstGeom>
          <a:noFill/>
        </p:spPr>
        <p:txBody>
          <a:bodyPr wrap="square" lIns="0" rIns="0" tIns="0" bIns="0" anchor="t">
            <a:spAutoFit/>
          </a:bodyPr>
          <a:lstStyle/>
          <a:p>
            <a:pPr algn="ctr">
              <a:lnSpc>
                <a:spcPct val="122000"/>
              </a:lnSpc>
            </a:pPr>
            <a:r>
              <a:rPr sz="1050" b="1" i="0">
                <a:solidFill>
                  <a:srgbClr val="FFFFFF"/>
                </a:solidFill>
                <a:latin typeface="Calibri"/>
              </a:rPr>
              <a:t>3</a:t>
            </a:r>
          </a:p>
        </p:txBody>
      </p:sp>
      <p:sp>
        <p:nvSpPr>
          <p:cNvPr id="20" name="TextBox 19"/>
          <p:cNvSpPr txBox="1"/>
          <p:nvPr/>
        </p:nvSpPr>
        <p:spPr>
          <a:xfrm>
            <a:off x="6781800" y="1892300"/>
            <a:ext cx="1752600" cy="341376"/>
          </a:xfrm>
          <a:prstGeom prst="rect">
            <a:avLst/>
          </a:prstGeom>
          <a:noFill/>
        </p:spPr>
        <p:txBody>
          <a:bodyPr wrap="square" lIns="0" rIns="0" tIns="0" bIns="0" anchor="t">
            <a:spAutoFit/>
          </a:bodyPr>
          <a:lstStyle/>
          <a:p>
            <a:pPr algn="l">
              <a:lnSpc>
                <a:spcPct val="112000"/>
              </a:lnSpc>
            </a:pPr>
            <a:r>
              <a:rPr sz="1200" b="1" i="0">
                <a:solidFill>
                  <a:srgbClr val="1F8A99"/>
                </a:solidFill>
                <a:latin typeface="Calibri"/>
              </a:rPr>
              <a:t>Retrofit capability interfaces</a:t>
            </a:r>
          </a:p>
        </p:txBody>
      </p:sp>
      <p:sp>
        <p:nvSpPr>
          <p:cNvPr id="21" name="TextBox 20"/>
          <p:cNvSpPr txBox="1"/>
          <p:nvPr/>
        </p:nvSpPr>
        <p:spPr>
          <a:xfrm>
            <a:off x="6413500" y="2322576"/>
            <a:ext cx="2120900" cy="1137920"/>
          </a:xfrm>
          <a:prstGeom prst="rect">
            <a:avLst/>
          </a:prstGeom>
          <a:noFill/>
        </p:spPr>
        <p:txBody>
          <a:bodyPr wrap="square" lIns="0" rIns="0" tIns="0" bIns="0" anchor="t">
            <a:spAutoFit/>
          </a:bodyPr>
          <a:lstStyle/>
          <a:p>
            <a:pPr algn="l">
              <a:lnSpc>
                <a:spcPct val="128000"/>
              </a:lnSpc>
            </a:pPr>
            <a:r>
              <a:rPr sz="1000" b="0" i="0">
                <a:solidFill>
                  <a:srgbClr val="24354F"/>
                </a:solidFill>
                <a:latin typeface="Calibri"/>
              </a:rPr>
              <a:t>A thin base contract plus Releasable, Rollbackable and EvidenceBearing, checked by the type system or a start-up registry projection. This converts the guarantee surface from documented to enforced.</a:t>
            </a:r>
          </a:p>
        </p:txBody>
      </p:sp>
      <p:sp>
        <p:nvSpPr>
          <p:cNvPr id="22" name="Rounded Rectangle 21"/>
          <p:cNvSpPr/>
          <p:nvPr/>
        </p:nvSpPr>
        <p:spPr>
          <a:xfrm>
            <a:off x="8940800" y="1701800"/>
            <a:ext cx="2603500" cy="2481580"/>
          </a:xfrm>
          <a:prstGeom prst="roundRect">
            <a:avLst>
              <a:gd name="adj" fmla="val 4605"/>
            </a:avLst>
          </a:prstGeom>
          <a:solidFill>
            <a:srgbClr val="E8F4F5"/>
          </a:solidFill>
          <a:ln w="9525">
            <a:solidFill>
              <a:srgbClr val="CFE4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9156700" y="1892300"/>
            <a:ext cx="304800" cy="304800"/>
          </a:xfrm>
          <a:prstGeom prst="ellipse">
            <a:avLst/>
          </a:prstGeom>
          <a:solidFill>
            <a:srgbClr val="1F8A99"/>
          </a:solidFill>
          <a:ln w="12700">
            <a:solidFill>
              <a:srgbClr val="1F8A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56700" y="1958022"/>
            <a:ext cx="304800" cy="186690"/>
          </a:xfrm>
          <a:prstGeom prst="rect">
            <a:avLst/>
          </a:prstGeom>
          <a:noFill/>
        </p:spPr>
        <p:txBody>
          <a:bodyPr wrap="square" lIns="0" rIns="0" tIns="0" bIns="0" anchor="t">
            <a:spAutoFit/>
          </a:bodyPr>
          <a:lstStyle/>
          <a:p>
            <a:pPr algn="ctr">
              <a:lnSpc>
                <a:spcPct val="122000"/>
              </a:lnSpc>
            </a:pPr>
            <a:r>
              <a:rPr sz="1050" b="1" i="0">
                <a:solidFill>
                  <a:srgbClr val="FFFFFF"/>
                </a:solidFill>
                <a:latin typeface="Calibri"/>
              </a:rPr>
              <a:t>4</a:t>
            </a:r>
          </a:p>
        </p:txBody>
      </p:sp>
      <p:sp>
        <p:nvSpPr>
          <p:cNvPr id="25" name="TextBox 24"/>
          <p:cNvSpPr txBox="1"/>
          <p:nvPr/>
        </p:nvSpPr>
        <p:spPr>
          <a:xfrm>
            <a:off x="9550400" y="1892300"/>
            <a:ext cx="1752600" cy="341376"/>
          </a:xfrm>
          <a:prstGeom prst="rect">
            <a:avLst/>
          </a:prstGeom>
          <a:noFill/>
        </p:spPr>
        <p:txBody>
          <a:bodyPr wrap="square" lIns="0" rIns="0" tIns="0" bIns="0" anchor="t">
            <a:spAutoFit/>
          </a:bodyPr>
          <a:lstStyle/>
          <a:p>
            <a:pPr algn="l">
              <a:lnSpc>
                <a:spcPct val="112000"/>
              </a:lnSpc>
            </a:pPr>
            <a:r>
              <a:rPr sz="1200" b="1" i="0">
                <a:solidFill>
                  <a:srgbClr val="1F8A99"/>
                </a:solidFill>
                <a:latin typeface="Calibri"/>
              </a:rPr>
              <a:t>Settle the absorption question</a:t>
            </a:r>
          </a:p>
        </p:txBody>
      </p:sp>
      <p:sp>
        <p:nvSpPr>
          <p:cNvPr id="26" name="TextBox 25"/>
          <p:cNvSpPr txBox="1"/>
          <p:nvPr/>
        </p:nvSpPr>
        <p:spPr>
          <a:xfrm>
            <a:off x="9182100" y="2322576"/>
            <a:ext cx="2120900" cy="1137920"/>
          </a:xfrm>
          <a:prstGeom prst="rect">
            <a:avLst/>
          </a:prstGeom>
          <a:noFill/>
        </p:spPr>
        <p:txBody>
          <a:bodyPr wrap="square" lIns="0" rIns="0" tIns="0" bIns="0" anchor="t">
            <a:spAutoFit/>
          </a:bodyPr>
          <a:lstStyle/>
          <a:p>
            <a:pPr algn="l">
              <a:lnSpc>
                <a:spcPct val="128000"/>
              </a:lnSpc>
            </a:pPr>
            <a:r>
              <a:rPr sz="1000" b="0" i="0">
                <a:solidFill>
                  <a:srgbClr val="24354F"/>
                </a:solidFill>
                <a:latin typeface="Calibri"/>
              </a:rPr>
              <a:t>MLflow already has the registry, the aliases, the evaluation harness and the optimizer. What it lacks is a second artifact type and a gate. Whether this warrants a separate control plane is a legitimate open question.</a:t>
            </a:r>
          </a:p>
        </p:txBody>
      </p:sp>
      <p:sp>
        <p:nvSpPr>
          <p:cNvPr id="27" name="Rounded Rectangle 26"/>
          <p:cNvSpPr/>
          <p:nvPr/>
        </p:nvSpPr>
        <p:spPr>
          <a:xfrm>
            <a:off x="635000" y="4361180"/>
            <a:ext cx="10909300" cy="1811020"/>
          </a:xfrm>
          <a:prstGeom prst="roundRect">
            <a:avLst>
              <a:gd name="adj" fmla="val 6311"/>
            </a:avLst>
          </a:prstGeom>
          <a:solidFill>
            <a:srgbClr val="FBF4E6"/>
          </a:solidFill>
          <a:ln w="9525">
            <a:solidFill>
              <a:srgbClr val="F0E4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89000" y="4870450"/>
            <a:ext cx="10401300" cy="177800"/>
          </a:xfrm>
          <a:prstGeom prst="rect">
            <a:avLst/>
          </a:prstGeom>
          <a:noFill/>
        </p:spPr>
        <p:txBody>
          <a:bodyPr wrap="square" lIns="0" rIns="0" tIns="0" bIns="0" anchor="t">
            <a:spAutoFit/>
          </a:bodyPr>
          <a:lstStyle/>
          <a:p>
            <a:pPr algn="l">
              <a:lnSpc>
                <a:spcPct val="122000"/>
              </a:lnSpc>
            </a:pPr>
            <a:r>
              <a:rPr sz="950" b="1" i="0">
                <a:solidFill>
                  <a:srgbClr val="B5821F"/>
                </a:solidFill>
                <a:latin typeface="Calibri"/>
              </a:rPr>
              <a:t>The honest reading of the last card</a:t>
            </a:r>
          </a:p>
        </p:txBody>
      </p:sp>
      <p:sp>
        <p:nvSpPr>
          <p:cNvPr id="29" name="TextBox 28"/>
          <p:cNvSpPr txBox="1"/>
          <p:nvPr/>
        </p:nvSpPr>
        <p:spPr>
          <a:xfrm>
            <a:off x="889000" y="5099050"/>
            <a:ext cx="10401300" cy="487680"/>
          </a:xfrm>
          <a:prstGeom prst="rect">
            <a:avLst/>
          </a:prstGeom>
          <a:noFill/>
        </p:spPr>
        <p:txBody>
          <a:bodyPr wrap="square" lIns="0" rIns="0" tIns="0" bIns="0" anchor="t">
            <a:spAutoFit/>
          </a:bodyPr>
          <a:lstStyle/>
          <a:p>
            <a:pPr algn="l">
              <a:lnSpc>
                <a:spcPct val="128000"/>
              </a:lnSpc>
            </a:pPr>
            <a:r>
              <a:rPr sz="1000" b="0" i="0">
                <a:solidFill>
                  <a:srgbClr val="4E3529"/>
                </a:solidFill>
                <a:latin typeface="Calibri"/>
              </a:rPr>
              <a:t>The evidence currently tilts toward absorption being feasible. An absorbing system would need a typed multi-family registry, an authority model that distinguishes authoring from promoting, and an enforced precondition on the pointer move. That is a smaller distance than an earlier draft of this paper implied, and saying so is worth more than defending the perimeter.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E1E3A"/>
        </a:solidFill>
        <a:effectLst/>
      </p:bgPr>
    </p:bg>
    <p:spTree>
      <p:nvGrpSpPr>
        <p:cNvPr id="1" name=""/>
        <p:cNvGrpSpPr/>
        <p:nvPr/>
      </p:nvGrpSpPr>
      <p:grpSpPr/>
      <p:sp>
        <p:nvSpPr>
          <p:cNvPr id="2" name="TextBox 1"/>
          <p:cNvSpPr txBox="1"/>
          <p:nvPr/>
        </p:nvSpPr>
        <p:spPr>
          <a:xfrm>
            <a:off x="635000" y="6337300"/>
            <a:ext cx="6096000" cy="254000"/>
          </a:xfrm>
          <a:prstGeom prst="rect">
            <a:avLst/>
          </a:prstGeom>
          <a:noFill/>
        </p:spPr>
        <p:txBody>
          <a:bodyPr wrap="square" lIns="0" rIns="0" tIns="0" bIns="0" anchor="t">
            <a:spAutoFit/>
          </a:bodyPr>
          <a:lstStyle/>
          <a:p>
            <a:pPr algn="l">
              <a:lnSpc>
                <a:spcPct val="122000"/>
              </a:lnSpc>
            </a:pPr>
            <a:r>
              <a:rPr sz="900" b="0" i="0">
                <a:solidFill>
                  <a:srgbClr val="43597C"/>
                </a:solidFill>
                <a:latin typeface="Calibri"/>
              </a:rPr>
              <a:t>CALIBER  ·  A Layered Control Plane for Governed Releases of AI-Agent Resources</a:t>
            </a:r>
          </a:p>
        </p:txBody>
      </p:sp>
      <p:sp>
        <p:nvSpPr>
          <p:cNvPr id="3" name="TextBox 2"/>
          <p:cNvSpPr txBox="1"/>
          <p:nvPr/>
        </p:nvSpPr>
        <p:spPr>
          <a:xfrm>
            <a:off x="10629900" y="6337300"/>
            <a:ext cx="914400" cy="254000"/>
          </a:xfrm>
          <a:prstGeom prst="rect">
            <a:avLst/>
          </a:prstGeom>
          <a:noFill/>
        </p:spPr>
        <p:txBody>
          <a:bodyPr wrap="square" lIns="0" rIns="0" tIns="0" bIns="0" anchor="t">
            <a:spAutoFit/>
          </a:bodyPr>
          <a:lstStyle/>
          <a:p>
            <a:pPr algn="r">
              <a:lnSpc>
                <a:spcPct val="122000"/>
              </a:lnSpc>
            </a:pPr>
            <a:r>
              <a:rPr sz="900" b="0" i="0">
                <a:solidFill>
                  <a:srgbClr val="43597C"/>
                </a:solidFill>
                <a:latin typeface="Calibri"/>
              </a:rPr>
              <a:t>25</a:t>
            </a:r>
          </a:p>
        </p:txBody>
      </p:sp>
      <p:sp>
        <p:nvSpPr>
          <p:cNvPr id="4" name="Oval 3"/>
          <p:cNvSpPr/>
          <p:nvPr/>
        </p:nvSpPr>
        <p:spPr>
          <a:xfrm>
            <a:off x="11239500" y="4838700"/>
            <a:ext cx="4013200" cy="4013200"/>
          </a:xfrm>
          <a:prstGeom prst="ellipse">
            <a:avLst/>
          </a:prstGeom>
          <a:solidFill>
            <a:srgbClr val="1A3563"/>
          </a:solidFill>
          <a:ln w="12700">
            <a:solidFill>
              <a:srgbClr val="1A35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976100" y="5575300"/>
            <a:ext cx="2006600" cy="2006600"/>
          </a:xfrm>
          <a:prstGeom prst="ellipse">
            <a:avLst/>
          </a:prstGeom>
          <a:solidFill>
            <a:srgbClr val="1F8A99"/>
          </a:solidFill>
          <a:ln w="12700">
            <a:solidFill>
              <a:srgbClr val="1F8A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381000"/>
            <a:ext cx="10909300" cy="228600"/>
          </a:xfrm>
          <a:prstGeom prst="rect">
            <a:avLst/>
          </a:prstGeom>
          <a:noFill/>
        </p:spPr>
        <p:txBody>
          <a:bodyPr wrap="square" lIns="0" rIns="0" tIns="0" bIns="0" anchor="t">
            <a:spAutoFit/>
          </a:bodyPr>
          <a:lstStyle/>
          <a:p>
            <a:pPr algn="l">
              <a:lnSpc>
                <a:spcPct val="122000"/>
              </a:lnSpc>
            </a:pPr>
            <a:r>
              <a:rPr sz="1050" b="1" i="0">
                <a:solidFill>
                  <a:srgbClr val="56B3BE"/>
                </a:solidFill>
                <a:latin typeface="Calibri"/>
              </a:rPr>
              <a:t>Conclusion  ·  §14</a:t>
            </a:r>
          </a:p>
        </p:txBody>
      </p:sp>
      <p:sp>
        <p:nvSpPr>
          <p:cNvPr id="7" name="TextBox 6"/>
          <p:cNvSpPr txBox="1"/>
          <p:nvPr/>
        </p:nvSpPr>
        <p:spPr>
          <a:xfrm>
            <a:off x="635000" y="647700"/>
            <a:ext cx="10236200" cy="838200"/>
          </a:xfrm>
          <a:prstGeom prst="rect">
            <a:avLst/>
          </a:prstGeom>
          <a:noFill/>
        </p:spPr>
        <p:txBody>
          <a:bodyPr wrap="square" lIns="0" rIns="0" tIns="0" bIns="0" anchor="t">
            <a:spAutoFit/>
          </a:bodyPr>
          <a:lstStyle/>
          <a:p>
            <a:pPr algn="l">
              <a:lnSpc>
                <a:spcPct val="114000"/>
              </a:lnSpc>
            </a:pPr>
            <a:r>
              <a:rPr sz="2500" b="1" i="0">
                <a:solidFill>
                  <a:srgbClr val="FFFFFF"/>
                </a:solidFill>
                <a:latin typeface="Calibri"/>
              </a:rPr>
              <a:t>A control plane should be judged by how precisely it can say where its guarantees stop</a:t>
            </a:r>
          </a:p>
        </p:txBody>
      </p:sp>
      <p:sp>
        <p:nvSpPr>
          <p:cNvPr id="8" name="Oval 7"/>
          <p:cNvSpPr/>
          <p:nvPr/>
        </p:nvSpPr>
        <p:spPr>
          <a:xfrm>
            <a:off x="635000" y="1905000"/>
            <a:ext cx="381000" cy="381000"/>
          </a:xfrm>
          <a:prstGeom prst="ellipse">
            <a:avLst/>
          </a:prstGeom>
          <a:solidFill>
            <a:srgbClr val="1F8A99"/>
          </a:solidFill>
          <a:ln w="12700">
            <a:solidFill>
              <a:srgbClr val="1F8A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000" y="1981200"/>
            <a:ext cx="381000" cy="254000"/>
          </a:xfrm>
          <a:prstGeom prst="rect">
            <a:avLst/>
          </a:prstGeom>
          <a:noFill/>
        </p:spPr>
        <p:txBody>
          <a:bodyPr wrap="square" lIns="0" rIns="0" tIns="0" bIns="0" anchor="t">
            <a:spAutoFit/>
          </a:bodyPr>
          <a:lstStyle/>
          <a:p>
            <a:pPr algn="ctr">
              <a:lnSpc>
                <a:spcPct val="122000"/>
              </a:lnSpc>
            </a:pPr>
            <a:r>
              <a:rPr sz="1300" b="1" i="0">
                <a:solidFill>
                  <a:srgbClr val="FFFFFF"/>
                </a:solidFill>
                <a:latin typeface="Calibri"/>
              </a:rPr>
              <a:t>1</a:t>
            </a:r>
          </a:p>
        </p:txBody>
      </p:sp>
      <p:sp>
        <p:nvSpPr>
          <p:cNvPr id="10" name="TextBox 9"/>
          <p:cNvSpPr txBox="1"/>
          <p:nvPr/>
        </p:nvSpPr>
        <p:spPr>
          <a:xfrm>
            <a:off x="1181100" y="1879600"/>
            <a:ext cx="4406900" cy="206247"/>
          </a:xfrm>
          <a:prstGeom prst="rect">
            <a:avLst/>
          </a:prstGeom>
          <a:noFill/>
        </p:spPr>
        <p:txBody>
          <a:bodyPr wrap="square" lIns="0" rIns="0" tIns="0" bIns="0" anchor="t">
            <a:spAutoFit/>
          </a:bodyPr>
          <a:lstStyle/>
          <a:p>
            <a:pPr algn="l">
              <a:lnSpc>
                <a:spcPct val="116000"/>
              </a:lnSpc>
            </a:pPr>
            <a:r>
              <a:rPr sz="1400" b="1" i="0">
                <a:solidFill>
                  <a:srgbClr val="FFFFFF"/>
                </a:solidFill>
                <a:latin typeface="Calibri"/>
              </a:rPr>
              <a:t>The capability boundary is the result</a:t>
            </a:r>
          </a:p>
        </p:txBody>
      </p:sp>
      <p:sp>
        <p:nvSpPr>
          <p:cNvPr id="11" name="TextBox 10"/>
          <p:cNvSpPr txBox="1"/>
          <p:nvPr/>
        </p:nvSpPr>
        <p:spPr>
          <a:xfrm>
            <a:off x="1181100" y="2187448"/>
            <a:ext cx="4406900" cy="1168400"/>
          </a:xfrm>
          <a:prstGeom prst="rect">
            <a:avLst/>
          </a:prstGeom>
          <a:noFill/>
        </p:spPr>
        <p:txBody>
          <a:bodyPr wrap="square" lIns="0" rIns="0" tIns="0" bIns="0" anchor="t">
            <a:spAutoFit/>
          </a:bodyPr>
          <a:lstStyle/>
          <a:p>
            <a:pPr algn="l">
              <a:lnSpc>
                <a:spcPct val="132000"/>
              </a:lnSpc>
            </a:pPr>
            <a:r>
              <a:rPr sz="1050" b="0" i="0">
                <a:solidFill>
                  <a:srgbClr val="9BD0D6"/>
                </a:solidFill>
                <a:latin typeface="Calibri"/>
              </a:rPr>
              <a:t>Adjacency in a layered stack confers capability availability, not inheritance. A meaningful base contract can still be uniform — identity, history, authority, audit — while release, rollback, evaluation and evidence remain declared capabilities.</a:t>
            </a:r>
          </a:p>
        </p:txBody>
      </p:sp>
      <p:sp>
        <p:nvSpPr>
          <p:cNvPr id="12" name="Oval 11"/>
          <p:cNvSpPr/>
          <p:nvPr/>
        </p:nvSpPr>
        <p:spPr>
          <a:xfrm>
            <a:off x="5918200" y="1905000"/>
            <a:ext cx="381000" cy="381000"/>
          </a:xfrm>
          <a:prstGeom prst="ellipse">
            <a:avLst/>
          </a:prstGeom>
          <a:solidFill>
            <a:srgbClr val="1F8A99"/>
          </a:solidFill>
          <a:ln w="12700">
            <a:solidFill>
              <a:srgbClr val="1F8A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18200" y="1981200"/>
            <a:ext cx="381000" cy="254000"/>
          </a:xfrm>
          <a:prstGeom prst="rect">
            <a:avLst/>
          </a:prstGeom>
          <a:noFill/>
        </p:spPr>
        <p:txBody>
          <a:bodyPr wrap="square" lIns="0" rIns="0" tIns="0" bIns="0" anchor="t">
            <a:spAutoFit/>
          </a:bodyPr>
          <a:lstStyle/>
          <a:p>
            <a:pPr algn="ctr">
              <a:lnSpc>
                <a:spcPct val="122000"/>
              </a:lnSpc>
            </a:pPr>
            <a:r>
              <a:rPr sz="1300" b="1" i="0">
                <a:solidFill>
                  <a:srgbClr val="FFFFFF"/>
                </a:solidFill>
                <a:latin typeface="Calibri"/>
              </a:rPr>
              <a:t>2</a:t>
            </a:r>
          </a:p>
        </p:txBody>
      </p:sp>
      <p:sp>
        <p:nvSpPr>
          <p:cNvPr id="14" name="TextBox 13"/>
          <p:cNvSpPr txBox="1"/>
          <p:nvPr/>
        </p:nvSpPr>
        <p:spPr>
          <a:xfrm>
            <a:off x="6464300" y="1879600"/>
            <a:ext cx="4406900" cy="206247"/>
          </a:xfrm>
          <a:prstGeom prst="rect">
            <a:avLst/>
          </a:prstGeom>
          <a:noFill/>
        </p:spPr>
        <p:txBody>
          <a:bodyPr wrap="square" lIns="0" rIns="0" tIns="0" bIns="0" anchor="t">
            <a:spAutoFit/>
          </a:bodyPr>
          <a:lstStyle/>
          <a:p>
            <a:pPr algn="l">
              <a:lnSpc>
                <a:spcPct val="116000"/>
              </a:lnSpc>
            </a:pPr>
            <a:r>
              <a:rPr sz="1400" b="1" i="0">
                <a:solidFill>
                  <a:srgbClr val="FFFFFF"/>
                </a:solidFill>
                <a:latin typeface="Calibri"/>
              </a:rPr>
              <a:t>The problem is fragmentation, not absence</a:t>
            </a:r>
          </a:p>
        </p:txBody>
      </p:sp>
      <p:sp>
        <p:nvSpPr>
          <p:cNvPr id="15" name="TextBox 14"/>
          <p:cNvSpPr txBox="1"/>
          <p:nvPr/>
        </p:nvSpPr>
        <p:spPr>
          <a:xfrm>
            <a:off x="6464300" y="2187448"/>
            <a:ext cx="4406900" cy="1168400"/>
          </a:xfrm>
          <a:prstGeom prst="rect">
            <a:avLst/>
          </a:prstGeom>
          <a:noFill/>
        </p:spPr>
        <p:txBody>
          <a:bodyPr wrap="square" lIns="0" rIns="0" tIns="0" bIns="0" anchor="t">
            <a:spAutoFit/>
          </a:bodyPr>
          <a:lstStyle/>
          <a:p>
            <a:pPr algn="l">
              <a:lnSpc>
                <a:spcPct val="132000"/>
              </a:lnSpc>
            </a:pPr>
            <a:r>
              <a:rPr sz="1050" b="0" i="0">
                <a:solidFill>
                  <a:srgbClr val="9BD0D6"/>
                </a:solidFill>
                <a:latin typeface="Calibri"/>
              </a:rPr>
              <a:t>Prompt platforms now provide real versioning, live labels, rollback and permissions. The remaining problem is not an empty release ecosystem; it is one with different guarantees by resource family.</a:t>
            </a:r>
          </a:p>
        </p:txBody>
      </p:sp>
      <p:sp>
        <p:nvSpPr>
          <p:cNvPr id="16" name="Oval 15"/>
          <p:cNvSpPr/>
          <p:nvPr/>
        </p:nvSpPr>
        <p:spPr>
          <a:xfrm>
            <a:off x="635000" y="3810000"/>
            <a:ext cx="381000" cy="381000"/>
          </a:xfrm>
          <a:prstGeom prst="ellipse">
            <a:avLst/>
          </a:prstGeom>
          <a:solidFill>
            <a:srgbClr val="1F8A99"/>
          </a:solidFill>
          <a:ln w="12700">
            <a:solidFill>
              <a:srgbClr val="1F8A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000" y="3886200"/>
            <a:ext cx="381000" cy="254000"/>
          </a:xfrm>
          <a:prstGeom prst="rect">
            <a:avLst/>
          </a:prstGeom>
          <a:noFill/>
        </p:spPr>
        <p:txBody>
          <a:bodyPr wrap="square" lIns="0" rIns="0" tIns="0" bIns="0" anchor="t">
            <a:spAutoFit/>
          </a:bodyPr>
          <a:lstStyle/>
          <a:p>
            <a:pPr algn="ctr">
              <a:lnSpc>
                <a:spcPct val="122000"/>
              </a:lnSpc>
            </a:pPr>
            <a:r>
              <a:rPr sz="1300" b="1" i="0">
                <a:solidFill>
                  <a:srgbClr val="FFFFFF"/>
                </a:solidFill>
                <a:latin typeface="Calibri"/>
              </a:rPr>
              <a:t>3</a:t>
            </a:r>
          </a:p>
        </p:txBody>
      </p:sp>
      <p:sp>
        <p:nvSpPr>
          <p:cNvPr id="18" name="TextBox 17"/>
          <p:cNvSpPr txBox="1"/>
          <p:nvPr/>
        </p:nvSpPr>
        <p:spPr>
          <a:xfrm>
            <a:off x="1181100" y="3784600"/>
            <a:ext cx="4406900" cy="206247"/>
          </a:xfrm>
          <a:prstGeom prst="rect">
            <a:avLst/>
          </a:prstGeom>
          <a:noFill/>
        </p:spPr>
        <p:txBody>
          <a:bodyPr wrap="square" lIns="0" rIns="0" tIns="0" bIns="0" anchor="t">
            <a:spAutoFit/>
          </a:bodyPr>
          <a:lstStyle/>
          <a:p>
            <a:pPr algn="l">
              <a:lnSpc>
                <a:spcPct val="116000"/>
              </a:lnSpc>
            </a:pPr>
            <a:r>
              <a:rPr sz="1400" b="1" i="0">
                <a:solidFill>
                  <a:srgbClr val="FFFFFF"/>
                </a:solidFill>
                <a:latin typeface="Calibri"/>
              </a:rPr>
              <a:t>Naming a boundary is what makes a claim checkable</a:t>
            </a:r>
          </a:p>
        </p:txBody>
      </p:sp>
      <p:sp>
        <p:nvSpPr>
          <p:cNvPr id="19" name="TextBox 18"/>
          <p:cNvSpPr txBox="1"/>
          <p:nvPr/>
        </p:nvSpPr>
        <p:spPr>
          <a:xfrm>
            <a:off x="1181100" y="4092448"/>
            <a:ext cx="4406900" cy="1168400"/>
          </a:xfrm>
          <a:prstGeom prst="rect">
            <a:avLst/>
          </a:prstGeom>
          <a:noFill/>
        </p:spPr>
        <p:txBody>
          <a:bodyPr wrap="square" lIns="0" rIns="0" tIns="0" bIns="0" anchor="t">
            <a:spAutoFit/>
          </a:bodyPr>
          <a:lstStyle/>
          <a:p>
            <a:pPr algn="l">
              <a:lnSpc>
                <a:spcPct val="132000"/>
              </a:lnSpc>
            </a:pPr>
            <a:r>
              <a:rPr sz="1050" b="0" i="0">
                <a:solidFill>
                  <a:srgbClr val="9BD0D6"/>
                </a:solidFill>
                <a:latin typeface="Calibri"/>
              </a:rPr>
              <a:t>Naming the two dual-write boundaries is what allows a precise audit guarantee to be stated at all, and distinguishing containment from isolation is what keeps a security claim falsifiable.</a:t>
            </a:r>
          </a:p>
        </p:txBody>
      </p:sp>
      <p:sp>
        <p:nvSpPr>
          <p:cNvPr id="20" name="Oval 19"/>
          <p:cNvSpPr/>
          <p:nvPr/>
        </p:nvSpPr>
        <p:spPr>
          <a:xfrm>
            <a:off x="5918200" y="3810000"/>
            <a:ext cx="381000" cy="381000"/>
          </a:xfrm>
          <a:prstGeom prst="ellipse">
            <a:avLst/>
          </a:prstGeom>
          <a:solidFill>
            <a:srgbClr val="1F8A99"/>
          </a:solidFill>
          <a:ln w="12700">
            <a:solidFill>
              <a:srgbClr val="1F8A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18200" y="3886200"/>
            <a:ext cx="381000" cy="254000"/>
          </a:xfrm>
          <a:prstGeom prst="rect">
            <a:avLst/>
          </a:prstGeom>
          <a:noFill/>
        </p:spPr>
        <p:txBody>
          <a:bodyPr wrap="square" lIns="0" rIns="0" tIns="0" bIns="0" anchor="t">
            <a:spAutoFit/>
          </a:bodyPr>
          <a:lstStyle/>
          <a:p>
            <a:pPr algn="ctr">
              <a:lnSpc>
                <a:spcPct val="122000"/>
              </a:lnSpc>
            </a:pPr>
            <a:r>
              <a:rPr sz="1300" b="1" i="0">
                <a:solidFill>
                  <a:srgbClr val="FFFFFF"/>
                </a:solidFill>
                <a:latin typeface="Calibri"/>
              </a:rPr>
              <a:t>4</a:t>
            </a:r>
          </a:p>
        </p:txBody>
      </p:sp>
      <p:sp>
        <p:nvSpPr>
          <p:cNvPr id="22" name="TextBox 21"/>
          <p:cNvSpPr txBox="1"/>
          <p:nvPr/>
        </p:nvSpPr>
        <p:spPr>
          <a:xfrm>
            <a:off x="6464300" y="3784600"/>
            <a:ext cx="4406900" cy="412495"/>
          </a:xfrm>
          <a:prstGeom prst="rect">
            <a:avLst/>
          </a:prstGeom>
          <a:noFill/>
        </p:spPr>
        <p:txBody>
          <a:bodyPr wrap="square" lIns="0" rIns="0" tIns="0" bIns="0" anchor="t">
            <a:spAutoFit/>
          </a:bodyPr>
          <a:lstStyle/>
          <a:p>
            <a:pPr algn="l">
              <a:lnSpc>
                <a:spcPct val="116000"/>
              </a:lnSpc>
            </a:pPr>
            <a:r>
              <a:rPr sz="1400" b="1" i="0">
                <a:solidFill>
                  <a:srgbClr val="FFFFFF"/>
                </a:solidFill>
                <a:latin typeface="Calibri"/>
              </a:rPr>
              <a:t>The evaluation is unrun, and that is stated as such</a:t>
            </a:r>
          </a:p>
        </p:txBody>
      </p:sp>
      <p:sp>
        <p:nvSpPr>
          <p:cNvPr id="23" name="TextBox 22"/>
          <p:cNvSpPr txBox="1"/>
          <p:nvPr/>
        </p:nvSpPr>
        <p:spPr>
          <a:xfrm>
            <a:off x="6464300" y="4298696"/>
            <a:ext cx="4406900" cy="1168400"/>
          </a:xfrm>
          <a:prstGeom prst="rect">
            <a:avLst/>
          </a:prstGeom>
          <a:noFill/>
        </p:spPr>
        <p:txBody>
          <a:bodyPr wrap="square" lIns="0" rIns="0" tIns="0" bIns="0" anchor="t">
            <a:spAutoFit/>
          </a:bodyPr>
          <a:lstStyle/>
          <a:p>
            <a:pPr algn="l">
              <a:lnSpc>
                <a:spcPct val="132000"/>
              </a:lnSpc>
            </a:pPr>
            <a:r>
              <a:rPr sz="1050" b="0" i="0">
                <a:solidFill>
                  <a:srgbClr val="9BD0D6"/>
                </a:solidFill>
                <a:latin typeface="Calibri"/>
              </a:rPr>
              <a:t>Table 5 is empty by choice rather than by omission. There is no user study, so reviewability is argued rather than demonstrated, and the evidence is from one implementation.</a:t>
            </a:r>
          </a:p>
        </p:txBody>
      </p:sp>
      <p:sp>
        <p:nvSpPr>
          <p:cNvPr id="24" name="Rectangle 23"/>
          <p:cNvSpPr/>
          <p:nvPr/>
        </p:nvSpPr>
        <p:spPr>
          <a:xfrm>
            <a:off x="635000" y="5664200"/>
            <a:ext cx="10236200" cy="9525"/>
          </a:xfrm>
          <a:prstGeom prst="rect">
            <a:avLst/>
          </a:prstGeom>
          <a:solidFill>
            <a:srgbClr val="2C44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000" y="5791200"/>
            <a:ext cx="10236200" cy="381000"/>
          </a:xfrm>
          <a:prstGeom prst="rect">
            <a:avLst/>
          </a:prstGeom>
          <a:noFill/>
        </p:spPr>
        <p:txBody>
          <a:bodyPr wrap="square" lIns="0" rIns="0" tIns="0" bIns="0" anchor="t">
            <a:spAutoFit/>
          </a:bodyPr>
          <a:lstStyle/>
          <a:p>
            <a:pPr algn="l">
              <a:lnSpc>
                <a:spcPct val="130000"/>
              </a:lnSpc>
            </a:pPr>
            <a:r>
              <a:rPr sz="1100" b="0" i="0">
                <a:solidFill>
                  <a:srgbClr val="8FA6C0"/>
                </a:solidFill>
                <a:latin typeface="Calibri"/>
              </a:rPr>
              <a:t>What the architecture establishes is narrower, and we hope more durable: that the release path for non-code agent resources is a coherent first-class concern, and that being precise about where the guarantees stop is what separates a control plane from a dashboard with opinions.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